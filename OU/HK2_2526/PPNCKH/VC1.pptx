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69" r:id="rId2"/>
    <p:sldId id="2649" r:id="rId3"/>
    <p:sldId id="2653" r:id="rId4"/>
    <p:sldId id="256" r:id="rId5"/>
    <p:sldId id="257" r:id="rId6"/>
    <p:sldId id="2654" r:id="rId7"/>
    <p:sldId id="258" r:id="rId8"/>
    <p:sldId id="2658" r:id="rId9"/>
    <p:sldId id="2659" r:id="rId10"/>
    <p:sldId id="2660" r:id="rId11"/>
    <p:sldId id="2661" r:id="rId12"/>
    <p:sldId id="2655" r:id="rId13"/>
    <p:sldId id="270" r:id="rId14"/>
    <p:sldId id="263" r:id="rId15"/>
    <p:sldId id="2662" r:id="rId16"/>
    <p:sldId id="2663" r:id="rId17"/>
    <p:sldId id="2664" r:id="rId18"/>
    <p:sldId id="2665" r:id="rId19"/>
    <p:sldId id="2666" r:id="rId20"/>
    <p:sldId id="2667" r:id="rId21"/>
    <p:sldId id="2668" r:id="rId22"/>
    <p:sldId id="2669" r:id="rId23"/>
    <p:sldId id="2656" r:id="rId24"/>
    <p:sldId id="2670" r:id="rId25"/>
    <p:sldId id="2671" r:id="rId26"/>
    <p:sldId id="2672" r:id="rId27"/>
    <p:sldId id="2657" r:id="rId28"/>
    <p:sldId id="267" r:id="rId29"/>
    <p:sldId id="265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9C52EEF-DE73-46D8-8D7F-909823DC9496}">
          <p14:sldIdLst>
            <p14:sldId id="269"/>
            <p14:sldId id="2649"/>
            <p14:sldId id="2653"/>
          </p14:sldIdLst>
        </p14:section>
        <p14:section name="P1. GIỚI THIỆU MÔN" id="{693C1A5F-9CAA-469A-9B27-7679D9DDA902}">
          <p14:sldIdLst>
            <p14:sldId id="256"/>
            <p14:sldId id="257"/>
          </p14:sldIdLst>
        </p14:section>
        <p14:section name="P2 - PP học tập" id="{FF9364C6-3630-475D-8924-5EC83B9944FB}">
          <p14:sldIdLst>
            <p14:sldId id="2654"/>
            <p14:sldId id="258"/>
            <p14:sldId id="2658"/>
            <p14:sldId id="2659"/>
            <p14:sldId id="2660"/>
            <p14:sldId id="2661"/>
          </p14:sldIdLst>
        </p14:section>
        <p14:section name="P3 - Nội dung" id="{567761FC-5962-415A-B4E8-6445E2699431}">
          <p14:sldIdLst>
            <p14:sldId id="2655"/>
            <p14:sldId id="270"/>
            <p14:sldId id="263"/>
            <p14:sldId id="2662"/>
            <p14:sldId id="2663"/>
            <p14:sldId id="2664"/>
            <p14:sldId id="2665"/>
            <p14:sldId id="2666"/>
            <p14:sldId id="2667"/>
            <p14:sldId id="2668"/>
            <p14:sldId id="2669"/>
          </p14:sldIdLst>
        </p14:section>
        <p14:section name="P4 - Đánh giá" id="{1161EA5B-5D64-4075-9622-36BF4628480A}">
          <p14:sldIdLst>
            <p14:sldId id="2656"/>
            <p14:sldId id="2670"/>
            <p14:sldId id="2671"/>
            <p14:sldId id="2672"/>
          </p14:sldIdLst>
        </p14:section>
        <p14:section name="P5 - Q&amp;A" id="{A9C03353-DB14-43EE-BC92-8298C2027B82}">
          <p14:sldIdLst>
            <p14:sldId id="2657"/>
            <p14:sldId id="267"/>
            <p14:sldId id="265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48" autoAdjust="0"/>
    <p:restoredTop sz="78736" autoAdjust="0"/>
  </p:normalViewPr>
  <p:slideViewPr>
    <p:cSldViewPr snapToGrid="0">
      <p:cViewPr varScale="1">
        <p:scale>
          <a:sx n="71" d="100"/>
          <a:sy n="71" d="100"/>
        </p:scale>
        <p:origin x="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E117A-D3EA-4AAC-BCC8-968A35D8A00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0DFD8-CD69-42E6-BDC4-B41C1413A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9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961DE-D636-45A1-A354-CB1E70520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236" y="1168146"/>
            <a:ext cx="11111346" cy="2387600"/>
          </a:xfrm>
        </p:spPr>
        <p:txBody>
          <a:bodyPr anchor="ctr">
            <a:normAutofit/>
          </a:bodyPr>
          <a:lstStyle>
            <a:lvl1pPr algn="ctr">
              <a:defRPr sz="7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2A6C6-374F-48BA-B580-775548CFC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236" y="4008582"/>
            <a:ext cx="11111346" cy="1981054"/>
          </a:xfr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AA53-ECC5-4891-A9D4-BC4A3BAD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9026C-8CC3-4624-A1AD-AA59BE71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93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961DE-D636-45A1-A354-CB1E70520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236" y="1168146"/>
            <a:ext cx="1111134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AA53-ECC5-4891-A9D4-BC4A3BAD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9026C-8CC3-4624-A1AD-AA59BE71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41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5EC27-A656-4A51-B128-3851E064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D39AF-E582-4440-A6A0-A04D3864A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EC99E-A750-44EE-8F5A-E25DAF40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E2DC2-DBCD-42D6-A478-E622CC19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3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5EC27-A656-4A51-B128-3851E064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D39AF-E582-4440-A6A0-A04D3864A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76" y="949412"/>
            <a:ext cx="5974024" cy="55123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EC99E-A750-44EE-8F5A-E25DAF40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E2DC2-DBCD-42D6-A478-E622CC19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535ADF-AC00-4F68-A36B-181C34B9093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17356" y="949411"/>
            <a:ext cx="5974024" cy="55123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2147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5EC27-A656-4A51-B128-3851E064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D39AF-E582-4440-A6A0-A04D3864A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76" y="949412"/>
            <a:ext cx="5835473" cy="55123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EC99E-A750-44EE-8F5A-E25DAF40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E2DC2-DBCD-42D6-A478-E622CC19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535ADF-AC00-4F68-A36B-181C34B9093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17356" y="949411"/>
            <a:ext cx="5974024" cy="55123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021232-1A62-4A1D-A926-C469C67AB071}"/>
              </a:ext>
            </a:extLst>
          </p:cNvPr>
          <p:cNvCxnSpPr/>
          <p:nvPr userDrawn="1"/>
        </p:nvCxnSpPr>
        <p:spPr>
          <a:xfrm>
            <a:off x="5975932" y="949411"/>
            <a:ext cx="0" cy="553042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16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0041-CC2F-4BE3-8EC2-B367802DD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69A485-57F7-4706-888E-C74B95E5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71D41-0EC9-41E0-AD5F-40F7470F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27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1CC97-9066-472E-A42B-E153C66C2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C7036-C3A6-4055-9532-B214978A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71D4CCC-BB3A-4D93-86F3-16B4E3CF78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0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0A14F57-23A7-4391-951D-9B4F71FFF551}"/>
              </a:ext>
            </a:extLst>
          </p:cNvPr>
          <p:cNvSpPr/>
          <p:nvPr userDrawn="1"/>
        </p:nvSpPr>
        <p:spPr>
          <a:xfrm>
            <a:off x="0" y="6466788"/>
            <a:ext cx="12207240" cy="39121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4F2C7F-3756-42E9-9FBD-02FA1E51A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76" y="0"/>
            <a:ext cx="11969404" cy="936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5EAD3-810A-4DB8-9CC0-E5339536C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76" y="949412"/>
            <a:ext cx="11969404" cy="5512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96713-7C5C-443C-9D45-611076A4B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76" y="6479831"/>
            <a:ext cx="8031424" cy="391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F77F3-C56C-42F2-9D7A-EC8493204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8180" y="647983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fld id="{A71D4CCC-BB3A-4D93-86F3-16B4E3CF782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E34041-3A0E-4540-88E7-86195E5B12A2}"/>
              </a:ext>
            </a:extLst>
          </p:cNvPr>
          <p:cNvCxnSpPr/>
          <p:nvPr userDrawn="1"/>
        </p:nvCxnSpPr>
        <p:spPr>
          <a:xfrm>
            <a:off x="112740" y="838987"/>
            <a:ext cx="11978640" cy="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870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0" r:id="rId3"/>
    <p:sldLayoutId id="2147483657" r:id="rId4"/>
    <p:sldLayoutId id="2147483658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nhieu@ptit.edu.vn" TargetMode="External"/><Relationship Id="rId2" Type="http://schemas.openxmlformats.org/officeDocument/2006/relationships/hyperlink" Target="mailto:lnhieu@hcmute.edu.vn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1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0A820D-C241-6A20-129B-49776071AB4F}"/>
              </a:ext>
            </a:extLst>
          </p:cNvPr>
          <p:cNvSpPr/>
          <p:nvPr/>
        </p:nvSpPr>
        <p:spPr>
          <a:xfrm>
            <a:off x="-23091" y="6414616"/>
            <a:ext cx="12192000" cy="43034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80ADCF-F2BB-680C-2286-1674BBD06766}"/>
              </a:ext>
            </a:extLst>
          </p:cNvPr>
          <p:cNvSpPr/>
          <p:nvPr/>
        </p:nvSpPr>
        <p:spPr>
          <a:xfrm>
            <a:off x="0" y="0"/>
            <a:ext cx="12192000" cy="16045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90B568-818A-4869-B9A3-47E49B79A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236" y="5438967"/>
            <a:ext cx="11111346" cy="790106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LÊ NGỌC HIẾU</a:t>
            </a:r>
          </a:p>
          <a:p>
            <a:r>
              <a:rPr lang="en-US" dirty="0">
                <a:hlinkClick r:id="rId2"/>
              </a:rPr>
              <a:t>lnhieu@hcmute.edu.vn</a:t>
            </a:r>
            <a:r>
              <a:rPr lang="en-US" dirty="0"/>
              <a:t>  | </a:t>
            </a:r>
            <a:r>
              <a:rPr lang="en-US" dirty="0">
                <a:hlinkClick r:id="rId3"/>
              </a:rPr>
              <a:t>lnhieu@ptit.edu.vn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8BEBC-6B90-67F4-824E-7F0B269C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EAED5-4D17-030C-B5C3-6F44D06D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9D5A4C-DC65-27BC-B1B4-6B07EF4B5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236" y="1685934"/>
            <a:ext cx="11111346" cy="2387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VIDEO CONFERENCE 1 – 25.Apr.2026</a:t>
            </a:r>
            <a:br>
              <a:rPr lang="en-US" sz="4400" dirty="0"/>
            </a:br>
            <a:r>
              <a:rPr lang="en-US" sz="6700" dirty="0"/>
              <a:t>PHƯƠNG PHÁP NGHIÊN CỨU KHOA HỌC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A467FE-C561-EB85-AF77-383BE75C6F70}"/>
              </a:ext>
            </a:extLst>
          </p:cNvPr>
          <p:cNvSpPr txBox="1"/>
          <p:nvPr/>
        </p:nvSpPr>
        <p:spPr>
          <a:xfrm>
            <a:off x="2952750" y="4392516"/>
            <a:ext cx="61087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0" i="0" dirty="0">
                <a:solidFill>
                  <a:srgbClr val="1A1C1E"/>
                </a:solidFill>
                <a:effectLst/>
                <a:latin typeface="Inter"/>
              </a:rPr>
              <a:t>科学研究方法</a:t>
            </a:r>
            <a:endParaRPr lang="en-US" altLang="zh-CN" sz="2400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ctr"/>
            <a:r>
              <a:rPr lang="en-US" dirty="0" err="1"/>
              <a:t>Lớp</a:t>
            </a:r>
            <a:r>
              <a:rPr lang="en-US" dirty="0"/>
              <a:t> LMS</a:t>
            </a:r>
            <a:r>
              <a:rPr lang="en-US"/>
              <a:t>: </a:t>
            </a:r>
            <a:r>
              <a:rPr lang="en-US" b="1"/>
              <a:t>CHIN1218-2526</a:t>
            </a: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8F5FFE-2D79-29D8-4A5F-8E3B5BCEA2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838" y="205117"/>
            <a:ext cx="1626524" cy="118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699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27E63E-369B-6DC8-8039-4934E9881CED}"/>
              </a:ext>
            </a:extLst>
          </p:cNvPr>
          <p:cNvSpPr txBox="1"/>
          <p:nvPr/>
        </p:nvSpPr>
        <p:spPr>
          <a:xfrm>
            <a:off x="2042079" y="1080606"/>
            <a:ext cx="946860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000" b="1" spc="-67" dirty="0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Lê </a:t>
            </a:r>
            <a:r>
              <a:rPr lang="en-US" sz="2000" b="1" spc="-67" dirty="0" err="1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Ngọc</a:t>
            </a:r>
            <a:r>
              <a:rPr lang="en-US" sz="2000" b="1" spc="-67" dirty="0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2000" b="1" spc="-67" dirty="0" err="1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Hiếu</a:t>
            </a:r>
            <a:r>
              <a:rPr lang="en-US" sz="2000" b="1" spc="-67" dirty="0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, PhD. </a:t>
            </a:r>
            <a:r>
              <a:rPr lang="en-US" sz="2000" spc="-67" dirty="0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 (</a:t>
            </a:r>
            <a:r>
              <a:rPr lang="zh-CN" altLang="en-US" sz="2000" spc="-67" dirty="0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黎玉孝博士</a:t>
            </a:r>
            <a:r>
              <a:rPr lang="en-US" altLang="zh-CN" sz="2000" spc="-67" dirty="0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)</a:t>
            </a:r>
            <a:endParaRPr lang="en-US" sz="2000" spc="-67" dirty="0">
              <a:solidFill>
                <a:srgbClr val="0070C0"/>
              </a:solidFill>
              <a:latin typeface="BR Omega" pitchFamily="2" charset="77"/>
              <a:cs typeface="Arial" panose="020B0604020202020204" pitchFamily="34" charset="0"/>
            </a:endParaRPr>
          </a:p>
          <a:p>
            <a:pPr marL="228611" indent="-228611">
              <a:buFont typeface="Arial" panose="020B0604020202020204" pitchFamily="34" charset="0"/>
              <a:buChar char="•"/>
              <a:defRPr/>
            </a:pPr>
            <a:r>
              <a:rPr lang="zh-CN" altLang="en-US" sz="2000" b="1" spc="-67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工作角色</a:t>
            </a:r>
            <a:r>
              <a:rPr lang="en-US" sz="2000" b="1" spc="-67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: </a:t>
            </a:r>
            <a:r>
              <a:rPr lang="zh-CN" altLang="en-US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高级项目经理 </a:t>
            </a:r>
            <a:r>
              <a:rPr lang="en-US" altLang="zh-CN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/ </a:t>
            </a:r>
            <a:r>
              <a:rPr lang="zh-CN" altLang="en-US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学术研究员 </a:t>
            </a:r>
            <a:r>
              <a:rPr lang="en-US" altLang="zh-CN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/ </a:t>
            </a:r>
            <a:r>
              <a:rPr lang="zh-CN" altLang="en-US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讲师</a:t>
            </a:r>
            <a:endParaRPr lang="en-US" sz="2000" spc="-67" dirty="0">
              <a:solidFill>
                <a:srgbClr val="FF0000"/>
              </a:solidFill>
              <a:latin typeface="BR Omega" pitchFamily="2" charset="77"/>
              <a:cs typeface="Arial" panose="020B0604020202020204" pitchFamily="34" charset="0"/>
            </a:endParaRPr>
          </a:p>
          <a:p>
            <a:pPr marL="228611" indent="-228611">
              <a:buFont typeface="Arial" panose="020B0604020202020204" pitchFamily="34" charset="0"/>
              <a:buChar char="•"/>
              <a:defRPr/>
            </a:pPr>
            <a:r>
              <a:rPr lang="zh-CN" altLang="en-US" sz="2000" b="1" spc="-67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专业领域</a:t>
            </a:r>
            <a:r>
              <a:rPr lang="en-US" sz="2000" b="1" spc="-67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: </a:t>
            </a:r>
            <a:r>
              <a:rPr lang="en-US" altLang="zh-CN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ERP </a:t>
            </a:r>
            <a:r>
              <a:rPr lang="zh-CN" altLang="en-US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与人力资源管理 </a:t>
            </a:r>
            <a:r>
              <a:rPr lang="en-US" altLang="zh-CN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/ </a:t>
            </a:r>
            <a:r>
              <a:rPr lang="zh-CN" altLang="en-US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保险与金融 </a:t>
            </a:r>
            <a:r>
              <a:rPr lang="en-US" altLang="zh-CN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/ </a:t>
            </a:r>
            <a:r>
              <a:rPr lang="zh-CN" altLang="en-US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教育 </a:t>
            </a:r>
            <a:r>
              <a:rPr lang="en-US" altLang="zh-CN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/ </a:t>
            </a:r>
            <a:r>
              <a:rPr lang="zh-CN" altLang="en-US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医学与临床 </a:t>
            </a:r>
            <a:r>
              <a:rPr lang="en-US" altLang="zh-CN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/ </a:t>
            </a:r>
            <a:r>
              <a:rPr lang="zh-CN" altLang="en-US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加密货币 </a:t>
            </a:r>
            <a:r>
              <a:rPr lang="en-US" altLang="zh-CN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/ </a:t>
            </a:r>
            <a:r>
              <a:rPr lang="zh-CN" altLang="en-US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人工智能与机器学习</a:t>
            </a:r>
            <a:r>
              <a:rPr lang="en-US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</a:p>
          <a:p>
            <a:pPr marL="228611" indent="-228611">
              <a:buFont typeface="Arial" panose="020B0604020202020204" pitchFamily="34" charset="0"/>
              <a:buChar char="•"/>
              <a:defRPr/>
            </a:pPr>
            <a:r>
              <a:rPr lang="zh-CN" altLang="en-US" sz="2000" b="1" spc="-67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工作年限</a:t>
            </a:r>
            <a:r>
              <a:rPr lang="en-US" sz="2000" b="1" spc="-67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: </a:t>
            </a:r>
            <a:r>
              <a:rPr lang="en-US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+16 </a:t>
            </a:r>
            <a:r>
              <a:rPr lang="zh-CN" altLang="en-US" sz="2000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年</a:t>
            </a:r>
            <a:endParaRPr lang="en-US" sz="2000" spc="-67" dirty="0">
              <a:solidFill>
                <a:srgbClr val="FF0000"/>
              </a:solidFill>
              <a:latin typeface="BR Omega" pitchFamily="2" charset="77"/>
              <a:cs typeface="Arial" panose="020B0604020202020204" pitchFamily="34" charset="0"/>
            </a:endParaRPr>
          </a:p>
          <a:p>
            <a:pPr marL="228611" indent="-228611">
              <a:buFont typeface="Arial" panose="020B0604020202020204" pitchFamily="34" charset="0"/>
              <a:buChar char="•"/>
              <a:defRPr/>
            </a:pPr>
            <a:r>
              <a:rPr lang="zh-CN" altLang="en-US" sz="2000" b="1" spc="-67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电子邮箱</a:t>
            </a:r>
            <a:r>
              <a:rPr lang="en-US" sz="2000" b="1" spc="-67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:</a:t>
            </a:r>
          </a:p>
          <a:p>
            <a:pPr lvl="1">
              <a:defRPr/>
            </a:pPr>
            <a:r>
              <a:rPr lang="en-US" i="1" spc="-67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lnhieu@hcmute.edu.vn</a:t>
            </a:r>
          </a:p>
          <a:p>
            <a:pPr lvl="1">
              <a:defRPr/>
            </a:pPr>
            <a:r>
              <a:rPr lang="en-US" i="1" spc="-67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lnhieu@ufm.edu.vn</a:t>
            </a:r>
          </a:p>
          <a:p>
            <a:pPr lvl="1">
              <a:defRPr/>
            </a:pPr>
            <a:r>
              <a:rPr lang="en-US" i="1" spc="-67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hieuln@ptit.edu.vn</a:t>
            </a:r>
          </a:p>
          <a:p>
            <a:pPr lvl="1">
              <a:defRPr/>
            </a:pPr>
            <a:r>
              <a:rPr lang="en-US" i="1" spc="-67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hieu.le@oude.edu.vn</a:t>
            </a:r>
          </a:p>
          <a:p>
            <a:pPr lvl="1">
              <a:defRPr/>
            </a:pPr>
            <a:endParaRPr lang="en-US" sz="2000" b="1" spc="-67" dirty="0">
              <a:solidFill>
                <a:srgbClr val="002060"/>
              </a:solidFill>
              <a:latin typeface="BR Omega" pitchFamily="2" charset="77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zh-CN" altLang="en-US" sz="2000" b="1" spc="-67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工作单位</a:t>
            </a:r>
            <a:r>
              <a:rPr lang="en-US" sz="2000" b="1" spc="-67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: </a:t>
            </a:r>
          </a:p>
          <a:p>
            <a:pPr lvl="1">
              <a:defRPr/>
            </a:pPr>
            <a:endParaRPr lang="en-US" i="1" spc="-67" dirty="0">
              <a:solidFill>
                <a:srgbClr val="002060"/>
              </a:solidFill>
              <a:latin typeface="BR Omega" pitchFamily="2" charset="77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BC715C-70C9-BFF4-A01C-8FB8EAB618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120" t="34804" r="10360" b="35992"/>
          <a:stretch/>
        </p:blipFill>
        <p:spPr>
          <a:xfrm>
            <a:off x="4348215" y="5013013"/>
            <a:ext cx="1995091" cy="570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EC8717-2F40-DD1F-646A-10A32A4C3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356" y="4805122"/>
            <a:ext cx="653824" cy="865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F47406-6F9A-6C5A-E425-DE5AF7C0D4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396" y="4036065"/>
            <a:ext cx="1212457" cy="6596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3A6A11-CCDC-B66F-202B-2BB1561748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568" y="4870787"/>
            <a:ext cx="997320" cy="7262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25E45A-14DD-090B-1D70-DFBBDEF936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3492" y="4013200"/>
            <a:ext cx="984936" cy="62677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0BF64F0-D0B9-9522-D856-A968BE1335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844" r="79275" b="1"/>
          <a:stretch/>
        </p:blipFill>
        <p:spPr bwMode="auto">
          <a:xfrm>
            <a:off x="8477742" y="3902836"/>
            <a:ext cx="921230" cy="80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B251D6-7A70-5EEF-7A12-E600A8AD48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555" y="4093566"/>
            <a:ext cx="2028484" cy="7589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687A64-33CB-D7DC-806A-6AC5F780B2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887" y="4017277"/>
            <a:ext cx="758957" cy="7589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128018-80C9-B4CE-3AB1-EA828B1992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617" y="3987276"/>
            <a:ext cx="807196" cy="807196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921ADD9A-BBF6-7DE3-6F4F-F73724FDE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59" y="1101667"/>
            <a:ext cx="1560321" cy="156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CFC442-FDAB-0CC7-4BFE-D67156206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3623" y="4815966"/>
            <a:ext cx="726204" cy="726204"/>
          </a:xfrm>
          <a:prstGeom prst="rect">
            <a:avLst/>
          </a:prstGeom>
        </p:spPr>
      </p:pic>
      <p:pic>
        <p:nvPicPr>
          <p:cNvPr id="1032" name="Picture 8" descr="Tập tin:Logo Trường Đại học kinh tế - Luật (UEL), ĐHQG-HCM ...">
            <a:extLst>
              <a:ext uri="{FF2B5EF4-FFF2-40B4-BE49-F238E27FC236}">
                <a16:creationId xmlns:a16="http://schemas.microsoft.com/office/drawing/2014/main" id="{67DE6323-8384-F695-93DF-42131F6FD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6981" y="4727822"/>
            <a:ext cx="855217" cy="85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hận diện thương hiệu UHS">
            <a:extLst>
              <a:ext uri="{FF2B5EF4-FFF2-40B4-BE49-F238E27FC236}">
                <a16:creationId xmlns:a16="http://schemas.microsoft.com/office/drawing/2014/main" id="{C6B3A0B8-C5CA-5456-F2B0-4F0FFFF8B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3492" y="4686951"/>
            <a:ext cx="855219" cy="855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itle 3">
            <a:extLst>
              <a:ext uri="{FF2B5EF4-FFF2-40B4-BE49-F238E27FC236}">
                <a16:creationId xmlns:a16="http://schemas.microsoft.com/office/drawing/2014/main" id="{5B02AFA5-D7AA-1F48-F87B-84DC95AA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46" y="13730"/>
            <a:ext cx="11969404" cy="936361"/>
          </a:xfrm>
        </p:spPr>
        <p:txBody>
          <a:bodyPr>
            <a:normAutofit/>
          </a:bodyPr>
          <a:lstStyle/>
          <a:p>
            <a:r>
              <a:rPr lang="en-US" sz="3600" b="1" dirty="0"/>
              <a:t>PHỤ TRÁCH HỌC PHẦN</a:t>
            </a:r>
          </a:p>
        </p:txBody>
      </p:sp>
    </p:spTree>
    <p:extLst>
      <p:ext uri="{BB962C8B-B14F-4D97-AF65-F5344CB8AC3E}">
        <p14:creationId xmlns:p14="http://schemas.microsoft.com/office/powerpoint/2010/main" val="333237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68C75-1BA1-16DA-2FD9-338ADC60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876BB-8C93-F11B-AF86-F1CF2F61E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vi-VN" dirty="0"/>
              <a:t>Giới thiệu tổng quan môn học</a:t>
            </a:r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Phương pháp học tập trực tuyến (LMS)</a:t>
            </a:r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Tóm tắt nội dung 7 chương</a:t>
            </a:r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Quy định đánh giá &amp; Tính điểm</a:t>
            </a:r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Hỏi đáp (Q&amp;A)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93F95F-9897-66AC-6F46-8561BEE6F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2B4EF-EF82-667F-0130-2F83864D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3</a:t>
            </a:fld>
            <a:endParaRPr lang="en-US"/>
          </a:p>
        </p:txBody>
      </p:sp>
      <p:pic>
        <p:nvPicPr>
          <p:cNvPr id="6" name="Cẩm_nang_học_Nghiên_cứu_Khoa_học">
            <a:hlinkClick r:id="" action="ppaction://media"/>
            <a:extLst>
              <a:ext uri="{FF2B5EF4-FFF2-40B4-BE49-F238E27FC236}">
                <a16:creationId xmlns:a16="http://schemas.microsoft.com/office/drawing/2014/main" id="{E64943FA-63BA-1979-A3D9-F9AADDB70F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02350" y="5089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91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89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0EE2-4EC7-4CCA-B332-359A471F31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300" dirty="0" err="1"/>
              <a:t>Phần</a:t>
            </a:r>
            <a:r>
              <a:rPr lang="en-US" sz="5300" dirty="0"/>
              <a:t> 1</a:t>
            </a:r>
            <a:br>
              <a:rPr lang="en-US" dirty="0"/>
            </a:br>
            <a:r>
              <a:rPr lang="en-US" b="1" dirty="0"/>
              <a:t>GIỚI THIỆU MÔN HỌC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8BEBC-6B90-67F4-824E-7F0B269C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EAED5-4D17-030C-B5C3-6F44D06D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D28930D-DE8D-4370-B208-6A4BB74AA2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22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CA5542-0F2C-4902-9C30-B20D645E0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46" y="13730"/>
            <a:ext cx="11969404" cy="936361"/>
          </a:xfrm>
        </p:spPr>
        <p:txBody>
          <a:bodyPr/>
          <a:lstStyle/>
          <a:p>
            <a:r>
              <a:rPr lang="vi-VN" b="1" dirty="0"/>
              <a:t>Mục tiêu &amp; Đối tượng nghiên cứu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99DA72-3B47-4DD2-993D-A79061829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246" y="963142"/>
            <a:ext cx="11969404" cy="5512359"/>
          </a:xfrm>
        </p:spPr>
        <p:txBody>
          <a:bodyPr>
            <a:normAutofit/>
          </a:bodyPr>
          <a:lstStyle/>
          <a:p>
            <a:r>
              <a:rPr lang="vi-VN" b="1" dirty="0"/>
              <a:t>Mục tiêu:</a:t>
            </a:r>
            <a:r>
              <a:rPr lang="vi-VN" dirty="0"/>
              <a:t> Trang bị kiến thức, phương pháp và kỹ năng triển khai nghiên cứu khoa học.</a:t>
            </a:r>
          </a:p>
          <a:p>
            <a:r>
              <a:rPr lang="vi-VN" b="1" dirty="0"/>
              <a:t>Lĩnh vực trọng tâm:</a:t>
            </a:r>
            <a:endParaRPr lang="vi-VN" dirty="0"/>
          </a:p>
          <a:p>
            <a:pPr lvl="1"/>
            <a:r>
              <a:rPr lang="vi-VN" dirty="0"/>
              <a:t>Ngôn ngữ Trung Quốc.</a:t>
            </a:r>
          </a:p>
          <a:p>
            <a:pPr lvl="1"/>
            <a:r>
              <a:rPr lang="vi-VN" dirty="0"/>
              <a:t>Văn hóa Trung Quốc.</a:t>
            </a:r>
          </a:p>
          <a:p>
            <a:pPr lvl="1"/>
            <a:r>
              <a:rPr lang="vi-VN" dirty="0"/>
              <a:t>Giáo dục (Phương pháp giảng dạy tiếng Trung).</a:t>
            </a:r>
          </a:p>
          <a:p>
            <a:r>
              <a:rPr lang="vi-VN" b="1" dirty="0"/>
              <a:t>Kỹ năng đạt được:</a:t>
            </a:r>
            <a:r>
              <a:rPr lang="vi-VN" dirty="0"/>
              <a:t> Tư duy logic, làm việc độc lập/nhóm, đạo đức nghề nghiệp, viết đề cương nghiên cứu.</a:t>
            </a:r>
          </a:p>
          <a:p>
            <a:r>
              <a:rPr lang="vi-VN" b="1" dirty="0"/>
              <a:t>Số tín chỉ:</a:t>
            </a:r>
            <a:r>
              <a:rPr lang="vi-VN" dirty="0"/>
              <a:t> 02 (30 tiết).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27787A-1C93-4288-9692-23B875C6E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246" y="6493561"/>
            <a:ext cx="8031424" cy="391212"/>
          </a:xfrm>
        </p:spPr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2B4F77-7149-5591-CA31-DF13BC19A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9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11C5E-0FFA-4850-49A2-4A14A01A8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9CD7-411B-4244-CB11-241ACBD1C9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300" dirty="0" err="1"/>
              <a:t>Phần</a:t>
            </a:r>
            <a:r>
              <a:rPr lang="en-US" sz="5300" dirty="0"/>
              <a:t> 2</a:t>
            </a:r>
            <a:br>
              <a:rPr lang="en-US" dirty="0"/>
            </a:br>
            <a:r>
              <a:rPr lang="vi-VN" b="1" dirty="0"/>
              <a:t>PHƯƠNG PHÁP HỌC TẬP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9FA94-A104-3A31-C5A4-D52AD8FD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A3384-4445-267A-52F7-324F00D8F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F08C565-923A-2719-7C4D-50D59C7311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14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CA5542-0F2C-4902-9C30-B20D645E0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</a:t>
            </a:r>
            <a:r>
              <a:rPr lang="en-US" b="1" dirty="0" err="1"/>
              <a:t>Cách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 LMS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99DA72-3B47-4DD2-993D-A79061829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</a:t>
            </a:r>
            <a:r>
              <a:rPr lang="vi-VN" b="1" dirty="0"/>
              <a:t>ình thức:</a:t>
            </a:r>
            <a:r>
              <a:rPr lang="vi-VN" dirty="0"/>
              <a:t> Học trực tuyến hoàn toàn qua hệ thống LMS.</a:t>
            </a:r>
          </a:p>
          <a:p>
            <a:r>
              <a:rPr lang="vi-VN" b="1" dirty="0"/>
              <a:t>Quy trình học tập:</a:t>
            </a:r>
            <a:endParaRPr lang="vi-VN" dirty="0"/>
          </a:p>
          <a:p>
            <a:pPr lvl="1"/>
            <a:r>
              <a:rPr lang="vi-VN" b="1" dirty="0"/>
              <a:t>Xem Video bài giảng:</a:t>
            </a:r>
            <a:r>
              <a:rPr lang="vi-VN" dirty="0"/>
              <a:t> Theo từng chủ đề hàng tuần.</a:t>
            </a:r>
          </a:p>
          <a:p>
            <a:pPr lvl="1"/>
            <a:r>
              <a:rPr lang="vi-VN" b="1" dirty="0"/>
              <a:t>Đọc tài liệu:</a:t>
            </a:r>
            <a:r>
              <a:rPr lang="vi-VN" dirty="0"/>
              <a:t> Slide bài giảng, giáo trình, tài liệu tham khảo.</a:t>
            </a:r>
          </a:p>
          <a:p>
            <a:pPr lvl="1"/>
            <a:r>
              <a:rPr lang="vi-VN" b="1" dirty="0"/>
              <a:t>Làm bài tập:</a:t>
            </a:r>
            <a:r>
              <a:rPr lang="vi-VN" dirty="0"/>
              <a:t> Trắc nghiệm tự đánh giá sau mỗi chủ đề/chương.</a:t>
            </a:r>
          </a:p>
          <a:p>
            <a:pPr lvl="1"/>
            <a:r>
              <a:rPr lang="vi-VN" b="1" dirty="0"/>
              <a:t>Thảo luận:</a:t>
            </a:r>
            <a:r>
              <a:rPr lang="vi-VN" dirty="0"/>
              <a:t> Tham gia diễn đàn trao đổi kiến thức.</a:t>
            </a:r>
          </a:p>
          <a:p>
            <a:pPr lvl="1"/>
            <a:r>
              <a:rPr lang="vi-VN" b="1" dirty="0"/>
              <a:t>Video Conference:</a:t>
            </a:r>
            <a:r>
              <a:rPr lang="vi-VN" dirty="0"/>
              <a:t> Tham gia 2 buổi (Đầu kỳ và Cuối kỳ).</a:t>
            </a:r>
          </a:p>
          <a:p>
            <a:r>
              <a:rPr lang="vi-VN" b="1" dirty="0"/>
              <a:t>Yêu cầu:</a:t>
            </a:r>
            <a:r>
              <a:rPr lang="vi-VN" dirty="0"/>
              <a:t> Tinh thần tự học cao, tuân thủ deadline trên hệ thống.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27787A-1C93-4288-9692-23B875C6E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02EEC0-D700-1745-28DF-95979A6E5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71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7958B-2ADC-E081-FDB1-52F2C3B0D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0B7BBF-CE62-6D6A-0F9D-29C46B37B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Đặc</a:t>
            </a:r>
            <a:r>
              <a:rPr lang="en-US" b="1" dirty="0"/>
              <a:t> </a:t>
            </a:r>
            <a:r>
              <a:rPr lang="en-US" b="1" dirty="0" err="1"/>
              <a:t>thù</a:t>
            </a:r>
            <a:r>
              <a:rPr lang="en-US" b="1" dirty="0"/>
              <a:t> </a:t>
            </a:r>
            <a:r>
              <a:rPr lang="en-US" b="1" dirty="0" err="1"/>
              <a:t>môn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 </a:t>
            </a:r>
            <a:r>
              <a:rPr lang="en-US" b="1" dirty="0" err="1"/>
              <a:t>trực</a:t>
            </a:r>
            <a:r>
              <a:rPr lang="en-US" b="1" dirty="0"/>
              <a:t> </a:t>
            </a:r>
            <a:r>
              <a:rPr lang="en-US" b="1" dirty="0" err="1"/>
              <a:t>tuyến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21744E-EFF4-0030-CD1D-A6B0F5F11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Tự học là chính:</a:t>
            </a:r>
            <a:r>
              <a:rPr lang="vi-VN" dirty="0"/>
              <a:t> Sinh viên chủ động thời gian.</a:t>
            </a:r>
          </a:p>
          <a:p>
            <a:r>
              <a:rPr lang="vi-VN" b="1" dirty="0"/>
              <a:t>Tương tác qua hệ thống:</a:t>
            </a:r>
            <a:r>
              <a:rPr lang="vi-VN" dirty="0"/>
              <a:t> Mọi hoạt động học tập, nộp bài đều diễn ra trên LMS.</a:t>
            </a:r>
          </a:p>
          <a:p>
            <a:r>
              <a:rPr lang="vi-VN" b="1" dirty="0"/>
              <a:t>Tài liệu:</a:t>
            </a:r>
            <a:r>
              <a:rPr lang="vi-VN" dirty="0"/>
              <a:t> Đa dạng (Video, Slide, E-learning script, Tài liệu tham khảo).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206B36-1256-EA67-166B-B4F56E98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3B9061-070E-12F6-B011-65346A2B4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77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51A47-498E-8E38-8279-570D8C59F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401C74-E9AB-797A-3EE9-5266831E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Quy </a:t>
            </a:r>
            <a:r>
              <a:rPr lang="en-US" b="1" dirty="0" err="1"/>
              <a:t>trình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</a:t>
            </a:r>
            <a:r>
              <a:rPr lang="en-US" b="1" dirty="0" err="1"/>
              <a:t>mỗi</a:t>
            </a:r>
            <a:r>
              <a:rPr lang="en-US" b="1" dirty="0"/>
              <a:t> </a:t>
            </a:r>
            <a:r>
              <a:rPr lang="en-US" b="1" dirty="0" err="1"/>
              <a:t>tuần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F50FF4-AE41-2CC9-EE30-B5784081E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Xem Video </a:t>
            </a: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giảng</a:t>
            </a:r>
            <a:r>
              <a:rPr lang="en-US" b="1" dirty="0"/>
              <a:t>:</a:t>
            </a:r>
            <a:r>
              <a:rPr lang="en-US" dirty="0"/>
              <a:t> Theo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(Topic).</a:t>
            </a:r>
          </a:p>
          <a:p>
            <a:r>
              <a:rPr lang="en-US" b="1" dirty="0" err="1"/>
              <a:t>Nghiên</a:t>
            </a:r>
            <a:r>
              <a:rPr lang="en-US" b="1" dirty="0"/>
              <a:t> </a:t>
            </a:r>
            <a:r>
              <a:rPr lang="en-US" b="1" dirty="0" err="1"/>
              <a:t>cứu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giáo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slide </a:t>
            </a:r>
            <a:r>
              <a:rPr lang="en-US" dirty="0" err="1"/>
              <a:t>đính</a:t>
            </a:r>
            <a:r>
              <a:rPr lang="en-US" dirty="0"/>
              <a:t> </a:t>
            </a:r>
            <a:r>
              <a:rPr lang="en-US" dirty="0" err="1"/>
              <a:t>kèm</a:t>
            </a:r>
            <a:r>
              <a:rPr lang="en-US" dirty="0"/>
              <a:t>.</a:t>
            </a:r>
          </a:p>
          <a:p>
            <a:r>
              <a:rPr lang="en-US" b="1" dirty="0" err="1"/>
              <a:t>Làm</a:t>
            </a:r>
            <a:r>
              <a:rPr lang="en-US" b="1" dirty="0"/>
              <a:t> </a:t>
            </a: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</a:t>
            </a:r>
            <a:r>
              <a:rPr lang="en-US" b="1" dirty="0" err="1"/>
              <a:t>tự</a:t>
            </a:r>
            <a:r>
              <a:rPr lang="en-US" b="1" dirty="0"/>
              <a:t> </a:t>
            </a:r>
            <a:r>
              <a:rPr lang="en-US" b="1" dirty="0" err="1"/>
              <a:t>đánh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:</a:t>
            </a:r>
            <a:r>
              <a:rPr lang="en-US" dirty="0"/>
              <a:t> Các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trắc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.</a:t>
            </a:r>
          </a:p>
          <a:p>
            <a:r>
              <a:rPr lang="en-US" b="1" dirty="0"/>
              <a:t>Tham </a:t>
            </a:r>
            <a:r>
              <a:rPr lang="en-US" b="1" dirty="0" err="1"/>
              <a:t>gia</a:t>
            </a:r>
            <a:r>
              <a:rPr lang="en-US" b="1" dirty="0"/>
              <a:t> </a:t>
            </a:r>
            <a:r>
              <a:rPr lang="en-US" b="1" dirty="0" err="1"/>
              <a:t>diễn</a:t>
            </a:r>
            <a:r>
              <a:rPr lang="en-US" b="1" dirty="0"/>
              <a:t> </a:t>
            </a:r>
            <a:r>
              <a:rPr lang="en-US" b="1" dirty="0" err="1"/>
              <a:t>đàn</a:t>
            </a:r>
            <a:r>
              <a:rPr lang="en-US" b="1" dirty="0"/>
              <a:t>:</a:t>
            </a:r>
            <a:r>
              <a:rPr lang="en-US" dirty="0"/>
              <a:t> Thảo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BEED0B-8587-C4F5-BFEC-9FA2F341D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EA3777-45E3-838C-2D7C-B8AC6EFE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85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55C0-63B8-4F05-58EE-C84BF9768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D83D1D-D210-51DF-F7AE-32A81248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Các </a:t>
            </a:r>
            <a:r>
              <a:rPr lang="en-US" b="1" dirty="0" err="1"/>
              <a:t>mốc</a:t>
            </a:r>
            <a:r>
              <a:rPr lang="en-US" b="1" dirty="0"/>
              <a:t> </a:t>
            </a:r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r>
              <a:rPr lang="en-US" b="1" dirty="0"/>
              <a:t> </a:t>
            </a:r>
            <a:r>
              <a:rPr lang="en-US" b="1" dirty="0" err="1"/>
              <a:t>trọng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41D90D-2F54-4FD0-CF2D-A6C5BF20C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Video Conference 1 (</a:t>
            </a:r>
            <a:r>
              <a:rPr lang="en-US" b="1" dirty="0" err="1"/>
              <a:t>Tuần</a:t>
            </a:r>
            <a:r>
              <a:rPr lang="en-US" b="1" dirty="0"/>
              <a:t> 1):</a:t>
            </a:r>
            <a:r>
              <a:rPr lang="en-US" dirty="0"/>
              <a:t> 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(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).</a:t>
            </a:r>
          </a:p>
          <a:p>
            <a:r>
              <a:rPr lang="en-US" b="1" dirty="0"/>
              <a:t>Học </a:t>
            </a:r>
            <a:r>
              <a:rPr lang="en-US" b="1" dirty="0" err="1"/>
              <a:t>tập</a:t>
            </a:r>
            <a:r>
              <a:rPr lang="en-US" b="1" dirty="0"/>
              <a:t> qua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tuần</a:t>
            </a:r>
            <a:r>
              <a:rPr lang="en-US" b="1" dirty="0"/>
              <a:t>:</a:t>
            </a:r>
            <a:r>
              <a:rPr lang="en-US" dirty="0"/>
              <a:t> Theo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LMS.</a:t>
            </a:r>
          </a:p>
          <a:p>
            <a:r>
              <a:rPr lang="en-US" b="1" dirty="0"/>
              <a:t>Video Conference 2 (</a:t>
            </a:r>
            <a:r>
              <a:rPr lang="en-US" b="1" dirty="0" err="1"/>
              <a:t>Tuần</a:t>
            </a:r>
            <a:r>
              <a:rPr lang="en-US" b="1" dirty="0"/>
              <a:t> </a:t>
            </a:r>
            <a:r>
              <a:rPr lang="en-US" b="1" dirty="0" err="1"/>
              <a:t>cuối</a:t>
            </a:r>
            <a:r>
              <a:rPr lang="en-US" b="1" dirty="0"/>
              <a:t>):</a:t>
            </a:r>
            <a:r>
              <a:rPr lang="en-US" dirty="0"/>
              <a:t> 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,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thắc</a:t>
            </a:r>
            <a:r>
              <a:rPr lang="en-US" dirty="0"/>
              <a:t> </a:t>
            </a:r>
            <a:r>
              <a:rPr lang="en-US" dirty="0" err="1"/>
              <a:t>mắc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.</a:t>
            </a:r>
          </a:p>
          <a:p>
            <a:r>
              <a:rPr lang="en-US" b="1" dirty="0"/>
              <a:t>Deadline </a:t>
            </a:r>
            <a:r>
              <a:rPr lang="en-US" b="1" dirty="0" err="1"/>
              <a:t>nộp</a:t>
            </a:r>
            <a:r>
              <a:rPr lang="en-US" b="1" dirty="0"/>
              <a:t> </a:t>
            </a:r>
            <a:r>
              <a:rPr lang="en-US" b="1" dirty="0" err="1"/>
              <a:t>bài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mốc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D2E961-41AD-45D1-8AE2-87E44F01D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127644-40DE-0A57-A71E-93765F35A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51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79F9-8F3D-A287-134E-FCD0DF0B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EB1668-94F9-84A0-E49C-8E5C12AC1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Yêu</a:t>
            </a:r>
            <a:r>
              <a:rPr lang="en-US" b="1" dirty="0"/>
              <a:t> </a:t>
            </a:r>
            <a:r>
              <a:rPr lang="en-US" b="1" dirty="0" err="1"/>
              <a:t>cầu</a:t>
            </a:r>
            <a:r>
              <a:rPr lang="en-US" b="1" dirty="0"/>
              <a:t> </a:t>
            </a:r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với</a:t>
            </a:r>
            <a:r>
              <a:rPr lang="en-US" b="1" dirty="0"/>
              <a:t> </a:t>
            </a:r>
            <a:r>
              <a:rPr lang="en-US" b="1" dirty="0" err="1"/>
              <a:t>sinh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48B2A3-1681-DDAC-636A-8DEFC0978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Đăng nhập hệ thống thường xuyên.</a:t>
            </a:r>
          </a:p>
          <a:p>
            <a:r>
              <a:rPr lang="vi-VN" dirty="0"/>
              <a:t>Hoàn thành 100% các bài trắc nghiệm định kỳ.</a:t>
            </a:r>
          </a:p>
          <a:p>
            <a:r>
              <a:rPr lang="vi-VN" dirty="0"/>
              <a:t>Tích cực tương tác trên diễn đàn thảo luận.</a:t>
            </a:r>
          </a:p>
          <a:p>
            <a:r>
              <a:rPr lang="vi-VN" dirty="0"/>
              <a:t>Tuân thủ liêm chính học thuật (Không đạo văn).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95EA73-8594-AFEF-890E-9FAD0BE58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09EABC-8A48-6455-7795-FFD79250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28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0F9FE-A8CC-D218-4FD9-9E991F9E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7F0B-2F51-A5CB-0524-D06D8556C0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300" dirty="0" err="1"/>
              <a:t>Phần</a:t>
            </a:r>
            <a:r>
              <a:rPr lang="en-US" sz="5300" dirty="0"/>
              <a:t> 3</a:t>
            </a:r>
            <a:br>
              <a:rPr lang="en-US" dirty="0"/>
            </a:br>
            <a:r>
              <a:rPr lang="en-US" b="1" dirty="0"/>
              <a:t>NỘI DUNG MÔN HỌC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23E03-1C30-8B87-8021-E847B88C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E1D32-1F92-E71A-B2BB-9D56E25E3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9947709-E6F0-1409-B0BC-50AE3134E3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83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8E55A-0916-3E38-C73D-A2E544D8E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B8BF1F-A127-AA19-52E4-6E6CAEBCA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Tổng quan cấu trúc chương trình</a:t>
            </a:r>
            <a:endParaRPr lang="vi-VN" i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55118E-A3B0-2C84-F807-61DED1E4B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Môn học gồm </a:t>
            </a:r>
            <a:r>
              <a:rPr lang="vi-VN" b="1" dirty="0"/>
              <a:t>7 Chương</a:t>
            </a:r>
            <a:r>
              <a:rPr lang="vi-VN" dirty="0"/>
              <a:t> chính.</a:t>
            </a:r>
          </a:p>
          <a:p>
            <a:r>
              <a:rPr lang="vi-VN" dirty="0"/>
              <a:t>Đi từ khái niệm cơ bản -&gt; Xây dựng đề cương -&gt; Xử lý dữ liệu.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A8A1BA-3D61-89E7-E4DD-48F58AE54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4837F-F7D9-DA12-2EB2-D832CC59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86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5F393-454A-41D5-8B52-923B728F7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Chương 0 - Giới thiệu nhập môn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DCB10-C3C9-458C-BA78-FF57409B5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Phát triển tư duy logic.</a:t>
            </a:r>
          </a:p>
          <a:p>
            <a:r>
              <a:rPr lang="vi-VN" dirty="0"/>
              <a:t>Nhận diện vấn đề NCKH trong Ngôn ngữ - Văn hóa - Giáo dục.</a:t>
            </a:r>
          </a:p>
          <a:p>
            <a:r>
              <a:rPr lang="vi-VN" dirty="0"/>
              <a:t>Phân biệt: Phát minh, phát hiện, sáng chế vs. Nghiên cứu khoa học.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55B36-72BE-4063-93FB-DF57F75D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FAC1F-D964-4F21-7318-35A2191F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06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B662B-A75D-58B5-416B-08ACCC7A6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88366-EF15-4251-F37D-85537539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b="1" dirty="0"/>
              <a:t>Chương 1 - Giới thiệu về Phương pháp Nghiên cứu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B9C3C-B52A-60DC-87CD-0C8D54F7C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1.1 Khái niệm:</a:t>
            </a:r>
            <a:r>
              <a:rPr lang="vi-VN" dirty="0"/>
              <a:t> Nghiên cứu là gì? Động cơ nghiên cứu.</a:t>
            </a:r>
          </a:p>
          <a:p>
            <a:r>
              <a:rPr lang="vi-VN" b="1" dirty="0"/>
              <a:t>1.2 Vai trò:</a:t>
            </a:r>
            <a:r>
              <a:rPr lang="vi-VN" dirty="0"/>
              <a:t> Tại sao cần nghiên cứu trong ngôn ngữ/giáo dục?</a:t>
            </a:r>
          </a:p>
          <a:p>
            <a:r>
              <a:rPr lang="vi-VN" b="1" dirty="0"/>
              <a:t>1.3 Quy trình:</a:t>
            </a:r>
            <a:r>
              <a:rPr lang="vi-VN" dirty="0"/>
              <a:t> Sơ đồ 7 bước của một nghiên cứu khoa học.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(Project).</a:t>
            </a:r>
          </a:p>
          <a:p>
            <a:pPr lvl="1"/>
            <a:r>
              <a:rPr lang="en-US" dirty="0"/>
              <a:t>Luận </a:t>
            </a:r>
            <a:r>
              <a:rPr lang="en-US" dirty="0" err="1"/>
              <a:t>văn</a:t>
            </a:r>
            <a:r>
              <a:rPr lang="en-US" dirty="0"/>
              <a:t> (Thesis).</a:t>
            </a:r>
          </a:p>
          <a:p>
            <a:pPr lvl="1"/>
            <a:r>
              <a:rPr lang="en-US" dirty="0"/>
              <a:t>Luận </a:t>
            </a:r>
            <a:r>
              <a:rPr lang="en-US" dirty="0" err="1"/>
              <a:t>án</a:t>
            </a:r>
            <a:r>
              <a:rPr lang="en-US" dirty="0"/>
              <a:t> (Dissertation).</a:t>
            </a:r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BB5105-71AF-7B4F-DE88-FDED158A8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FE71A-E8EB-9A55-B186-C20F36B0E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48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81EEC-143B-16C2-1377-517872B64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16C96-111E-584F-9D0D-26468CB3B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Chương 2 - Chọn đề tài &amp; Xác định vấn đề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3F43-6C8E-571B-1B8B-F42B0DA80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2.1 Chọn đề tài:</a:t>
            </a:r>
            <a:endParaRPr lang="vi-VN" dirty="0"/>
          </a:p>
          <a:p>
            <a:pPr lvl="1"/>
            <a:r>
              <a:rPr lang="vi-VN" dirty="0"/>
              <a:t>8 điều kiện để lựa chọn đề tài tốt.</a:t>
            </a:r>
          </a:p>
          <a:p>
            <a:pPr lvl="1"/>
            <a:r>
              <a:rPr lang="vi-VN" dirty="0"/>
              <a:t>6 bước trong quá trình chọn đề tài.</a:t>
            </a:r>
          </a:p>
          <a:p>
            <a:r>
              <a:rPr lang="vi-VN" b="1" dirty="0"/>
              <a:t>2.2 Các thành tố cốt lõi:</a:t>
            </a:r>
            <a:endParaRPr lang="vi-VN" dirty="0"/>
          </a:p>
          <a:p>
            <a:pPr lvl="1"/>
            <a:r>
              <a:rPr lang="vi-VN" dirty="0"/>
              <a:t>Câu hỏi nghiên cứu (Research Questions).</a:t>
            </a:r>
          </a:p>
          <a:p>
            <a:pPr lvl="1"/>
            <a:r>
              <a:rPr lang="vi-VN" dirty="0"/>
              <a:t>Mục tiêu nghiên cứu (Objectives).</a:t>
            </a:r>
          </a:p>
          <a:p>
            <a:pPr lvl="1"/>
            <a:r>
              <a:rPr lang="vi-VN" dirty="0"/>
              <a:t>Giả thuyết nghiên cứu (Hypotheses).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68B1F2-0C2C-C26E-8D14-8161761E9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111229-4D35-F78B-302D-AE58386A8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758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D36A-C5CF-1D8F-2525-D070F1E4E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10F6D-1ED2-D423-EE6E-82C80F90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Chương 2 (Tiếp theo) - Đánh giá tính khả thi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87907-A29A-FCF4-0C89-99A8B2A30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3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(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,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,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).</a:t>
            </a:r>
          </a:p>
          <a:p>
            <a:pPr lvl="1"/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(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/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tiễn</a:t>
            </a:r>
            <a:r>
              <a:rPr lang="en-US" dirty="0"/>
              <a:t>?).</a:t>
            </a:r>
          </a:p>
          <a:p>
            <a:pPr lvl="1"/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(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9D20D2-3A81-8AB3-AC73-1820940E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C59D78-58C1-AC31-A2E6-B781ADF7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782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3C6CE-464A-D39D-3801-B1C98C26F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888A-79DF-E692-0696-7AD2937C3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Chương 3 - Đề cương nghiên cứu (Proposal)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6A41E-2553-2F47-7B5D-CC97978B7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Đây là </a:t>
            </a:r>
            <a:r>
              <a:rPr lang="vi-VN" b="1" dirty="0"/>
              <a:t>kết quả quan trọng nhất</a:t>
            </a:r>
            <a:r>
              <a:rPr lang="vi-VN" dirty="0"/>
              <a:t> của môn học này.</a:t>
            </a:r>
          </a:p>
          <a:p>
            <a:r>
              <a:rPr lang="vi-VN" b="1" dirty="0"/>
              <a:t>Nội dung đề cương:</a:t>
            </a:r>
            <a:endParaRPr lang="vi-VN" dirty="0"/>
          </a:p>
          <a:p>
            <a:pPr lvl="1"/>
            <a:r>
              <a:rPr lang="vi-VN" dirty="0"/>
              <a:t>Trả lời các câu hỏi: What (Nghiên cứu cái gì?), Why (Tại sao nghiên cứu?), How (Nghiên cứu như thế nào?).</a:t>
            </a:r>
            <a:endParaRPr lang="en-US" dirty="0"/>
          </a:p>
          <a:p>
            <a:r>
              <a:rPr lang="vi-VN" b="1" dirty="0"/>
              <a:t>Đạo đức trong NCKH</a:t>
            </a:r>
            <a:endParaRPr lang="vi-VN" dirty="0"/>
          </a:p>
          <a:p>
            <a:pPr lvl="1"/>
            <a:r>
              <a:rPr lang="vi-VN" dirty="0"/>
              <a:t>Các nguyên tắc đạo đức cơ bản.</a:t>
            </a:r>
          </a:p>
          <a:p>
            <a:pPr lvl="1"/>
            <a:r>
              <a:rPr lang="vi-VN" dirty="0"/>
              <a:t>7 vấn đề phổ biến cần tránh (bịa đặt số liệu, đạo văn...).</a:t>
            </a:r>
          </a:p>
          <a:p>
            <a:pPr lvl="1"/>
            <a:r>
              <a:rPr lang="vi-VN" dirty="0"/>
              <a:t>Đạo đức trong từng giai đoạn nghiên cứu.</a:t>
            </a:r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32FD8-2C25-CD6B-DCB7-83918BC2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DD64F-A60E-722D-00DC-10168374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18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9B9D5-867D-6F59-364E-566479DC5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A42D5-699C-87DF-1624-6785B1482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Chương 4 - Tổng quan tài liệu &amp; Cơ sở lý thuyết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B8108-D3E8-4AE1-2D9B-F31CFBA1A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4.1 &amp; 4.2:</a:t>
            </a:r>
            <a:r>
              <a:rPr lang="vi-VN" dirty="0"/>
              <a:t> Khái niệm và Vai trò của Tổng quan tài liệu (Literature Review).</a:t>
            </a:r>
          </a:p>
          <a:p>
            <a:r>
              <a:rPr lang="vi-VN" b="1" dirty="0"/>
              <a:t>Mục đích:</a:t>
            </a:r>
            <a:r>
              <a:rPr lang="vi-VN" dirty="0"/>
              <a:t> Để biết người đi trước đã làm gì, tránh trùng lặp và tìm ra khe hổng nghiên cứu.</a:t>
            </a:r>
            <a:endParaRPr lang="en-US" dirty="0"/>
          </a:p>
          <a:p>
            <a:r>
              <a:rPr lang="vi-VN" b="1" dirty="0"/>
              <a:t>Xây dựng cơ sở lý thuyết</a:t>
            </a:r>
            <a:endParaRPr lang="vi-VN" dirty="0"/>
          </a:p>
          <a:p>
            <a:pPr lvl="1"/>
            <a:r>
              <a:rPr lang="vi-VN" b="1" dirty="0"/>
              <a:t>Nguồn tài liệu:</a:t>
            </a:r>
            <a:r>
              <a:rPr lang="vi-VN" dirty="0"/>
              <a:t> Sơ cấp, Thứ cấp, Tam cấp.</a:t>
            </a:r>
          </a:p>
          <a:p>
            <a:pPr lvl="1"/>
            <a:r>
              <a:rPr lang="vi-VN" b="1" dirty="0"/>
              <a:t>Quy trình:</a:t>
            </a:r>
            <a:r>
              <a:rPr lang="vi-VN" dirty="0"/>
              <a:t> 4 bước xây dựng tổng quan tài liệu.</a:t>
            </a:r>
          </a:p>
          <a:p>
            <a:pPr lvl="1"/>
            <a:r>
              <a:rPr lang="vi-VN" dirty="0"/>
              <a:t>Kết hợp Lý thuyết nền tảng + Các nghiên cứu liên quan trước đó.</a:t>
            </a:r>
          </a:p>
          <a:p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1D203-7309-7C63-3248-0BEBFCA77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C3073D-9BFC-C027-1928-F62217D0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28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00E94-FC23-F50F-AC0A-5F108E4DE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3C4C9-6A89-407D-D173-04AD82127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Chương 5 - Trích dẫn &amp; Tài liệu tham khảo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075FD-E697-2178-9D53-858520C35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Trích</a:t>
            </a:r>
            <a:r>
              <a:rPr lang="en-US" b="1" dirty="0"/>
              <a:t> </a:t>
            </a:r>
            <a:r>
              <a:rPr lang="en-US" b="1" dirty="0" err="1"/>
              <a:t>dẫn</a:t>
            </a:r>
            <a:r>
              <a:rPr lang="en-US" b="1" dirty="0"/>
              <a:t> (Citation):</a:t>
            </a:r>
            <a:r>
              <a:rPr lang="en-US" dirty="0"/>
              <a:t> 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.</a:t>
            </a:r>
          </a:p>
          <a:p>
            <a:r>
              <a:rPr lang="en-US" b="1" dirty="0"/>
              <a:t>Tài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tham</a:t>
            </a:r>
            <a:r>
              <a:rPr lang="en-US" b="1" dirty="0"/>
              <a:t> </a:t>
            </a:r>
            <a:r>
              <a:rPr lang="en-US" b="1" dirty="0" err="1"/>
              <a:t>khảo</a:t>
            </a:r>
            <a:r>
              <a:rPr lang="en-US" b="1" dirty="0"/>
              <a:t> (References):</a:t>
            </a:r>
            <a:r>
              <a:rPr lang="en-US" dirty="0"/>
              <a:t> Danh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.</a:t>
            </a:r>
          </a:p>
          <a:p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: Tôn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,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tin </a:t>
            </a:r>
            <a:r>
              <a:rPr lang="en-US" dirty="0" err="1"/>
              <a:t>cậy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vi-VN" b="1" dirty="0"/>
              <a:t>Các chuẩn trích dẫn</a:t>
            </a:r>
            <a:endParaRPr lang="vi-VN" dirty="0"/>
          </a:p>
          <a:p>
            <a:r>
              <a:rPr lang="vi-VN" dirty="0"/>
              <a:t>Hướng dẫn cách trích dẫn theo các chuẩn quốc tế phổ biến:</a:t>
            </a:r>
          </a:p>
          <a:p>
            <a:pPr lvl="1"/>
            <a:r>
              <a:rPr lang="vi-VN" b="1" dirty="0"/>
              <a:t>APA</a:t>
            </a:r>
            <a:r>
              <a:rPr lang="vi-VN" dirty="0"/>
              <a:t> (Thường dùng trong Khoa học xã hội, Giáo dục).</a:t>
            </a:r>
          </a:p>
          <a:p>
            <a:pPr lvl="1"/>
            <a:r>
              <a:rPr lang="vi-VN" b="1" dirty="0"/>
              <a:t>IEEE</a:t>
            </a:r>
            <a:r>
              <a:rPr lang="vi-VN" dirty="0"/>
              <a:t> (Thường dùng trong Kỹ thuật, Công nghệ).</a:t>
            </a:r>
          </a:p>
          <a:p>
            <a:r>
              <a:rPr lang="vi-VN" dirty="0"/>
              <a:t>Cách sử dụng phần mềm hỗ trợ trích dẫn (EndNote, Zotero...).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CFCC2-61F6-AFF6-0348-83BE79097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C1279C-E672-53FA-8560-76F7E0BAB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47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764FD-0405-B837-72DF-AD810F86A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A17D-D588-2FD4-EBE4-B7F02A842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Chương 6 - Thu thập dữ liệu &amp; Thang đo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A762A-E8BB-7AA9-9F3C-15582146C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Dữ liệu thứ cấp:</a:t>
            </a:r>
            <a:r>
              <a:rPr lang="vi-VN" dirty="0"/>
              <a:t> Dữ liệu có sẵn (sách, báo cáo).</a:t>
            </a:r>
          </a:p>
          <a:p>
            <a:r>
              <a:rPr lang="vi-VN" b="1" dirty="0"/>
              <a:t>Dữ liệu sơ cấp:</a:t>
            </a:r>
            <a:r>
              <a:rPr lang="vi-VN" dirty="0"/>
              <a:t> Dữ liệu tự thu thập (Phỏng vấn, Bảng hỏi).</a:t>
            </a:r>
          </a:p>
          <a:p>
            <a:r>
              <a:rPr lang="vi-VN" b="1" dirty="0"/>
              <a:t>Thang đo:</a:t>
            </a:r>
            <a:r>
              <a:rPr lang="vi-VN" dirty="0"/>
              <a:t> Các loại thang đo trong bảng câu hỏi khảo sát.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5CF77-4906-C88D-0521-34EF4AA8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3BFA63-6F4B-945D-025F-D1C993194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51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6CD3F-5B07-5F88-FE5D-FDB39672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E13B-5187-11B0-900E-750383B5F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Chương 7 - Chọn mẫu &amp; Xử lý số liệu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24C53-C34E-6E81-E4E4-ECEB51C5A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Chọn</a:t>
            </a:r>
            <a:r>
              <a:rPr lang="en-US" b="1" dirty="0"/>
              <a:t> </a:t>
            </a:r>
            <a:r>
              <a:rPr lang="vi-VN" b="1" dirty="0"/>
              <a:t>mẫu:</a:t>
            </a:r>
            <a:r>
              <a:rPr lang="vi-VN" dirty="0"/>
              <a:t> Tổng thể vs. Mẫu. Các phương pháp chọn mẫu.</a:t>
            </a:r>
          </a:p>
          <a:p>
            <a:r>
              <a:rPr lang="vi-VN" b="1" dirty="0"/>
              <a:t>Xử lý dữ liệu:</a:t>
            </a:r>
            <a:r>
              <a:rPr lang="vi-VN" dirty="0"/>
              <a:t> Làm sạch, mã hóa, nhập liệu.</a:t>
            </a:r>
          </a:p>
          <a:p>
            <a:r>
              <a:rPr lang="vi-VN" b="1" dirty="0"/>
              <a:t>Phân tích:</a:t>
            </a:r>
            <a:r>
              <a:rPr lang="vi-VN" dirty="0"/>
              <a:t> Giới thiệu cơ bản về Phân tích Định lượng (Thống kê) và Định tính.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19F1E-A936-7A9E-3FBF-FFBCD0504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9E8B92-2536-0745-D94F-D006639E4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92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5DF4A-A0EC-2657-6BC0-C3C1FECBE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6CEF0-47FD-5C37-3688-2008C04A0B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300" dirty="0" err="1"/>
              <a:t>Phần</a:t>
            </a:r>
            <a:r>
              <a:rPr lang="en-US" sz="5300" dirty="0"/>
              <a:t> 4</a:t>
            </a:r>
            <a:br>
              <a:rPr lang="en-US" dirty="0"/>
            </a:br>
            <a:r>
              <a:rPr lang="en-US" b="1" dirty="0"/>
              <a:t>ĐÁNH GIÁ &amp; TÀI LIỆU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C39C6-6A6F-AFB0-FA4D-CAD548B24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3DED6-D2AA-313C-FF59-8191F2372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274815F-01E6-048D-F30A-2222905C5F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02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1490B-AD41-FABE-C4A0-620EE408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8908-09FA-E0AD-398F-7D46B5DAA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</a:t>
            </a:r>
            <a:r>
              <a:rPr lang="en-US" b="1" dirty="0" err="1"/>
              <a:t>điểm</a:t>
            </a:r>
            <a:r>
              <a:rPr lang="en-US" b="1" dirty="0"/>
              <a:t> </a:t>
            </a:r>
            <a:r>
              <a:rPr lang="en-US" b="1" dirty="0" err="1"/>
              <a:t>môn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 (Quan </a:t>
            </a:r>
            <a:r>
              <a:rPr lang="en-US" b="1" dirty="0" err="1"/>
              <a:t>trọng</a:t>
            </a:r>
            <a:r>
              <a:rPr lang="en-US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1D52F-FEEF-D57A-02A5-D46CB9DAF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76" y="949412"/>
            <a:ext cx="7772344" cy="551235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/>
              <a:t>Tổng</a:t>
            </a:r>
            <a:r>
              <a:rPr lang="en-US" b="1" dirty="0"/>
              <a:t> </a:t>
            </a:r>
            <a:r>
              <a:rPr lang="en-US" b="1" dirty="0" err="1"/>
              <a:t>điểm</a:t>
            </a:r>
            <a:r>
              <a:rPr lang="en-US" b="1" dirty="0"/>
              <a:t>:</a:t>
            </a:r>
            <a:r>
              <a:rPr lang="en-US" dirty="0"/>
              <a:t> 100%</a:t>
            </a:r>
          </a:p>
          <a:p>
            <a:r>
              <a:rPr lang="en-US" dirty="0"/>
              <a:t>Chia </a:t>
            </a:r>
            <a:r>
              <a:rPr lang="en-US" dirty="0" err="1"/>
              <a:t>làm</a:t>
            </a:r>
            <a:r>
              <a:rPr lang="en-US" dirty="0"/>
              <a:t> 2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(40%).</a:t>
            </a:r>
          </a:p>
          <a:p>
            <a:pPr lvl="1"/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(60%).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vi-VN" sz="2400" b="1" dirty="0"/>
              <a:t>Chi tiết Điểm quá trình (40%)</a:t>
            </a:r>
            <a:endParaRPr lang="vi-VN" sz="2400" dirty="0"/>
          </a:p>
          <a:p>
            <a:r>
              <a:rPr lang="vi-VN" sz="2400" b="1" dirty="0"/>
              <a:t>Tham gia diễn đàn (10%):</a:t>
            </a:r>
            <a:endParaRPr lang="vi-VN" sz="2400" dirty="0"/>
          </a:p>
          <a:p>
            <a:pPr lvl="1"/>
            <a:r>
              <a:rPr lang="vi-VN" sz="2400" dirty="0"/>
              <a:t>Số lượng bài đăng/bình luận theo quy định.</a:t>
            </a:r>
          </a:p>
          <a:p>
            <a:pPr lvl="1"/>
            <a:r>
              <a:rPr lang="vi-VN" sz="2400" dirty="0"/>
              <a:t>Chất lượng thảo luận.</a:t>
            </a:r>
          </a:p>
          <a:p>
            <a:r>
              <a:rPr lang="vi-VN" sz="2400" b="1" dirty="0"/>
              <a:t>Bài tập trên LMS (30%):</a:t>
            </a:r>
            <a:endParaRPr lang="vi-VN" sz="2400" dirty="0"/>
          </a:p>
          <a:p>
            <a:pPr lvl="1"/>
            <a:r>
              <a:rPr lang="vi-VN" sz="2400" dirty="0"/>
              <a:t>Bài trắc nghiệm sau mỗi chương.</a:t>
            </a:r>
          </a:p>
          <a:p>
            <a:pPr lvl="1"/>
            <a:r>
              <a:rPr lang="vi-VN" sz="2400" dirty="0"/>
              <a:t>Bài kiểm tra giữa kỳ (nếu có).</a:t>
            </a:r>
          </a:p>
          <a:p>
            <a:pPr lvl="1"/>
            <a:r>
              <a:rPr lang="vi-VN" sz="2400" i="1" dirty="0"/>
              <a:t>Lưu ý:</a:t>
            </a:r>
            <a:r>
              <a:rPr lang="vi-VN" sz="2400" dirty="0"/>
              <a:t> Cần làm đúng hạn, hệ thống sẽ khóa tự động.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BE661-310B-F4EE-D6C8-6B6BE8287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B4EE3-B389-43A8-27FD-42FF20FD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24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E18D9-F66C-1A4C-DBCD-5109CC002B44}"/>
              </a:ext>
            </a:extLst>
          </p:cNvPr>
          <p:cNvSpPr txBox="1"/>
          <p:nvPr/>
        </p:nvSpPr>
        <p:spPr>
          <a:xfrm>
            <a:off x="7090120" y="3167491"/>
            <a:ext cx="4861560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50"/>
              </a:spcAft>
              <a:buNone/>
            </a:pPr>
            <a:r>
              <a:rPr lang="vi-VN" sz="2400" b="1" i="0" dirty="0">
                <a:solidFill>
                  <a:srgbClr val="1A1C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 tiết Điểm cuối kỳ (60%)</a:t>
            </a:r>
            <a:endParaRPr lang="vi-VN" sz="2400" b="0" i="0" dirty="0">
              <a:solidFill>
                <a:srgbClr val="1A1C1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vi-VN" sz="2400" b="1" i="0" dirty="0">
                <a:solidFill>
                  <a:srgbClr val="1A1C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Hình thức:</a:t>
            </a:r>
            <a:r>
              <a:rPr lang="vi-VN" sz="2400" b="0" i="0" dirty="0">
                <a:solidFill>
                  <a:srgbClr val="1A1C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Tiểu luận (Assignment).</a:t>
            </a:r>
          </a:p>
          <a:p>
            <a:pPr marL="285750" indent="-285750" algn="l"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vi-VN" sz="2400" b="1" i="0" dirty="0">
                <a:solidFill>
                  <a:srgbClr val="1A1C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Nội dung:</a:t>
            </a:r>
            <a:r>
              <a:rPr lang="vi-VN" sz="2400" b="0" i="0" dirty="0">
                <a:solidFill>
                  <a:srgbClr val="1A1C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Viết </a:t>
            </a:r>
            <a:r>
              <a:rPr lang="vi-VN" sz="2400" b="1" i="0" dirty="0">
                <a:solidFill>
                  <a:srgbClr val="1A1C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Đề cương nghiên cứu</a:t>
            </a:r>
            <a:r>
              <a:rPr lang="vi-VN" sz="2400" b="0" i="0" dirty="0">
                <a:solidFill>
                  <a:srgbClr val="1A1C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(Research Proposal).</a:t>
            </a:r>
          </a:p>
          <a:p>
            <a:pPr marL="285750" indent="-285750" algn="l"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vi-VN" sz="2400" b="1" i="0" dirty="0">
                <a:solidFill>
                  <a:srgbClr val="1A1C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Cách thức:</a:t>
            </a:r>
            <a:r>
              <a:rPr lang="vi-VN" sz="2400" b="0" i="0" dirty="0">
                <a:solidFill>
                  <a:srgbClr val="1A1C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Cá nhân hoặc Nhóm (Theo quy định cụ thể của lớp).</a:t>
            </a:r>
          </a:p>
          <a:p>
            <a:pPr marL="285750" indent="-285750" algn="l"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vi-VN" sz="2400" b="1" i="0" dirty="0">
                <a:solidFill>
                  <a:srgbClr val="1A1C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Nộp bài:</a:t>
            </a:r>
            <a:r>
              <a:rPr lang="vi-VN" sz="2400" b="0" i="0" dirty="0">
                <a:solidFill>
                  <a:srgbClr val="1A1C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Qua hệ thống LMS.</a:t>
            </a:r>
          </a:p>
        </p:txBody>
      </p:sp>
    </p:spTree>
    <p:extLst>
      <p:ext uri="{BB962C8B-B14F-4D97-AF65-F5344CB8AC3E}">
        <p14:creationId xmlns:p14="http://schemas.microsoft.com/office/powerpoint/2010/main" val="992780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F251E-A6DB-9CD7-3BC0-96C224812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D113-9C25-A711-A1CD-9312DDF91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Tiêu</a:t>
            </a:r>
            <a:r>
              <a:rPr lang="en-US" b="1" dirty="0"/>
              <a:t> </a:t>
            </a:r>
            <a:r>
              <a:rPr lang="en-US" b="1" dirty="0" err="1"/>
              <a:t>chí</a:t>
            </a:r>
            <a:r>
              <a:rPr lang="en-US" b="1" dirty="0"/>
              <a:t> </a:t>
            </a:r>
            <a:r>
              <a:rPr lang="en-US" b="1" dirty="0" err="1"/>
              <a:t>đánh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</a:t>
            </a: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cuối</a:t>
            </a:r>
            <a:r>
              <a:rPr lang="en-US" b="1" dirty="0"/>
              <a:t> </a:t>
            </a:r>
            <a:r>
              <a:rPr lang="en-US" b="1" dirty="0" err="1"/>
              <a:t>kỳ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C2EB0-47FC-B970-C165-19C63A6F6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Tính mới và thực tiễn của đề tài.</a:t>
            </a:r>
          </a:p>
          <a:p>
            <a:r>
              <a:rPr lang="vi-VN" dirty="0"/>
              <a:t>Cấu trúc đề cương chặt chẽ, logic.</a:t>
            </a:r>
          </a:p>
          <a:p>
            <a:r>
              <a:rPr lang="vi-VN" dirty="0"/>
              <a:t>Sử dụng phương pháp nghiên cứu phù hợp.</a:t>
            </a:r>
          </a:p>
          <a:p>
            <a:r>
              <a:rPr lang="vi-VN" dirty="0"/>
              <a:t>Trích dẫn tài liệu đúng chuẩn.</a:t>
            </a:r>
          </a:p>
          <a:p>
            <a:r>
              <a:rPr lang="vi-VN" b="1" dirty="0"/>
              <a:t>Tuyệt đối không đạo văn</a:t>
            </a:r>
            <a:r>
              <a:rPr lang="vi-VN" dirty="0"/>
              <a:t> (Sẽ có công cụ kiểm tra).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8E663-FBA8-73D7-BC3A-E38DB5FF7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A6418-248D-AB8A-88EC-ED33181C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636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312BB-31C6-9D5C-7326-16EC1EDA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BE2CD-3D1C-1E7E-C07F-A34C34F8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Tài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&amp; Tham </a:t>
            </a:r>
            <a:r>
              <a:rPr lang="en-US" b="1" dirty="0" err="1"/>
              <a:t>khảo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7630D-560C-7689-B346-046689279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Học liệu chính:</a:t>
            </a:r>
            <a:r>
              <a:rPr lang="vi-VN" dirty="0"/>
              <a:t> Bài giảng video, Slide trên LMS.</a:t>
            </a:r>
          </a:p>
          <a:p>
            <a:r>
              <a:rPr lang="vi-VN" b="1" dirty="0"/>
              <a:t>Sách tham khảo:</a:t>
            </a:r>
            <a:endParaRPr lang="vi-VN" dirty="0"/>
          </a:p>
          <a:p>
            <a:pPr lvl="1"/>
            <a:r>
              <a:rPr lang="vi-VN" dirty="0"/>
              <a:t>Vũ Cao Đàm (2004), </a:t>
            </a:r>
            <a:r>
              <a:rPr lang="vi-VN" i="1" dirty="0"/>
              <a:t>Đánh giá nghiên cứu khoa học</a:t>
            </a:r>
            <a:r>
              <a:rPr lang="vi-VN" dirty="0"/>
              <a:t>.</a:t>
            </a:r>
          </a:p>
          <a:p>
            <a:pPr lvl="1"/>
            <a:r>
              <a:rPr lang="vi-VN" dirty="0"/>
              <a:t>Lê Tử Thành (2008), </a:t>
            </a:r>
            <a:r>
              <a:rPr lang="vi-VN" i="1" dirty="0"/>
              <a:t>Nhập môn Logic học</a:t>
            </a:r>
            <a:r>
              <a:rPr lang="vi-VN" dirty="0"/>
              <a:t>.</a:t>
            </a:r>
          </a:p>
          <a:p>
            <a:pPr lvl="1"/>
            <a:r>
              <a:rPr lang="zh-CN" altLang="en-US" dirty="0"/>
              <a:t>席升阳 </a:t>
            </a:r>
            <a:r>
              <a:rPr lang="en-US" altLang="zh-CN" dirty="0"/>
              <a:t>(2018), </a:t>
            </a:r>
            <a:r>
              <a:rPr lang="zh-CN" altLang="en-US" i="1" dirty="0"/>
              <a:t>科学研究方法论</a:t>
            </a:r>
            <a:r>
              <a:rPr lang="zh-CN" altLang="en-US" dirty="0"/>
              <a:t> </a:t>
            </a:r>
            <a:r>
              <a:rPr lang="en-US" altLang="zh-CN" dirty="0"/>
              <a:t>(</a:t>
            </a:r>
            <a:r>
              <a:rPr lang="vi-VN" dirty="0"/>
              <a:t>Phương pháp luận NCKH - Sách tiếng Trung).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A73CF7-7426-F6FF-4E9D-52A3D7E9C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CE9AAF-B2A1-C4C4-2409-FA6B8D4D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43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4F62F-913A-1A25-B92A-4937E299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2081-09CF-F97F-D8F4-64E6E7833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236" y="686887"/>
            <a:ext cx="11111346" cy="2387600"/>
          </a:xfrm>
        </p:spPr>
        <p:txBody>
          <a:bodyPr>
            <a:normAutofit/>
          </a:bodyPr>
          <a:lstStyle/>
          <a:p>
            <a:r>
              <a:rPr lang="en-US" sz="5300" dirty="0" err="1"/>
              <a:t>Phần</a:t>
            </a:r>
            <a:r>
              <a:rPr lang="en-US" sz="5300" dirty="0"/>
              <a:t> 5</a:t>
            </a:r>
            <a:br>
              <a:rPr lang="en-US" dirty="0"/>
            </a:br>
            <a:r>
              <a:rPr lang="en-US" b="1" dirty="0" err="1"/>
              <a:t>Hỏi</a:t>
            </a:r>
            <a:r>
              <a:rPr lang="en-US" b="1" dirty="0"/>
              <a:t> </a:t>
            </a:r>
            <a:r>
              <a:rPr lang="en-US" b="1" dirty="0" err="1"/>
              <a:t>đáp</a:t>
            </a:r>
            <a:r>
              <a:rPr lang="en-US" b="1" dirty="0"/>
              <a:t> (Q&amp;A)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7E348-4B7C-DDC1-EB03-A69619DA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C75AF-5A36-72BD-26C5-90104E49C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9163D48-5FF7-B62E-DDD7-449E6A9AB2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How to improve the Q&amp;A Session at Your Next Event">
            <a:extLst>
              <a:ext uri="{FF2B5EF4-FFF2-40B4-BE49-F238E27FC236}">
                <a16:creationId xmlns:a16="http://schemas.microsoft.com/office/drawing/2014/main" id="{77BFAAEF-E060-2E80-9986-94B0078FDD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38" b="14118"/>
          <a:stretch>
            <a:fillRect/>
          </a:stretch>
        </p:blipFill>
        <p:spPr bwMode="auto">
          <a:xfrm>
            <a:off x="3370607" y="3555746"/>
            <a:ext cx="4782793" cy="2442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9895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FA223-C990-4837-B48D-24A16C300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Hỏi</a:t>
            </a:r>
            <a:r>
              <a:rPr lang="en-US" b="1" dirty="0"/>
              <a:t> - </a:t>
            </a:r>
            <a:r>
              <a:rPr lang="en-US" b="1" dirty="0" err="1"/>
              <a:t>Đáp</a:t>
            </a:r>
            <a:r>
              <a:rPr lang="en-US" b="1" dirty="0"/>
              <a:t> (Q&amp;A)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AF2B0-C8EC-B790-B4B2-E4A088F7E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Sinh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chia </a:t>
            </a:r>
            <a:r>
              <a:rPr lang="en-US" dirty="0" err="1"/>
              <a:t>nhóm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Các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LMS?</a:t>
            </a:r>
          </a:p>
          <a:p>
            <a:r>
              <a:rPr lang="en-US" i="1" dirty="0" err="1"/>
              <a:t>Giảng</a:t>
            </a:r>
            <a:r>
              <a:rPr lang="en-US" i="1" dirty="0"/>
              <a:t> </a:t>
            </a:r>
            <a:r>
              <a:rPr lang="en-US" i="1" dirty="0" err="1"/>
              <a:t>viên</a:t>
            </a:r>
            <a:r>
              <a:rPr lang="en-US" i="1" dirty="0"/>
              <a:t> </a:t>
            </a:r>
            <a:r>
              <a:rPr lang="en-US" i="1" dirty="0" err="1"/>
              <a:t>giải</a:t>
            </a:r>
            <a:r>
              <a:rPr lang="en-US" i="1" dirty="0"/>
              <a:t> </a:t>
            </a:r>
            <a:r>
              <a:rPr lang="en-US" i="1" dirty="0" err="1"/>
              <a:t>đáp</a:t>
            </a:r>
            <a:r>
              <a:rPr lang="en-US" i="1" dirty="0"/>
              <a:t> </a:t>
            </a:r>
            <a:r>
              <a:rPr lang="en-US" i="1" dirty="0" err="1"/>
              <a:t>trực</a:t>
            </a:r>
            <a:r>
              <a:rPr lang="en-US" i="1" dirty="0"/>
              <a:t> </a:t>
            </a:r>
            <a:r>
              <a:rPr lang="en-US" i="1" dirty="0" err="1"/>
              <a:t>tiếp</a:t>
            </a:r>
            <a:r>
              <a:rPr lang="en-US" i="1" dirty="0"/>
              <a:t>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97856-8902-BAA4-A68B-357D932B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B1A7E-C553-19C3-33C8-8E8A4B7A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944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46FA-58B5-1FF1-283F-499062736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Lời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88967-5431-89E5-8D76-C7B77E87C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科学研究方法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C86BF-E306-1B0E-EEA9-1C912F5C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4CCC-BB3A-4D93-86F3-16B4E3CF782A}" type="slidenum">
              <a:rPr lang="en-US" smtClean="0"/>
              <a:t>29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32FCA-B0A9-E317-E38D-AEEF017EB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khám</a:t>
            </a:r>
            <a:r>
              <a:rPr lang="en-US" dirty="0"/>
              <a:t> </a:t>
            </a:r>
            <a:r>
              <a:rPr lang="en-US" dirty="0" err="1"/>
              <a:t>phá</a:t>
            </a:r>
            <a:r>
              <a:rPr lang="en-US" dirty="0"/>
              <a:t> </a:t>
            </a:r>
            <a:r>
              <a:rPr lang="en-US" dirty="0" err="1"/>
              <a:t>thú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.</a:t>
            </a:r>
          </a:p>
          <a:p>
            <a:r>
              <a:rPr lang="en-US" dirty="0" err="1"/>
              <a:t>Chúc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!</a:t>
            </a:r>
          </a:p>
          <a:p>
            <a:r>
              <a:rPr lang="en-US" b="1" dirty="0" err="1"/>
              <a:t>Hẹn</a:t>
            </a:r>
            <a:r>
              <a:rPr lang="en-US" b="1" dirty="0"/>
              <a:t> </a:t>
            </a:r>
            <a:r>
              <a:rPr lang="en-US" b="1" dirty="0" err="1"/>
              <a:t>gặp</a:t>
            </a:r>
            <a:r>
              <a:rPr lang="en-US" b="1" dirty="0"/>
              <a:t> </a:t>
            </a:r>
            <a:r>
              <a:rPr lang="en-US" b="1" dirty="0" err="1"/>
              <a:t>lại</a:t>
            </a:r>
            <a:r>
              <a:rPr lang="en-US" b="1" dirty="0"/>
              <a:t> ở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giảng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r>
              <a:rPr lang="en-US" b="1" dirty="0"/>
              <a:t>.</a:t>
            </a:r>
            <a:endParaRPr lang="en-US" dirty="0"/>
          </a:p>
          <a:p>
            <a:r>
              <a:rPr lang="en-US" i="1" dirty="0"/>
              <a:t>Thank you! </a:t>
            </a:r>
            <a:r>
              <a:rPr lang="zh-CN" altLang="en-US" i="1" dirty="0"/>
              <a:t>谢谢</a:t>
            </a:r>
            <a:r>
              <a:rPr lang="en-US" altLang="zh-CN" i="1" dirty="0"/>
              <a:t>!</a:t>
            </a:r>
            <a:endParaRPr lang="zh-CN" altLang="en-US"/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C6247C-8D42-43CB-AE21-A8EBA2049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500" y="5066677"/>
            <a:ext cx="1626524" cy="118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94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chemeClr val="bg1">
              <a:lumMod val="50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3000" dirty="0" err="1" smtClean="0">
            <a:latin typeface="Candara" panose="020E05020303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7259</TotalTime>
  <Words>1944</Words>
  <Application>Microsoft Office PowerPoint</Application>
  <PresentationFormat>Widescreen</PresentationFormat>
  <Paragraphs>225</Paragraphs>
  <Slides>29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BR Omega</vt:lpstr>
      <vt:lpstr>Inter</vt:lpstr>
      <vt:lpstr>Arial</vt:lpstr>
      <vt:lpstr>Calibri</vt:lpstr>
      <vt:lpstr>Candara</vt:lpstr>
      <vt:lpstr>Courier New</vt:lpstr>
      <vt:lpstr>Office Theme</vt:lpstr>
      <vt:lpstr>VIDEO CONFERENCE 1 – 25.Apr.2026 PHƯƠNG PHÁP NGHIÊN CỨU KHOA HỌC</vt:lpstr>
      <vt:lpstr>PHỤ TRÁCH HỌC PHẦN</vt:lpstr>
      <vt:lpstr>Nội dung chính</vt:lpstr>
      <vt:lpstr>Phần 1 GIỚI THIỆU MÔN HỌC</vt:lpstr>
      <vt:lpstr>Mục tiêu &amp; Đối tượng nghiên cứu</vt:lpstr>
      <vt:lpstr>Phần 2 PHƯƠNG PHÁP HỌC TẬP</vt:lpstr>
      <vt:lpstr> Cách học trên LMS</vt:lpstr>
      <vt:lpstr>Đặc thù môn học trực tuyến</vt:lpstr>
      <vt:lpstr> Quy trình học tập mỗi tuần</vt:lpstr>
      <vt:lpstr>Các mốc thời gian quan trọng</vt:lpstr>
      <vt:lpstr>Yêu cầu đối với sinh viên</vt:lpstr>
      <vt:lpstr>Phần 3 NỘI DUNG MÔN HỌC</vt:lpstr>
      <vt:lpstr>Tổng quan cấu trúc chương trình</vt:lpstr>
      <vt:lpstr>Chương 0 - Giới thiệu nhập môn</vt:lpstr>
      <vt:lpstr>Chương 1 - Giới thiệu về Phương pháp Nghiên cứu</vt:lpstr>
      <vt:lpstr>Chương 2 - Chọn đề tài &amp; Xác định vấn đề</vt:lpstr>
      <vt:lpstr>Chương 2 (Tiếp theo) - Đánh giá tính khả thi</vt:lpstr>
      <vt:lpstr>Chương 3 - Đề cương nghiên cứu (Proposal)</vt:lpstr>
      <vt:lpstr>Chương 4 - Tổng quan tài liệu &amp; Cơ sở lý thuyết</vt:lpstr>
      <vt:lpstr>Chương 5 - Trích dẫn &amp; Tài liệu tham khảo</vt:lpstr>
      <vt:lpstr>Chương 6 - Thu thập dữ liệu &amp; Thang đo</vt:lpstr>
      <vt:lpstr>Chương 7 - Chọn mẫu &amp; Xử lý số liệu</vt:lpstr>
      <vt:lpstr>Phần 4 ĐÁNH GIÁ &amp; TÀI LIỆU</vt:lpstr>
      <vt:lpstr>Cấu trúc điểm môn học (Quan trọng)</vt:lpstr>
      <vt:lpstr>Tiêu chí đánh giá bài cuối kỳ</vt:lpstr>
      <vt:lpstr>Tài liệu học tập &amp; Tham khảo</vt:lpstr>
      <vt:lpstr>Phần 5 Hỏi đáp (Q&amp;A)</vt:lpstr>
      <vt:lpstr>Hỏi - Đáp (Q&amp;A)</vt:lpstr>
      <vt:lpstr>Lời kết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C  GIỚI THIỆU NGÔN NGỮ LẬP TRÌNH C</dc:title>
  <dc:creator>Binh Nguyen</dc:creator>
  <cp:lastModifiedBy>Hao Lee</cp:lastModifiedBy>
  <cp:revision>145</cp:revision>
  <dcterms:created xsi:type="dcterms:W3CDTF">2020-10-20T08:42:30Z</dcterms:created>
  <dcterms:modified xsi:type="dcterms:W3CDTF">2026-04-25T03:59:52Z</dcterms:modified>
</cp:coreProperties>
</file>