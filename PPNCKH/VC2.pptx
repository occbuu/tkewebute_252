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69" r:id="rId2"/>
    <p:sldId id="2649" r:id="rId3"/>
    <p:sldId id="2653" r:id="rId4"/>
    <p:sldId id="2673" r:id="rId5"/>
    <p:sldId id="256" r:id="rId6"/>
    <p:sldId id="257" r:id="rId7"/>
    <p:sldId id="2674" r:id="rId8"/>
    <p:sldId id="2675" r:id="rId9"/>
    <p:sldId id="2676" r:id="rId10"/>
    <p:sldId id="2677" r:id="rId11"/>
    <p:sldId id="2678" r:id="rId12"/>
    <p:sldId id="2679" r:id="rId13"/>
    <p:sldId id="2680" r:id="rId14"/>
    <p:sldId id="2654" r:id="rId15"/>
    <p:sldId id="258" r:id="rId16"/>
    <p:sldId id="2658" r:id="rId17"/>
    <p:sldId id="2659" r:id="rId18"/>
    <p:sldId id="2660" r:id="rId19"/>
    <p:sldId id="2661" r:id="rId20"/>
    <p:sldId id="2681" r:id="rId21"/>
    <p:sldId id="2655" r:id="rId22"/>
    <p:sldId id="2683" r:id="rId23"/>
    <p:sldId id="270" r:id="rId24"/>
    <p:sldId id="263" r:id="rId25"/>
    <p:sldId id="2662" r:id="rId26"/>
    <p:sldId id="2688" r:id="rId27"/>
    <p:sldId id="2689" r:id="rId28"/>
    <p:sldId id="2690" r:id="rId29"/>
    <p:sldId id="2691" r:id="rId30"/>
    <p:sldId id="2663" r:id="rId31"/>
    <p:sldId id="2684" r:id="rId32"/>
    <p:sldId id="2693" r:id="rId33"/>
    <p:sldId id="2694" r:id="rId34"/>
    <p:sldId id="2695" r:id="rId35"/>
    <p:sldId id="2692" r:id="rId36"/>
    <p:sldId id="2664" r:id="rId37"/>
    <p:sldId id="2665" r:id="rId38"/>
    <p:sldId id="2666" r:id="rId39"/>
    <p:sldId id="2657" r:id="rId40"/>
    <p:sldId id="267" r:id="rId41"/>
    <p:sldId id="2685" r:id="rId42"/>
    <p:sldId id="2686" r:id="rId43"/>
    <p:sldId id="2652" r:id="rId44"/>
    <p:sldId id="2687" r:id="rId45"/>
    <p:sldId id="2682"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9C52EEF-DE73-46D8-8D7F-909823DC9496}">
          <p14:sldIdLst>
            <p14:sldId id="269"/>
            <p14:sldId id="2649"/>
            <p14:sldId id="2653"/>
            <p14:sldId id="2673"/>
          </p14:sldIdLst>
        </p14:section>
        <p14:section name="P1 - Chương 7" id="{693C1A5F-9CAA-469A-9B27-7679D9DDA902}">
          <p14:sldIdLst>
            <p14:sldId id="256"/>
            <p14:sldId id="257"/>
            <p14:sldId id="2674"/>
            <p14:sldId id="2675"/>
            <p14:sldId id="2676"/>
            <p14:sldId id="2677"/>
            <p14:sldId id="2678"/>
            <p14:sldId id="2679"/>
            <p14:sldId id="2680"/>
          </p14:sldIdLst>
        </p14:section>
        <p14:section name="P2 - Ôn tập" id="{FF9364C6-3630-475D-8924-5EC83B9944FB}">
          <p14:sldIdLst>
            <p14:sldId id="2654"/>
            <p14:sldId id="258"/>
            <p14:sldId id="2658"/>
            <p14:sldId id="2659"/>
            <p14:sldId id="2660"/>
            <p14:sldId id="2661"/>
            <p14:sldId id="2681"/>
          </p14:sldIdLst>
        </p14:section>
        <p14:section name="P3 - Hướng dẫn cuối kỳ" id="{567761FC-5962-415A-B4E8-6445E2699431}">
          <p14:sldIdLst>
            <p14:sldId id="2655"/>
            <p14:sldId id="2683"/>
            <p14:sldId id="270"/>
            <p14:sldId id="263"/>
            <p14:sldId id="2662"/>
            <p14:sldId id="2688"/>
            <p14:sldId id="2689"/>
            <p14:sldId id="2690"/>
            <p14:sldId id="2691"/>
            <p14:sldId id="2663"/>
            <p14:sldId id="2684"/>
            <p14:sldId id="2693"/>
            <p14:sldId id="2694"/>
            <p14:sldId id="2695"/>
            <p14:sldId id="2692"/>
            <p14:sldId id="2664"/>
            <p14:sldId id="2665"/>
            <p14:sldId id="2666"/>
          </p14:sldIdLst>
        </p14:section>
        <p14:section name="P4 - Q&amp;A" id="{A9C03353-DB14-43EE-BC92-8298C2027B82}">
          <p14:sldIdLst>
            <p14:sldId id="2657"/>
            <p14:sldId id="267"/>
            <p14:sldId id="2685"/>
            <p14:sldId id="2686"/>
            <p14:sldId id="2652"/>
            <p14:sldId id="2687"/>
            <p14:sldId id="26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779" autoAdjust="0"/>
    <p:restoredTop sz="78736" autoAdjust="0"/>
  </p:normalViewPr>
  <p:slideViewPr>
    <p:cSldViewPr snapToGrid="0">
      <p:cViewPr varScale="1">
        <p:scale>
          <a:sx n="67" d="100"/>
          <a:sy n="67" d="100"/>
        </p:scale>
        <p:origin x="77" y="2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9E117A-D3EA-4AAC-BCC8-968A35D8A005}" type="datetimeFigureOut">
              <a:rPr lang="en-US" smtClean="0"/>
              <a:t>1/31/2026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50DFD8-CD69-42E6-BDC4-B41C1413A5FA}" type="slidenum">
              <a:rPr lang="en-US" smtClean="0"/>
              <a:t>‹#›</a:t>
            </a:fld>
            <a:endParaRPr lang="en-US"/>
          </a:p>
        </p:txBody>
      </p:sp>
    </p:spTree>
    <p:extLst>
      <p:ext uri="{BB962C8B-B14F-4D97-AF65-F5344CB8AC3E}">
        <p14:creationId xmlns:p14="http://schemas.microsoft.com/office/powerpoint/2010/main" val="3444296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961DE-D636-45A1-A354-CB1E70520A9E}"/>
              </a:ext>
            </a:extLst>
          </p:cNvPr>
          <p:cNvSpPr>
            <a:spLocks noGrp="1"/>
          </p:cNvSpPr>
          <p:nvPr>
            <p:ph type="ctrTitle"/>
          </p:nvPr>
        </p:nvSpPr>
        <p:spPr>
          <a:xfrm>
            <a:off x="517236" y="1168146"/>
            <a:ext cx="11111346" cy="2387600"/>
          </a:xfrm>
        </p:spPr>
        <p:txBody>
          <a:bodyPr anchor="ctr">
            <a:normAutofit/>
          </a:bodyPr>
          <a:lstStyle>
            <a:lvl1pPr algn="ctr">
              <a:defRPr sz="7200" cap="all" baseline="0"/>
            </a:lvl1pPr>
          </a:lstStyle>
          <a:p>
            <a:r>
              <a:rPr lang="en-US" dirty="0"/>
              <a:t>Click to edit Master title style</a:t>
            </a:r>
          </a:p>
        </p:txBody>
      </p:sp>
      <p:sp>
        <p:nvSpPr>
          <p:cNvPr id="3" name="Subtitle 2">
            <a:extLst>
              <a:ext uri="{FF2B5EF4-FFF2-40B4-BE49-F238E27FC236}">
                <a16:creationId xmlns:a16="http://schemas.microsoft.com/office/drawing/2014/main" id="{45A2A6C6-374F-48BA-B580-775548CFC30B}"/>
              </a:ext>
            </a:extLst>
          </p:cNvPr>
          <p:cNvSpPr>
            <a:spLocks noGrp="1"/>
          </p:cNvSpPr>
          <p:nvPr>
            <p:ph type="subTitle" idx="1"/>
          </p:nvPr>
        </p:nvSpPr>
        <p:spPr>
          <a:xfrm>
            <a:off x="517236" y="4008582"/>
            <a:ext cx="11111346" cy="1981054"/>
          </a:xfrm>
        </p:spPr>
        <p:txBody>
          <a:bodyPr>
            <a:normAutofit/>
          </a:bodyPr>
          <a:lstStyle>
            <a:lvl1pPr marL="0" indent="0" algn="ctr">
              <a:buNone/>
              <a:defRPr sz="3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1EDFAA53-ECC5-4891-A9D4-BC4A3BAD2A61}"/>
              </a:ext>
            </a:extLst>
          </p:cNvPr>
          <p:cNvSpPr>
            <a:spLocks noGrp="1"/>
          </p:cNvSpPr>
          <p:nvPr>
            <p:ph type="ftr" sz="quarter" idx="11"/>
          </p:nvPr>
        </p:nvSpPr>
        <p:spPr/>
        <p:txBody>
          <a:bodyPr/>
          <a:lstStyle/>
          <a:p>
            <a:r>
              <a:rPr lang="zh-CN" altLang="en-US" dirty="0"/>
              <a:t>科学研究方法</a:t>
            </a:r>
            <a:endParaRPr lang="en-US" dirty="0"/>
          </a:p>
        </p:txBody>
      </p:sp>
      <p:sp>
        <p:nvSpPr>
          <p:cNvPr id="6" name="Slide Number Placeholder 5">
            <a:extLst>
              <a:ext uri="{FF2B5EF4-FFF2-40B4-BE49-F238E27FC236}">
                <a16:creationId xmlns:a16="http://schemas.microsoft.com/office/drawing/2014/main" id="{9F99026C-8CC3-4624-A1AD-AA59BE715AC7}"/>
              </a:ext>
            </a:extLst>
          </p:cNvPr>
          <p:cNvSpPr>
            <a:spLocks noGrp="1"/>
          </p:cNvSpPr>
          <p:nvPr>
            <p:ph type="sldNum" sz="quarter" idx="12"/>
          </p:nvPr>
        </p:nvSpPr>
        <p:spPr/>
        <p:txBody>
          <a:bodyPr/>
          <a:lstStyle/>
          <a:p>
            <a:fld id="{A71D4CCC-BB3A-4D93-86F3-16B4E3CF782A}" type="slidenum">
              <a:rPr lang="en-US" smtClean="0"/>
              <a:t>‹#›</a:t>
            </a:fld>
            <a:endParaRPr lang="en-US"/>
          </a:p>
        </p:txBody>
      </p:sp>
    </p:spTree>
    <p:extLst>
      <p:ext uri="{BB962C8B-B14F-4D97-AF65-F5344CB8AC3E}">
        <p14:creationId xmlns:p14="http://schemas.microsoft.com/office/powerpoint/2010/main" val="605993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961DE-D636-45A1-A354-CB1E70520A9E}"/>
              </a:ext>
            </a:extLst>
          </p:cNvPr>
          <p:cNvSpPr>
            <a:spLocks noGrp="1"/>
          </p:cNvSpPr>
          <p:nvPr>
            <p:ph type="ctrTitle"/>
          </p:nvPr>
        </p:nvSpPr>
        <p:spPr>
          <a:xfrm>
            <a:off x="517236" y="1168146"/>
            <a:ext cx="11111346" cy="2387600"/>
          </a:xfrm>
        </p:spPr>
        <p:txBody>
          <a:bodyPr anchor="b"/>
          <a:lstStyle>
            <a:lvl1pPr algn="ctr">
              <a:defRPr sz="6000"/>
            </a:lvl1pPr>
          </a:lstStyle>
          <a:p>
            <a:r>
              <a:rPr lang="en-US" dirty="0"/>
              <a:t>Click to edit Master title style</a:t>
            </a:r>
          </a:p>
        </p:txBody>
      </p:sp>
      <p:sp>
        <p:nvSpPr>
          <p:cNvPr id="5" name="Footer Placeholder 4">
            <a:extLst>
              <a:ext uri="{FF2B5EF4-FFF2-40B4-BE49-F238E27FC236}">
                <a16:creationId xmlns:a16="http://schemas.microsoft.com/office/drawing/2014/main" id="{1EDFAA53-ECC5-4891-A9D4-BC4A3BAD2A61}"/>
              </a:ext>
            </a:extLst>
          </p:cNvPr>
          <p:cNvSpPr>
            <a:spLocks noGrp="1"/>
          </p:cNvSpPr>
          <p:nvPr>
            <p:ph type="ftr" sz="quarter" idx="11"/>
          </p:nvPr>
        </p:nvSpPr>
        <p:spPr/>
        <p:txBody>
          <a:bodyPr/>
          <a:lstStyle/>
          <a:p>
            <a:r>
              <a:rPr lang="zh-CN" altLang="en-US" dirty="0"/>
              <a:t>科学研究方法</a:t>
            </a:r>
            <a:endParaRPr lang="en-US" dirty="0"/>
          </a:p>
        </p:txBody>
      </p:sp>
      <p:sp>
        <p:nvSpPr>
          <p:cNvPr id="6" name="Slide Number Placeholder 5">
            <a:extLst>
              <a:ext uri="{FF2B5EF4-FFF2-40B4-BE49-F238E27FC236}">
                <a16:creationId xmlns:a16="http://schemas.microsoft.com/office/drawing/2014/main" id="{9F99026C-8CC3-4624-A1AD-AA59BE715AC7}"/>
              </a:ext>
            </a:extLst>
          </p:cNvPr>
          <p:cNvSpPr>
            <a:spLocks noGrp="1"/>
          </p:cNvSpPr>
          <p:nvPr>
            <p:ph type="sldNum" sz="quarter" idx="12"/>
          </p:nvPr>
        </p:nvSpPr>
        <p:spPr/>
        <p:txBody>
          <a:bodyPr/>
          <a:lstStyle/>
          <a:p>
            <a:fld id="{A71D4CCC-BB3A-4D93-86F3-16B4E3CF782A}" type="slidenum">
              <a:rPr lang="en-US" smtClean="0"/>
              <a:t>‹#›</a:t>
            </a:fld>
            <a:endParaRPr lang="en-US"/>
          </a:p>
        </p:txBody>
      </p:sp>
    </p:spTree>
    <p:extLst>
      <p:ext uri="{BB962C8B-B14F-4D97-AF65-F5344CB8AC3E}">
        <p14:creationId xmlns:p14="http://schemas.microsoft.com/office/powerpoint/2010/main" val="3738441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5EC27-A656-4A51-B128-3851E0641C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ED39AF-E582-4440-A6A0-A04D3864A124}"/>
              </a:ext>
            </a:extLst>
          </p:cNvPr>
          <p:cNvSpPr>
            <a:spLocks noGrp="1"/>
          </p:cNvSpPr>
          <p:nvPr>
            <p:ph idx="1"/>
          </p:nvPr>
        </p:nvSpPr>
        <p:spPr/>
        <p:txBody>
          <a:bodyPr/>
          <a:lstStyle>
            <a:lvl4pPr>
              <a:defRPr sz="12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18EC99E-A750-44EE-8F5A-E25DAF402B38}"/>
              </a:ext>
            </a:extLst>
          </p:cNvPr>
          <p:cNvSpPr>
            <a:spLocks noGrp="1"/>
          </p:cNvSpPr>
          <p:nvPr>
            <p:ph type="ftr" sz="quarter" idx="11"/>
          </p:nvPr>
        </p:nvSpPr>
        <p:spPr/>
        <p:txBody>
          <a:bodyPr/>
          <a:lstStyle/>
          <a:p>
            <a:r>
              <a:rPr lang="zh-CN" altLang="en-US" dirty="0"/>
              <a:t>科学研究方法</a:t>
            </a:r>
            <a:endParaRPr lang="en-US" dirty="0"/>
          </a:p>
        </p:txBody>
      </p:sp>
      <p:sp>
        <p:nvSpPr>
          <p:cNvPr id="6" name="Slide Number Placeholder 5">
            <a:extLst>
              <a:ext uri="{FF2B5EF4-FFF2-40B4-BE49-F238E27FC236}">
                <a16:creationId xmlns:a16="http://schemas.microsoft.com/office/drawing/2014/main" id="{484E2DC2-DBCD-42D6-A478-E622CC197EFD}"/>
              </a:ext>
            </a:extLst>
          </p:cNvPr>
          <p:cNvSpPr>
            <a:spLocks noGrp="1"/>
          </p:cNvSpPr>
          <p:nvPr>
            <p:ph type="sldNum" sz="quarter" idx="12"/>
          </p:nvPr>
        </p:nvSpPr>
        <p:spPr/>
        <p:txBody>
          <a:bodyPr/>
          <a:lstStyle/>
          <a:p>
            <a:fld id="{A71D4CCC-BB3A-4D93-86F3-16B4E3CF782A}" type="slidenum">
              <a:rPr lang="en-US" smtClean="0"/>
              <a:t>‹#›</a:t>
            </a:fld>
            <a:endParaRPr lang="en-US"/>
          </a:p>
        </p:txBody>
      </p:sp>
    </p:spTree>
    <p:extLst>
      <p:ext uri="{BB962C8B-B14F-4D97-AF65-F5344CB8AC3E}">
        <p14:creationId xmlns:p14="http://schemas.microsoft.com/office/powerpoint/2010/main" val="1482632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5EC27-A656-4A51-B128-3851E0641C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ED39AF-E582-4440-A6A0-A04D3864A124}"/>
              </a:ext>
            </a:extLst>
          </p:cNvPr>
          <p:cNvSpPr>
            <a:spLocks noGrp="1"/>
          </p:cNvSpPr>
          <p:nvPr>
            <p:ph idx="1"/>
          </p:nvPr>
        </p:nvSpPr>
        <p:spPr>
          <a:xfrm>
            <a:off x="121976" y="949412"/>
            <a:ext cx="5974024" cy="551235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18EC99E-A750-44EE-8F5A-E25DAF402B38}"/>
              </a:ext>
            </a:extLst>
          </p:cNvPr>
          <p:cNvSpPr>
            <a:spLocks noGrp="1"/>
          </p:cNvSpPr>
          <p:nvPr>
            <p:ph type="ftr" sz="quarter" idx="11"/>
          </p:nvPr>
        </p:nvSpPr>
        <p:spPr/>
        <p:txBody>
          <a:bodyPr/>
          <a:lstStyle/>
          <a:p>
            <a:r>
              <a:rPr lang="zh-CN" altLang="en-US" dirty="0"/>
              <a:t>科学研究方法</a:t>
            </a:r>
            <a:endParaRPr lang="en-US" dirty="0"/>
          </a:p>
        </p:txBody>
      </p:sp>
      <p:sp>
        <p:nvSpPr>
          <p:cNvPr id="6" name="Slide Number Placeholder 5">
            <a:extLst>
              <a:ext uri="{FF2B5EF4-FFF2-40B4-BE49-F238E27FC236}">
                <a16:creationId xmlns:a16="http://schemas.microsoft.com/office/drawing/2014/main" id="{484E2DC2-DBCD-42D6-A478-E622CC197EFD}"/>
              </a:ext>
            </a:extLst>
          </p:cNvPr>
          <p:cNvSpPr>
            <a:spLocks noGrp="1"/>
          </p:cNvSpPr>
          <p:nvPr>
            <p:ph type="sldNum" sz="quarter" idx="12"/>
          </p:nvPr>
        </p:nvSpPr>
        <p:spPr/>
        <p:txBody>
          <a:bodyPr/>
          <a:lstStyle/>
          <a:p>
            <a:fld id="{A71D4CCC-BB3A-4D93-86F3-16B4E3CF782A}" type="slidenum">
              <a:rPr lang="en-US" smtClean="0"/>
              <a:t>‹#›</a:t>
            </a:fld>
            <a:endParaRPr lang="en-US"/>
          </a:p>
        </p:txBody>
      </p:sp>
      <p:sp>
        <p:nvSpPr>
          <p:cNvPr id="7" name="Content Placeholder 2">
            <a:extLst>
              <a:ext uri="{FF2B5EF4-FFF2-40B4-BE49-F238E27FC236}">
                <a16:creationId xmlns:a16="http://schemas.microsoft.com/office/drawing/2014/main" id="{67535ADF-AC00-4F68-A36B-181C34B90939}"/>
              </a:ext>
            </a:extLst>
          </p:cNvPr>
          <p:cNvSpPr>
            <a:spLocks noGrp="1"/>
          </p:cNvSpPr>
          <p:nvPr>
            <p:ph idx="13"/>
          </p:nvPr>
        </p:nvSpPr>
        <p:spPr>
          <a:xfrm>
            <a:off x="6117356" y="949411"/>
            <a:ext cx="5974024" cy="551235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82147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5EC27-A656-4A51-B128-3851E0641C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ED39AF-E582-4440-A6A0-A04D3864A124}"/>
              </a:ext>
            </a:extLst>
          </p:cNvPr>
          <p:cNvSpPr>
            <a:spLocks noGrp="1"/>
          </p:cNvSpPr>
          <p:nvPr>
            <p:ph idx="1"/>
          </p:nvPr>
        </p:nvSpPr>
        <p:spPr>
          <a:xfrm>
            <a:off x="121976" y="949412"/>
            <a:ext cx="5835473" cy="551235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18EC99E-A750-44EE-8F5A-E25DAF402B38}"/>
              </a:ext>
            </a:extLst>
          </p:cNvPr>
          <p:cNvSpPr>
            <a:spLocks noGrp="1"/>
          </p:cNvSpPr>
          <p:nvPr>
            <p:ph type="ftr" sz="quarter" idx="11"/>
          </p:nvPr>
        </p:nvSpPr>
        <p:spPr/>
        <p:txBody>
          <a:bodyPr/>
          <a:lstStyle/>
          <a:p>
            <a:r>
              <a:rPr lang="zh-CN" altLang="en-US" dirty="0"/>
              <a:t>科学研究方法</a:t>
            </a:r>
            <a:endParaRPr lang="en-US" dirty="0"/>
          </a:p>
        </p:txBody>
      </p:sp>
      <p:sp>
        <p:nvSpPr>
          <p:cNvPr id="6" name="Slide Number Placeholder 5">
            <a:extLst>
              <a:ext uri="{FF2B5EF4-FFF2-40B4-BE49-F238E27FC236}">
                <a16:creationId xmlns:a16="http://schemas.microsoft.com/office/drawing/2014/main" id="{484E2DC2-DBCD-42D6-A478-E622CC197EFD}"/>
              </a:ext>
            </a:extLst>
          </p:cNvPr>
          <p:cNvSpPr>
            <a:spLocks noGrp="1"/>
          </p:cNvSpPr>
          <p:nvPr>
            <p:ph type="sldNum" sz="quarter" idx="12"/>
          </p:nvPr>
        </p:nvSpPr>
        <p:spPr/>
        <p:txBody>
          <a:bodyPr/>
          <a:lstStyle/>
          <a:p>
            <a:fld id="{A71D4CCC-BB3A-4D93-86F3-16B4E3CF782A}" type="slidenum">
              <a:rPr lang="en-US" smtClean="0"/>
              <a:t>‹#›</a:t>
            </a:fld>
            <a:endParaRPr lang="en-US"/>
          </a:p>
        </p:txBody>
      </p:sp>
      <p:sp>
        <p:nvSpPr>
          <p:cNvPr id="7" name="Content Placeholder 2">
            <a:extLst>
              <a:ext uri="{FF2B5EF4-FFF2-40B4-BE49-F238E27FC236}">
                <a16:creationId xmlns:a16="http://schemas.microsoft.com/office/drawing/2014/main" id="{67535ADF-AC00-4F68-A36B-181C34B90939}"/>
              </a:ext>
            </a:extLst>
          </p:cNvPr>
          <p:cNvSpPr>
            <a:spLocks noGrp="1"/>
          </p:cNvSpPr>
          <p:nvPr>
            <p:ph idx="13"/>
          </p:nvPr>
        </p:nvSpPr>
        <p:spPr>
          <a:xfrm>
            <a:off x="6117356" y="949411"/>
            <a:ext cx="5974024" cy="551235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6F021232-1A62-4A1D-A926-C469C67AB071}"/>
              </a:ext>
            </a:extLst>
          </p:cNvPr>
          <p:cNvCxnSpPr/>
          <p:nvPr userDrawn="1"/>
        </p:nvCxnSpPr>
        <p:spPr>
          <a:xfrm>
            <a:off x="5975932" y="949411"/>
            <a:ext cx="0" cy="5530420"/>
          </a:xfrm>
          <a:prstGeom prst="line">
            <a:avLst/>
          </a:prstGeom>
          <a:ln>
            <a:headEnd type="none" w="med" len="med"/>
            <a:tailEnd type="none" w="med" len="med"/>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1830167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C0041-CC2F-4BE3-8EC2-B367802DD3EC}"/>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9769A485-57F7-4706-888E-C74B95E55CD6}"/>
              </a:ext>
            </a:extLst>
          </p:cNvPr>
          <p:cNvSpPr>
            <a:spLocks noGrp="1"/>
          </p:cNvSpPr>
          <p:nvPr>
            <p:ph type="ftr" sz="quarter" idx="11"/>
          </p:nvPr>
        </p:nvSpPr>
        <p:spPr/>
        <p:txBody>
          <a:bodyPr/>
          <a:lstStyle/>
          <a:p>
            <a:r>
              <a:rPr lang="zh-CN" altLang="en-US" dirty="0"/>
              <a:t>科学研究方法</a:t>
            </a:r>
            <a:endParaRPr lang="en-US" dirty="0"/>
          </a:p>
        </p:txBody>
      </p:sp>
      <p:sp>
        <p:nvSpPr>
          <p:cNvPr id="5" name="Slide Number Placeholder 4">
            <a:extLst>
              <a:ext uri="{FF2B5EF4-FFF2-40B4-BE49-F238E27FC236}">
                <a16:creationId xmlns:a16="http://schemas.microsoft.com/office/drawing/2014/main" id="{43C71D41-0EC9-41E0-AD5F-40F7470F1002}"/>
              </a:ext>
            </a:extLst>
          </p:cNvPr>
          <p:cNvSpPr>
            <a:spLocks noGrp="1"/>
          </p:cNvSpPr>
          <p:nvPr>
            <p:ph type="sldNum" sz="quarter" idx="12"/>
          </p:nvPr>
        </p:nvSpPr>
        <p:spPr/>
        <p:txBody>
          <a:bodyPr/>
          <a:lstStyle/>
          <a:p>
            <a:fld id="{A71D4CCC-BB3A-4D93-86F3-16B4E3CF782A}" type="slidenum">
              <a:rPr lang="en-US" smtClean="0"/>
              <a:t>‹#›</a:t>
            </a:fld>
            <a:endParaRPr lang="en-US"/>
          </a:p>
        </p:txBody>
      </p:sp>
    </p:spTree>
    <p:extLst>
      <p:ext uri="{BB962C8B-B14F-4D97-AF65-F5344CB8AC3E}">
        <p14:creationId xmlns:p14="http://schemas.microsoft.com/office/powerpoint/2010/main" val="919527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91CC97-9066-472E-A42B-E153C66C2CF5}"/>
              </a:ext>
            </a:extLst>
          </p:cNvPr>
          <p:cNvSpPr>
            <a:spLocks noGrp="1"/>
          </p:cNvSpPr>
          <p:nvPr>
            <p:ph type="ftr" sz="quarter" idx="11"/>
          </p:nvPr>
        </p:nvSpPr>
        <p:spPr/>
        <p:txBody>
          <a:bodyPr/>
          <a:lstStyle>
            <a:lvl1pPr>
              <a:defRPr>
                <a:solidFill>
                  <a:schemeClr val="tx1"/>
                </a:solidFill>
              </a:defRPr>
            </a:lvl1pPr>
          </a:lstStyle>
          <a:p>
            <a:r>
              <a:rPr lang="zh-CN" altLang="en-US" dirty="0"/>
              <a:t>科学研究方法</a:t>
            </a:r>
            <a:endParaRPr lang="en-US" dirty="0"/>
          </a:p>
        </p:txBody>
      </p:sp>
      <p:sp>
        <p:nvSpPr>
          <p:cNvPr id="4" name="Slide Number Placeholder 3">
            <a:extLst>
              <a:ext uri="{FF2B5EF4-FFF2-40B4-BE49-F238E27FC236}">
                <a16:creationId xmlns:a16="http://schemas.microsoft.com/office/drawing/2014/main" id="{D59C7036-C3A6-4055-9532-B214978AAE21}"/>
              </a:ext>
            </a:extLst>
          </p:cNvPr>
          <p:cNvSpPr>
            <a:spLocks noGrp="1"/>
          </p:cNvSpPr>
          <p:nvPr>
            <p:ph type="sldNum" sz="quarter" idx="12"/>
          </p:nvPr>
        </p:nvSpPr>
        <p:spPr/>
        <p:txBody>
          <a:bodyPr/>
          <a:lstStyle>
            <a:lvl1pPr>
              <a:defRPr>
                <a:solidFill>
                  <a:schemeClr val="tx1"/>
                </a:solidFill>
              </a:defRPr>
            </a:lvl1pPr>
          </a:lstStyle>
          <a:p>
            <a:fld id="{A71D4CCC-BB3A-4D93-86F3-16B4E3CF782A}" type="slidenum">
              <a:rPr lang="en-US" smtClean="0"/>
              <a:pPr/>
              <a:t>‹#›</a:t>
            </a:fld>
            <a:endParaRPr lang="en-US"/>
          </a:p>
        </p:txBody>
      </p:sp>
    </p:spTree>
    <p:extLst>
      <p:ext uri="{BB962C8B-B14F-4D97-AF65-F5344CB8AC3E}">
        <p14:creationId xmlns:p14="http://schemas.microsoft.com/office/powerpoint/2010/main" val="1967403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0A14F57-23A7-4391-951D-9B4F71FFF551}"/>
              </a:ext>
            </a:extLst>
          </p:cNvPr>
          <p:cNvSpPr/>
          <p:nvPr userDrawn="1"/>
        </p:nvSpPr>
        <p:spPr>
          <a:xfrm>
            <a:off x="0" y="6466788"/>
            <a:ext cx="12207240" cy="391212"/>
          </a:xfrm>
          <a:prstGeom prst="rect">
            <a:avLst/>
          </a:prstGeom>
          <a:solidFill>
            <a:schemeClr val="accent6">
              <a:lumMod val="50000"/>
            </a:schemeClr>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urier New" panose="02070309020205020404" pitchFamily="49" charset="0"/>
              <a:cs typeface="Courier New" panose="02070309020205020404" pitchFamily="49" charset="0"/>
            </a:endParaRPr>
          </a:p>
        </p:txBody>
      </p:sp>
      <p:sp>
        <p:nvSpPr>
          <p:cNvPr id="2" name="Title Placeholder 1">
            <a:extLst>
              <a:ext uri="{FF2B5EF4-FFF2-40B4-BE49-F238E27FC236}">
                <a16:creationId xmlns:a16="http://schemas.microsoft.com/office/drawing/2014/main" id="{514F2C7F-3756-42E9-9FBD-02FA1E51AF2A}"/>
              </a:ext>
            </a:extLst>
          </p:cNvPr>
          <p:cNvSpPr>
            <a:spLocks noGrp="1"/>
          </p:cNvSpPr>
          <p:nvPr>
            <p:ph type="title"/>
          </p:nvPr>
        </p:nvSpPr>
        <p:spPr>
          <a:xfrm>
            <a:off x="121976" y="0"/>
            <a:ext cx="11969404" cy="93636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C95EAD3-810A-4DB8-9CC0-E5339536C318}"/>
              </a:ext>
            </a:extLst>
          </p:cNvPr>
          <p:cNvSpPr>
            <a:spLocks noGrp="1"/>
          </p:cNvSpPr>
          <p:nvPr>
            <p:ph type="body" idx="1"/>
          </p:nvPr>
        </p:nvSpPr>
        <p:spPr>
          <a:xfrm>
            <a:off x="121976" y="949412"/>
            <a:ext cx="11969404" cy="551235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E896713-7C5C-443C-9D45-611076A4B11B}"/>
              </a:ext>
            </a:extLst>
          </p:cNvPr>
          <p:cNvSpPr>
            <a:spLocks noGrp="1"/>
          </p:cNvSpPr>
          <p:nvPr>
            <p:ph type="ftr" sz="quarter" idx="3"/>
          </p:nvPr>
        </p:nvSpPr>
        <p:spPr>
          <a:xfrm>
            <a:off x="121976" y="6479831"/>
            <a:ext cx="8031424" cy="391212"/>
          </a:xfrm>
          <a:prstGeom prst="rect">
            <a:avLst/>
          </a:prstGeom>
        </p:spPr>
        <p:txBody>
          <a:bodyPr vert="horz" lIns="91440" tIns="45720" rIns="91440" bIns="45720" rtlCol="0" anchor="ctr"/>
          <a:lstStyle>
            <a:lvl1pPr algn="l">
              <a:defRPr sz="1800">
                <a:solidFill>
                  <a:schemeClr val="bg1"/>
                </a:solidFill>
                <a:latin typeface="Courier New" panose="02070309020205020404" pitchFamily="49" charset="0"/>
                <a:cs typeface="Courier New" panose="02070309020205020404" pitchFamily="49" charset="0"/>
              </a:defRPr>
            </a:lvl1pPr>
          </a:lstStyle>
          <a:p>
            <a:r>
              <a:rPr lang="zh-CN" altLang="en-US" dirty="0"/>
              <a:t>科学研究方法</a:t>
            </a:r>
            <a:endParaRPr lang="en-US" dirty="0"/>
          </a:p>
        </p:txBody>
      </p:sp>
      <p:sp>
        <p:nvSpPr>
          <p:cNvPr id="6" name="Slide Number Placeholder 5">
            <a:extLst>
              <a:ext uri="{FF2B5EF4-FFF2-40B4-BE49-F238E27FC236}">
                <a16:creationId xmlns:a16="http://schemas.microsoft.com/office/drawing/2014/main" id="{160F77F3-C56C-42F2-9D7A-EC84932049A8}"/>
              </a:ext>
            </a:extLst>
          </p:cNvPr>
          <p:cNvSpPr>
            <a:spLocks noGrp="1"/>
          </p:cNvSpPr>
          <p:nvPr>
            <p:ph type="sldNum" sz="quarter" idx="4"/>
          </p:nvPr>
        </p:nvSpPr>
        <p:spPr>
          <a:xfrm>
            <a:off x="9348180" y="6479831"/>
            <a:ext cx="2743200" cy="365125"/>
          </a:xfrm>
          <a:prstGeom prst="rect">
            <a:avLst/>
          </a:prstGeom>
        </p:spPr>
        <p:txBody>
          <a:bodyPr vert="horz" lIns="91440" tIns="45720" rIns="91440" bIns="45720" rtlCol="0" anchor="ctr"/>
          <a:lstStyle>
            <a:lvl1pPr algn="r">
              <a:defRPr sz="1800">
                <a:solidFill>
                  <a:schemeClr val="bg1"/>
                </a:solidFill>
                <a:latin typeface="Candara" panose="020E0502030303020204" pitchFamily="34" charset="0"/>
              </a:defRPr>
            </a:lvl1pPr>
          </a:lstStyle>
          <a:p>
            <a:fld id="{A71D4CCC-BB3A-4D93-86F3-16B4E3CF782A}" type="slidenum">
              <a:rPr lang="en-US" smtClean="0"/>
              <a:pPr/>
              <a:t>‹#›</a:t>
            </a:fld>
            <a:endParaRPr lang="en-US" dirty="0"/>
          </a:p>
        </p:txBody>
      </p:sp>
      <p:cxnSp>
        <p:nvCxnSpPr>
          <p:cNvPr id="8" name="Straight Connector 7">
            <a:extLst>
              <a:ext uri="{FF2B5EF4-FFF2-40B4-BE49-F238E27FC236}">
                <a16:creationId xmlns:a16="http://schemas.microsoft.com/office/drawing/2014/main" id="{2CE34041-3A0E-4540-88E7-86195E5B12A2}"/>
              </a:ext>
            </a:extLst>
          </p:cNvPr>
          <p:cNvCxnSpPr/>
          <p:nvPr userDrawn="1"/>
        </p:nvCxnSpPr>
        <p:spPr>
          <a:xfrm>
            <a:off x="112740" y="838987"/>
            <a:ext cx="11978640" cy="0"/>
          </a:xfrm>
          <a:prstGeom prst="line">
            <a:avLst/>
          </a:prstGeom>
          <a:ln w="57150">
            <a:solidFill>
              <a:schemeClr val="accent6">
                <a:lumMod val="7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8870296"/>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50" r:id="rId3"/>
    <p:sldLayoutId id="2147483657" r:id="rId4"/>
    <p:sldLayoutId id="2147483658" r:id="rId5"/>
    <p:sldLayoutId id="2147483654" r:id="rId6"/>
    <p:sldLayoutId id="2147483655" r:id="rId7"/>
  </p:sldLayoutIdLst>
  <p:hf hdr="0" dt="0"/>
  <p:txStyles>
    <p:titleStyle>
      <a:lvl1pPr algn="l" defTabSz="914400" rtl="0" eaLnBrk="1" latinLnBrk="0" hangingPunct="1">
        <a:lnSpc>
          <a:spcPct val="90000"/>
        </a:lnSpc>
        <a:spcBef>
          <a:spcPct val="0"/>
        </a:spcBef>
        <a:buNone/>
        <a:defRPr sz="4400" kern="1200">
          <a:solidFill>
            <a:schemeClr val="tx1"/>
          </a:solidFill>
          <a:latin typeface="Candara" panose="020E0502030303020204" pitchFamily="34" charset="0"/>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3200" kern="1200">
          <a:solidFill>
            <a:schemeClr val="tx1"/>
          </a:solidFill>
          <a:latin typeface="Candara" panose="020E0502030303020204" pitchFamily="34" charset="0"/>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800" kern="1200">
          <a:solidFill>
            <a:schemeClr val="tx1"/>
          </a:solidFill>
          <a:latin typeface="Candara" panose="020E0502030303020204" pitchFamily="34" charset="0"/>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600" kern="1200">
          <a:solidFill>
            <a:schemeClr val="tx1"/>
          </a:solidFill>
          <a:latin typeface="Candara" panose="020E0502030303020204" pitchFamily="34" charset="0"/>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Candara" panose="020E0502030303020204" pitchFamily="34" charset="0"/>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Candara" panose="020E05020303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lnhieu@hcmute.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2.emf"/><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10.jpeg"/><Relationship Id="rId5" Type="http://schemas.openxmlformats.org/officeDocument/2006/relationships/image" Target="../media/image1.png"/><Relationship Id="rId10"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8.pn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0A820D-C241-6A20-129B-49776071AB4F}"/>
              </a:ext>
            </a:extLst>
          </p:cNvPr>
          <p:cNvSpPr/>
          <p:nvPr/>
        </p:nvSpPr>
        <p:spPr>
          <a:xfrm>
            <a:off x="-23091" y="6414616"/>
            <a:ext cx="12192000" cy="43034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280ADCF-F2BB-680C-2286-1674BBD06766}"/>
              </a:ext>
            </a:extLst>
          </p:cNvPr>
          <p:cNvSpPr/>
          <p:nvPr/>
        </p:nvSpPr>
        <p:spPr>
          <a:xfrm>
            <a:off x="0" y="0"/>
            <a:ext cx="12192000" cy="160457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2090B568-818A-4869-B9A3-47E49B79AA1A}"/>
              </a:ext>
            </a:extLst>
          </p:cNvPr>
          <p:cNvSpPr>
            <a:spLocks noGrp="1"/>
          </p:cNvSpPr>
          <p:nvPr>
            <p:ph type="subTitle" idx="1"/>
          </p:nvPr>
        </p:nvSpPr>
        <p:spPr>
          <a:xfrm>
            <a:off x="517236" y="5438967"/>
            <a:ext cx="11111346" cy="790106"/>
          </a:xfrm>
        </p:spPr>
        <p:txBody>
          <a:bodyPr>
            <a:normAutofit fontScale="62500" lnSpcReduction="20000"/>
          </a:bodyPr>
          <a:lstStyle/>
          <a:p>
            <a:r>
              <a:rPr lang="en-US" dirty="0"/>
              <a:t>LÊ NGỌC HIẾU</a:t>
            </a:r>
          </a:p>
          <a:p>
            <a:r>
              <a:rPr lang="en-US" dirty="0">
                <a:hlinkClick r:id="rId2"/>
              </a:rPr>
              <a:t>lnhieu@hcmute.edu.vn</a:t>
            </a:r>
            <a:r>
              <a:rPr lang="en-US" dirty="0"/>
              <a:t>  </a:t>
            </a:r>
          </a:p>
        </p:txBody>
      </p:sp>
      <p:sp>
        <p:nvSpPr>
          <p:cNvPr id="4" name="Slide Number Placeholder 3">
            <a:extLst>
              <a:ext uri="{FF2B5EF4-FFF2-40B4-BE49-F238E27FC236}">
                <a16:creationId xmlns:a16="http://schemas.microsoft.com/office/drawing/2014/main" id="{06A8BEBC-6B90-67F4-824E-7F0B269C1ED3}"/>
              </a:ext>
            </a:extLst>
          </p:cNvPr>
          <p:cNvSpPr>
            <a:spLocks noGrp="1"/>
          </p:cNvSpPr>
          <p:nvPr>
            <p:ph type="sldNum" sz="quarter" idx="12"/>
          </p:nvPr>
        </p:nvSpPr>
        <p:spPr/>
        <p:txBody>
          <a:bodyPr/>
          <a:lstStyle/>
          <a:p>
            <a:fld id="{A71D4CCC-BB3A-4D93-86F3-16B4E3CF782A}" type="slidenum">
              <a:rPr lang="en-US" smtClean="0"/>
              <a:t>1</a:t>
            </a:fld>
            <a:endParaRPr lang="en-US"/>
          </a:p>
        </p:txBody>
      </p:sp>
      <p:sp>
        <p:nvSpPr>
          <p:cNvPr id="5" name="Footer Placeholder 4">
            <a:extLst>
              <a:ext uri="{FF2B5EF4-FFF2-40B4-BE49-F238E27FC236}">
                <a16:creationId xmlns:a16="http://schemas.microsoft.com/office/drawing/2014/main" id="{467EAED5-4D17-030C-B5C3-6F44D06D0484}"/>
              </a:ext>
            </a:extLst>
          </p:cNvPr>
          <p:cNvSpPr>
            <a:spLocks noGrp="1"/>
          </p:cNvSpPr>
          <p:nvPr>
            <p:ph type="ftr" sz="quarter" idx="11"/>
          </p:nvPr>
        </p:nvSpPr>
        <p:spPr/>
        <p:txBody>
          <a:bodyPr/>
          <a:lstStyle/>
          <a:p>
            <a:r>
              <a:rPr lang="zh-CN" altLang="en-US" dirty="0"/>
              <a:t>科学研究方法</a:t>
            </a:r>
            <a:endParaRPr lang="en-US" dirty="0"/>
          </a:p>
        </p:txBody>
      </p:sp>
      <p:sp>
        <p:nvSpPr>
          <p:cNvPr id="12" name="Title 1">
            <a:extLst>
              <a:ext uri="{FF2B5EF4-FFF2-40B4-BE49-F238E27FC236}">
                <a16:creationId xmlns:a16="http://schemas.microsoft.com/office/drawing/2014/main" id="{E09D5A4C-DC65-27BC-B1B4-6B07EF4B5CEB}"/>
              </a:ext>
            </a:extLst>
          </p:cNvPr>
          <p:cNvSpPr>
            <a:spLocks noGrp="1"/>
          </p:cNvSpPr>
          <p:nvPr>
            <p:ph type="ctrTitle"/>
          </p:nvPr>
        </p:nvSpPr>
        <p:spPr>
          <a:xfrm>
            <a:off x="517236" y="1989412"/>
            <a:ext cx="11111346" cy="2387600"/>
          </a:xfrm>
        </p:spPr>
        <p:txBody>
          <a:bodyPr>
            <a:normAutofit fontScale="90000"/>
          </a:bodyPr>
          <a:lstStyle/>
          <a:p>
            <a:r>
              <a:rPr lang="en-US" sz="4400" dirty="0"/>
              <a:t>VIDEO CONFERENCE 2 – 31.Jan.2026</a:t>
            </a:r>
            <a:br>
              <a:rPr lang="en-US" sz="4400" dirty="0"/>
            </a:br>
            <a:r>
              <a:rPr lang="en-US" sz="6700" dirty="0"/>
              <a:t>PHƯƠNG PHÁP NGHIÊN CỨU KHOA HỌC</a:t>
            </a:r>
            <a:endParaRPr lang="en-US" dirty="0"/>
          </a:p>
        </p:txBody>
      </p:sp>
      <p:sp>
        <p:nvSpPr>
          <p:cNvPr id="14" name="TextBox 13">
            <a:extLst>
              <a:ext uri="{FF2B5EF4-FFF2-40B4-BE49-F238E27FC236}">
                <a16:creationId xmlns:a16="http://schemas.microsoft.com/office/drawing/2014/main" id="{52A467FE-C561-EB85-AF77-383BE75C6F70}"/>
              </a:ext>
            </a:extLst>
          </p:cNvPr>
          <p:cNvSpPr txBox="1"/>
          <p:nvPr/>
        </p:nvSpPr>
        <p:spPr>
          <a:xfrm>
            <a:off x="2952750" y="4392516"/>
            <a:ext cx="6108700" cy="584775"/>
          </a:xfrm>
          <a:prstGeom prst="rect">
            <a:avLst/>
          </a:prstGeom>
          <a:noFill/>
        </p:spPr>
        <p:txBody>
          <a:bodyPr wrap="square">
            <a:spAutoFit/>
          </a:bodyPr>
          <a:lstStyle/>
          <a:p>
            <a:pPr algn="ctr"/>
            <a:r>
              <a:rPr lang="zh-CN" altLang="en-US" sz="3200" b="0" i="0" dirty="0">
                <a:solidFill>
                  <a:srgbClr val="1A1C1E"/>
                </a:solidFill>
                <a:effectLst/>
                <a:latin typeface="Inter"/>
              </a:rPr>
              <a:t>科学研究方法</a:t>
            </a:r>
            <a:endParaRPr lang="en-US" sz="3200" dirty="0"/>
          </a:p>
        </p:txBody>
      </p:sp>
      <p:pic>
        <p:nvPicPr>
          <p:cNvPr id="6" name="Picture 5">
            <a:extLst>
              <a:ext uri="{FF2B5EF4-FFF2-40B4-BE49-F238E27FC236}">
                <a16:creationId xmlns:a16="http://schemas.microsoft.com/office/drawing/2014/main" id="{768F5FFE-2D79-29D8-4A5F-8E3B5BCEA2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3838" y="205117"/>
            <a:ext cx="1626524" cy="1184362"/>
          </a:xfrm>
          <a:prstGeom prst="rect">
            <a:avLst/>
          </a:prstGeom>
        </p:spPr>
      </p:pic>
    </p:spTree>
    <p:extLst>
      <p:ext uri="{BB962C8B-B14F-4D97-AF65-F5344CB8AC3E}">
        <p14:creationId xmlns:p14="http://schemas.microsoft.com/office/powerpoint/2010/main" val="3697699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27E63E-369B-6DC8-8039-4934E9881CED}"/>
              </a:ext>
            </a:extLst>
          </p:cNvPr>
          <p:cNvSpPr txBox="1"/>
          <p:nvPr/>
        </p:nvSpPr>
        <p:spPr>
          <a:xfrm>
            <a:off x="2042079" y="1080606"/>
            <a:ext cx="9468608" cy="3939540"/>
          </a:xfrm>
          <a:prstGeom prst="rect">
            <a:avLst/>
          </a:prstGeom>
          <a:noFill/>
        </p:spPr>
        <p:txBody>
          <a:bodyPr wrap="square" rtlCol="0">
            <a:spAutoFit/>
          </a:bodyPr>
          <a:lstStyle/>
          <a:p>
            <a:pPr lvl="0">
              <a:defRPr/>
            </a:pPr>
            <a:r>
              <a:rPr lang="en-US" sz="2000" b="1" spc="-67" dirty="0">
                <a:solidFill>
                  <a:srgbClr val="0070C0"/>
                </a:solidFill>
                <a:latin typeface="BR Omega" pitchFamily="2" charset="77"/>
                <a:cs typeface="Arial" panose="020B0604020202020204" pitchFamily="34" charset="0"/>
              </a:rPr>
              <a:t>Lê </a:t>
            </a:r>
            <a:r>
              <a:rPr lang="en-US" sz="2000" b="1" spc="-67" dirty="0" err="1">
                <a:solidFill>
                  <a:srgbClr val="0070C0"/>
                </a:solidFill>
                <a:latin typeface="BR Omega" pitchFamily="2" charset="77"/>
                <a:cs typeface="Arial" panose="020B0604020202020204" pitchFamily="34" charset="0"/>
              </a:rPr>
              <a:t>Ngọc</a:t>
            </a:r>
            <a:r>
              <a:rPr lang="en-US" sz="2000" b="1" spc="-67" dirty="0">
                <a:solidFill>
                  <a:srgbClr val="0070C0"/>
                </a:solidFill>
                <a:latin typeface="BR Omega" pitchFamily="2" charset="77"/>
                <a:cs typeface="Arial" panose="020B0604020202020204" pitchFamily="34" charset="0"/>
              </a:rPr>
              <a:t> </a:t>
            </a:r>
            <a:r>
              <a:rPr lang="en-US" sz="2000" b="1" spc="-67" dirty="0" err="1">
                <a:solidFill>
                  <a:srgbClr val="0070C0"/>
                </a:solidFill>
                <a:latin typeface="BR Omega" pitchFamily="2" charset="77"/>
                <a:cs typeface="Arial" panose="020B0604020202020204" pitchFamily="34" charset="0"/>
              </a:rPr>
              <a:t>Hiếu</a:t>
            </a:r>
            <a:r>
              <a:rPr lang="en-US" sz="2000" b="1" spc="-67" dirty="0">
                <a:solidFill>
                  <a:srgbClr val="0070C0"/>
                </a:solidFill>
                <a:latin typeface="BR Omega" pitchFamily="2" charset="77"/>
                <a:cs typeface="Arial" panose="020B0604020202020204" pitchFamily="34" charset="0"/>
              </a:rPr>
              <a:t>, PhD. </a:t>
            </a:r>
            <a:r>
              <a:rPr lang="en-US" sz="2000" spc="-67" dirty="0">
                <a:solidFill>
                  <a:srgbClr val="0070C0"/>
                </a:solidFill>
                <a:latin typeface="BR Omega" pitchFamily="2" charset="77"/>
                <a:cs typeface="Arial" panose="020B0604020202020204" pitchFamily="34" charset="0"/>
              </a:rPr>
              <a:t> (</a:t>
            </a:r>
            <a:r>
              <a:rPr lang="zh-CN" altLang="en-US" sz="2000" spc="-67" dirty="0">
                <a:solidFill>
                  <a:srgbClr val="0070C0"/>
                </a:solidFill>
                <a:latin typeface="BR Omega" pitchFamily="2" charset="77"/>
                <a:cs typeface="Arial" panose="020B0604020202020204" pitchFamily="34" charset="0"/>
              </a:rPr>
              <a:t>黎玉孝博士</a:t>
            </a:r>
            <a:r>
              <a:rPr lang="en-US" altLang="zh-CN" sz="2000" spc="-67" dirty="0">
                <a:solidFill>
                  <a:srgbClr val="0070C0"/>
                </a:solidFill>
                <a:latin typeface="BR Omega" pitchFamily="2" charset="77"/>
                <a:cs typeface="Arial" panose="020B0604020202020204" pitchFamily="34" charset="0"/>
              </a:rPr>
              <a:t>)</a:t>
            </a:r>
            <a:endParaRPr lang="en-US" sz="2000" spc="-67" dirty="0">
              <a:solidFill>
                <a:srgbClr val="0070C0"/>
              </a:solidFill>
              <a:latin typeface="BR Omega" pitchFamily="2" charset="77"/>
              <a:cs typeface="Arial" panose="020B0604020202020204" pitchFamily="34" charset="0"/>
            </a:endParaRPr>
          </a:p>
          <a:p>
            <a:pPr marL="228611" indent="-228611">
              <a:buFont typeface="Arial" panose="020B0604020202020204" pitchFamily="34" charset="0"/>
              <a:buChar char="•"/>
              <a:defRPr/>
            </a:pPr>
            <a:r>
              <a:rPr lang="zh-CN" altLang="en-US" sz="2000" b="1" spc="-67" dirty="0">
                <a:solidFill>
                  <a:srgbClr val="002060"/>
                </a:solidFill>
                <a:latin typeface="BR Omega" pitchFamily="2" charset="77"/>
                <a:cs typeface="Arial" panose="020B0604020202020204" pitchFamily="34" charset="0"/>
              </a:rPr>
              <a:t>工作角色</a:t>
            </a:r>
            <a:r>
              <a:rPr lang="en-US" sz="2000" b="1" spc="-67" dirty="0">
                <a:solidFill>
                  <a:srgbClr val="002060"/>
                </a:solidFill>
                <a:latin typeface="BR Omega" pitchFamily="2" charset="77"/>
                <a:cs typeface="Arial" panose="020B0604020202020204" pitchFamily="34" charset="0"/>
              </a:rPr>
              <a:t>: </a:t>
            </a:r>
            <a:r>
              <a:rPr lang="zh-CN" altLang="en-US" sz="2000" spc="-67" dirty="0">
                <a:solidFill>
                  <a:srgbClr val="FF0000"/>
                </a:solidFill>
                <a:latin typeface="BR Omega" pitchFamily="2" charset="77"/>
                <a:cs typeface="Arial" panose="020B0604020202020204" pitchFamily="34" charset="0"/>
              </a:rPr>
              <a:t>高级项目经理 </a:t>
            </a:r>
            <a:r>
              <a:rPr lang="en-US" altLang="zh-CN" sz="2000" spc="-67" dirty="0">
                <a:solidFill>
                  <a:srgbClr val="FF0000"/>
                </a:solidFill>
                <a:latin typeface="BR Omega" pitchFamily="2" charset="77"/>
                <a:cs typeface="Arial" panose="020B0604020202020204" pitchFamily="34" charset="0"/>
              </a:rPr>
              <a:t>/ </a:t>
            </a:r>
            <a:r>
              <a:rPr lang="zh-CN" altLang="en-US" sz="2000" spc="-67" dirty="0">
                <a:solidFill>
                  <a:srgbClr val="FF0000"/>
                </a:solidFill>
                <a:latin typeface="BR Omega" pitchFamily="2" charset="77"/>
                <a:cs typeface="Arial" panose="020B0604020202020204" pitchFamily="34" charset="0"/>
              </a:rPr>
              <a:t>学术研究员 </a:t>
            </a:r>
            <a:r>
              <a:rPr lang="en-US" altLang="zh-CN" sz="2000" spc="-67" dirty="0">
                <a:solidFill>
                  <a:srgbClr val="FF0000"/>
                </a:solidFill>
                <a:latin typeface="BR Omega" pitchFamily="2" charset="77"/>
                <a:cs typeface="Arial" panose="020B0604020202020204" pitchFamily="34" charset="0"/>
              </a:rPr>
              <a:t>/ </a:t>
            </a:r>
            <a:r>
              <a:rPr lang="zh-CN" altLang="en-US" sz="2000" spc="-67" dirty="0">
                <a:solidFill>
                  <a:srgbClr val="FF0000"/>
                </a:solidFill>
                <a:latin typeface="BR Omega" pitchFamily="2" charset="77"/>
                <a:cs typeface="Arial" panose="020B0604020202020204" pitchFamily="34" charset="0"/>
              </a:rPr>
              <a:t>讲师</a:t>
            </a:r>
            <a:endParaRPr lang="en-US" sz="2000" spc="-67" dirty="0">
              <a:solidFill>
                <a:srgbClr val="FF0000"/>
              </a:solidFill>
              <a:latin typeface="BR Omega" pitchFamily="2" charset="77"/>
              <a:cs typeface="Arial" panose="020B0604020202020204" pitchFamily="34" charset="0"/>
            </a:endParaRPr>
          </a:p>
          <a:p>
            <a:pPr marL="228611" indent="-228611">
              <a:buFont typeface="Arial" panose="020B0604020202020204" pitchFamily="34" charset="0"/>
              <a:buChar char="•"/>
              <a:defRPr/>
            </a:pPr>
            <a:r>
              <a:rPr lang="zh-CN" altLang="en-US" sz="2000" b="1" spc="-67" dirty="0">
                <a:solidFill>
                  <a:srgbClr val="002060"/>
                </a:solidFill>
                <a:latin typeface="BR Omega" pitchFamily="2" charset="77"/>
                <a:cs typeface="Arial" panose="020B0604020202020204" pitchFamily="34" charset="0"/>
              </a:rPr>
              <a:t>专业领域</a:t>
            </a:r>
            <a:r>
              <a:rPr lang="en-US" sz="2000" b="1" spc="-67" dirty="0">
                <a:solidFill>
                  <a:srgbClr val="002060"/>
                </a:solidFill>
                <a:latin typeface="BR Omega" pitchFamily="2" charset="77"/>
                <a:cs typeface="Arial" panose="020B0604020202020204" pitchFamily="34" charset="0"/>
              </a:rPr>
              <a:t>: </a:t>
            </a:r>
            <a:r>
              <a:rPr lang="en-US" altLang="zh-CN" sz="2000" spc="-67" dirty="0">
                <a:solidFill>
                  <a:srgbClr val="FF0000"/>
                </a:solidFill>
                <a:latin typeface="BR Omega" pitchFamily="2" charset="77"/>
                <a:cs typeface="Arial" panose="020B0604020202020204" pitchFamily="34" charset="0"/>
              </a:rPr>
              <a:t>ERP </a:t>
            </a:r>
            <a:r>
              <a:rPr lang="zh-CN" altLang="en-US" sz="2000" spc="-67" dirty="0">
                <a:solidFill>
                  <a:srgbClr val="FF0000"/>
                </a:solidFill>
                <a:latin typeface="BR Omega" pitchFamily="2" charset="77"/>
                <a:cs typeface="Arial" panose="020B0604020202020204" pitchFamily="34" charset="0"/>
              </a:rPr>
              <a:t>与人力资源管理 </a:t>
            </a:r>
            <a:r>
              <a:rPr lang="en-US" altLang="zh-CN" sz="2000" spc="-67" dirty="0">
                <a:solidFill>
                  <a:srgbClr val="FF0000"/>
                </a:solidFill>
                <a:latin typeface="BR Omega" pitchFamily="2" charset="77"/>
                <a:cs typeface="Arial" panose="020B0604020202020204" pitchFamily="34" charset="0"/>
              </a:rPr>
              <a:t>/ </a:t>
            </a:r>
            <a:r>
              <a:rPr lang="zh-CN" altLang="en-US" sz="2000" spc="-67" dirty="0">
                <a:solidFill>
                  <a:srgbClr val="FF0000"/>
                </a:solidFill>
                <a:latin typeface="BR Omega" pitchFamily="2" charset="77"/>
                <a:cs typeface="Arial" panose="020B0604020202020204" pitchFamily="34" charset="0"/>
              </a:rPr>
              <a:t>保险与金融 </a:t>
            </a:r>
            <a:r>
              <a:rPr lang="en-US" altLang="zh-CN" sz="2000" spc="-67" dirty="0">
                <a:solidFill>
                  <a:srgbClr val="FF0000"/>
                </a:solidFill>
                <a:latin typeface="BR Omega" pitchFamily="2" charset="77"/>
                <a:cs typeface="Arial" panose="020B0604020202020204" pitchFamily="34" charset="0"/>
              </a:rPr>
              <a:t>/ </a:t>
            </a:r>
            <a:r>
              <a:rPr lang="zh-CN" altLang="en-US" sz="2000" spc="-67" dirty="0">
                <a:solidFill>
                  <a:srgbClr val="FF0000"/>
                </a:solidFill>
                <a:latin typeface="BR Omega" pitchFamily="2" charset="77"/>
                <a:cs typeface="Arial" panose="020B0604020202020204" pitchFamily="34" charset="0"/>
              </a:rPr>
              <a:t>教育 </a:t>
            </a:r>
            <a:r>
              <a:rPr lang="en-US" altLang="zh-CN" sz="2000" spc="-67" dirty="0">
                <a:solidFill>
                  <a:srgbClr val="FF0000"/>
                </a:solidFill>
                <a:latin typeface="BR Omega" pitchFamily="2" charset="77"/>
                <a:cs typeface="Arial" panose="020B0604020202020204" pitchFamily="34" charset="0"/>
              </a:rPr>
              <a:t>/ </a:t>
            </a:r>
            <a:r>
              <a:rPr lang="zh-CN" altLang="en-US" sz="2000" spc="-67" dirty="0">
                <a:solidFill>
                  <a:srgbClr val="FF0000"/>
                </a:solidFill>
                <a:latin typeface="BR Omega" pitchFamily="2" charset="77"/>
                <a:cs typeface="Arial" panose="020B0604020202020204" pitchFamily="34" charset="0"/>
              </a:rPr>
              <a:t>医学与临床 </a:t>
            </a:r>
            <a:r>
              <a:rPr lang="en-US" altLang="zh-CN" sz="2000" spc="-67" dirty="0">
                <a:solidFill>
                  <a:srgbClr val="FF0000"/>
                </a:solidFill>
                <a:latin typeface="BR Omega" pitchFamily="2" charset="77"/>
                <a:cs typeface="Arial" panose="020B0604020202020204" pitchFamily="34" charset="0"/>
              </a:rPr>
              <a:t>/ </a:t>
            </a:r>
            <a:r>
              <a:rPr lang="zh-CN" altLang="en-US" sz="2000" spc="-67" dirty="0">
                <a:solidFill>
                  <a:srgbClr val="FF0000"/>
                </a:solidFill>
                <a:latin typeface="BR Omega" pitchFamily="2" charset="77"/>
                <a:cs typeface="Arial" panose="020B0604020202020204" pitchFamily="34" charset="0"/>
              </a:rPr>
              <a:t>加密货币 </a:t>
            </a:r>
            <a:r>
              <a:rPr lang="en-US" altLang="zh-CN" sz="2000" spc="-67" dirty="0">
                <a:solidFill>
                  <a:srgbClr val="FF0000"/>
                </a:solidFill>
                <a:latin typeface="BR Omega" pitchFamily="2" charset="77"/>
                <a:cs typeface="Arial" panose="020B0604020202020204" pitchFamily="34" charset="0"/>
              </a:rPr>
              <a:t>/ </a:t>
            </a:r>
            <a:r>
              <a:rPr lang="zh-CN" altLang="en-US" sz="2000" spc="-67" dirty="0">
                <a:solidFill>
                  <a:srgbClr val="FF0000"/>
                </a:solidFill>
                <a:latin typeface="BR Omega" pitchFamily="2" charset="77"/>
                <a:cs typeface="Arial" panose="020B0604020202020204" pitchFamily="34" charset="0"/>
              </a:rPr>
              <a:t>人工智能与机器学习</a:t>
            </a:r>
            <a:r>
              <a:rPr lang="en-US" sz="2000" spc="-67" dirty="0">
                <a:solidFill>
                  <a:srgbClr val="FF0000"/>
                </a:solidFill>
                <a:latin typeface="BR Omega" pitchFamily="2" charset="77"/>
                <a:cs typeface="Arial" panose="020B0604020202020204" pitchFamily="34" charset="0"/>
              </a:rPr>
              <a:t> </a:t>
            </a:r>
          </a:p>
          <a:p>
            <a:pPr marL="228611" indent="-228611">
              <a:buFont typeface="Arial" panose="020B0604020202020204" pitchFamily="34" charset="0"/>
              <a:buChar char="•"/>
              <a:defRPr/>
            </a:pPr>
            <a:r>
              <a:rPr lang="zh-CN" altLang="en-US" sz="2000" b="1" spc="-67" dirty="0">
                <a:solidFill>
                  <a:srgbClr val="002060"/>
                </a:solidFill>
                <a:latin typeface="BR Omega" pitchFamily="2" charset="77"/>
                <a:cs typeface="Arial" panose="020B0604020202020204" pitchFamily="34" charset="0"/>
              </a:rPr>
              <a:t>工作年限</a:t>
            </a:r>
            <a:r>
              <a:rPr lang="en-US" sz="2000" b="1" spc="-67" dirty="0">
                <a:solidFill>
                  <a:srgbClr val="002060"/>
                </a:solidFill>
                <a:latin typeface="BR Omega" pitchFamily="2" charset="77"/>
                <a:cs typeface="Arial" panose="020B0604020202020204" pitchFamily="34" charset="0"/>
              </a:rPr>
              <a:t>: </a:t>
            </a:r>
            <a:r>
              <a:rPr lang="en-US" sz="2000" spc="-67" dirty="0">
                <a:solidFill>
                  <a:srgbClr val="FF0000"/>
                </a:solidFill>
                <a:latin typeface="BR Omega" pitchFamily="2" charset="77"/>
                <a:cs typeface="Arial" panose="020B0604020202020204" pitchFamily="34" charset="0"/>
              </a:rPr>
              <a:t>+16 </a:t>
            </a:r>
            <a:r>
              <a:rPr lang="zh-CN" altLang="en-US" sz="2000" spc="-67" dirty="0">
                <a:solidFill>
                  <a:srgbClr val="FF0000"/>
                </a:solidFill>
                <a:latin typeface="BR Omega" pitchFamily="2" charset="77"/>
                <a:cs typeface="Arial" panose="020B0604020202020204" pitchFamily="34" charset="0"/>
              </a:rPr>
              <a:t>年</a:t>
            </a:r>
            <a:endParaRPr lang="en-US" sz="2000" spc="-67" dirty="0">
              <a:solidFill>
                <a:srgbClr val="FF0000"/>
              </a:solidFill>
              <a:latin typeface="BR Omega" pitchFamily="2" charset="77"/>
              <a:cs typeface="Arial" panose="020B0604020202020204" pitchFamily="34" charset="0"/>
            </a:endParaRPr>
          </a:p>
          <a:p>
            <a:pPr marL="228611" indent="-228611">
              <a:buFont typeface="Arial" panose="020B0604020202020204" pitchFamily="34" charset="0"/>
              <a:buChar char="•"/>
              <a:defRPr/>
            </a:pPr>
            <a:r>
              <a:rPr lang="zh-CN" altLang="en-US" sz="2000" b="1" spc="-67" dirty="0">
                <a:solidFill>
                  <a:srgbClr val="002060"/>
                </a:solidFill>
                <a:latin typeface="BR Omega" pitchFamily="2" charset="77"/>
                <a:cs typeface="Arial" panose="020B0604020202020204" pitchFamily="34" charset="0"/>
              </a:rPr>
              <a:t>电子邮箱</a:t>
            </a:r>
            <a:r>
              <a:rPr lang="en-US" sz="2000" b="1" spc="-67" dirty="0">
                <a:solidFill>
                  <a:srgbClr val="002060"/>
                </a:solidFill>
                <a:latin typeface="BR Omega" pitchFamily="2" charset="77"/>
                <a:cs typeface="Arial" panose="020B0604020202020204" pitchFamily="34" charset="0"/>
              </a:rPr>
              <a:t>:</a:t>
            </a:r>
          </a:p>
          <a:p>
            <a:pPr lvl="1">
              <a:defRPr/>
            </a:pPr>
            <a:r>
              <a:rPr lang="en-US" i="1" spc="-67" dirty="0">
                <a:solidFill>
                  <a:srgbClr val="FF0000"/>
                </a:solidFill>
                <a:latin typeface="BR Omega" pitchFamily="2" charset="77"/>
                <a:cs typeface="Arial" panose="020B0604020202020204" pitchFamily="34" charset="0"/>
              </a:rPr>
              <a:t>lnhieu@hcmute.edu.vn</a:t>
            </a:r>
          </a:p>
          <a:p>
            <a:pPr lvl="1">
              <a:defRPr/>
            </a:pPr>
            <a:r>
              <a:rPr lang="en-US" i="1" spc="-67" dirty="0">
                <a:solidFill>
                  <a:srgbClr val="002060"/>
                </a:solidFill>
                <a:latin typeface="BR Omega" pitchFamily="2" charset="77"/>
                <a:cs typeface="Arial" panose="020B0604020202020204" pitchFamily="34" charset="0"/>
              </a:rPr>
              <a:t>lnhieu@ufm.edu.vn</a:t>
            </a:r>
          </a:p>
          <a:p>
            <a:pPr lvl="1">
              <a:defRPr/>
            </a:pPr>
            <a:r>
              <a:rPr lang="en-US" i="1" spc="-67" dirty="0">
                <a:solidFill>
                  <a:srgbClr val="002060"/>
                </a:solidFill>
                <a:latin typeface="BR Omega" pitchFamily="2" charset="77"/>
                <a:cs typeface="Arial" panose="020B0604020202020204" pitchFamily="34" charset="0"/>
              </a:rPr>
              <a:t>hieuln@vhu.edu.vn</a:t>
            </a:r>
          </a:p>
          <a:p>
            <a:pPr lvl="1">
              <a:defRPr/>
            </a:pPr>
            <a:r>
              <a:rPr lang="en-US" i="1" spc="-67" dirty="0">
                <a:solidFill>
                  <a:srgbClr val="002060"/>
                </a:solidFill>
                <a:latin typeface="BR Omega" pitchFamily="2" charset="77"/>
                <a:cs typeface="Arial" panose="020B0604020202020204" pitchFamily="34" charset="0"/>
              </a:rPr>
              <a:t>hieu.le@oude.edu.vn</a:t>
            </a:r>
          </a:p>
          <a:p>
            <a:pPr lvl="1">
              <a:defRPr/>
            </a:pPr>
            <a:endParaRPr lang="en-US" sz="2000" b="1" spc="-67" dirty="0">
              <a:solidFill>
                <a:srgbClr val="002060"/>
              </a:solidFill>
              <a:latin typeface="BR Omega" pitchFamily="2" charset="77"/>
              <a:cs typeface="Arial" panose="020B0604020202020204" pitchFamily="34" charset="0"/>
            </a:endParaRPr>
          </a:p>
          <a:p>
            <a:pPr lvl="1">
              <a:defRPr/>
            </a:pPr>
            <a:r>
              <a:rPr lang="zh-CN" altLang="en-US" sz="2000" b="1" spc="-67" dirty="0">
                <a:solidFill>
                  <a:srgbClr val="002060"/>
                </a:solidFill>
                <a:latin typeface="BR Omega" pitchFamily="2" charset="77"/>
                <a:cs typeface="Arial" panose="020B0604020202020204" pitchFamily="34" charset="0"/>
              </a:rPr>
              <a:t>工作单位</a:t>
            </a:r>
            <a:r>
              <a:rPr lang="en-US" sz="2000" b="1" spc="-67" dirty="0">
                <a:solidFill>
                  <a:srgbClr val="002060"/>
                </a:solidFill>
                <a:latin typeface="BR Omega" pitchFamily="2" charset="77"/>
                <a:cs typeface="Arial" panose="020B0604020202020204" pitchFamily="34" charset="0"/>
              </a:rPr>
              <a:t>: </a:t>
            </a:r>
          </a:p>
          <a:p>
            <a:pPr lvl="1">
              <a:defRPr/>
            </a:pPr>
            <a:endParaRPr lang="en-US" i="1" spc="-67" dirty="0">
              <a:solidFill>
                <a:srgbClr val="002060"/>
              </a:solidFill>
              <a:latin typeface="BR Omega" pitchFamily="2" charset="77"/>
              <a:cs typeface="Arial" panose="020B0604020202020204" pitchFamily="34" charset="0"/>
            </a:endParaRPr>
          </a:p>
        </p:txBody>
      </p:sp>
      <p:pic>
        <p:nvPicPr>
          <p:cNvPr id="2" name="Picture 1">
            <a:extLst>
              <a:ext uri="{FF2B5EF4-FFF2-40B4-BE49-F238E27FC236}">
                <a16:creationId xmlns:a16="http://schemas.microsoft.com/office/drawing/2014/main" id="{ACBC715C-70C9-BFF4-A01C-8FB8EAB61893}"/>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17120" t="34804" r="10360" b="35992"/>
          <a:stretch/>
        </p:blipFill>
        <p:spPr>
          <a:xfrm>
            <a:off x="4348215" y="5013013"/>
            <a:ext cx="1995091" cy="570026"/>
          </a:xfrm>
          <a:prstGeom prst="rect">
            <a:avLst/>
          </a:prstGeom>
        </p:spPr>
      </p:pic>
      <p:pic>
        <p:nvPicPr>
          <p:cNvPr id="6" name="Picture 5">
            <a:extLst>
              <a:ext uri="{FF2B5EF4-FFF2-40B4-BE49-F238E27FC236}">
                <a16:creationId xmlns:a16="http://schemas.microsoft.com/office/drawing/2014/main" id="{D9EC8717-2F40-DD1F-646A-10A32A4C39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7356" y="4805122"/>
            <a:ext cx="653824" cy="865353"/>
          </a:xfrm>
          <a:prstGeom prst="rect">
            <a:avLst/>
          </a:prstGeom>
        </p:spPr>
      </p:pic>
      <p:pic>
        <p:nvPicPr>
          <p:cNvPr id="8" name="Picture 7">
            <a:extLst>
              <a:ext uri="{FF2B5EF4-FFF2-40B4-BE49-F238E27FC236}">
                <a16:creationId xmlns:a16="http://schemas.microsoft.com/office/drawing/2014/main" id="{77F47406-6F9A-6C5A-E425-DE5AF7C0D4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01396" y="4036065"/>
            <a:ext cx="1212457" cy="659650"/>
          </a:xfrm>
          <a:prstGeom prst="rect">
            <a:avLst/>
          </a:prstGeom>
        </p:spPr>
      </p:pic>
      <p:pic>
        <p:nvPicPr>
          <p:cNvPr id="10" name="Picture 9">
            <a:extLst>
              <a:ext uri="{FF2B5EF4-FFF2-40B4-BE49-F238E27FC236}">
                <a16:creationId xmlns:a16="http://schemas.microsoft.com/office/drawing/2014/main" id="{AD3A6A11-CCDC-B66F-202B-2BB1561748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99568" y="4870787"/>
            <a:ext cx="997320" cy="726204"/>
          </a:xfrm>
          <a:prstGeom prst="rect">
            <a:avLst/>
          </a:prstGeom>
        </p:spPr>
      </p:pic>
      <p:pic>
        <p:nvPicPr>
          <p:cNvPr id="12" name="Picture 11">
            <a:extLst>
              <a:ext uri="{FF2B5EF4-FFF2-40B4-BE49-F238E27FC236}">
                <a16:creationId xmlns:a16="http://schemas.microsoft.com/office/drawing/2014/main" id="{9325E45A-14DD-090B-1D70-DFBBDEF936C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43492" y="4013200"/>
            <a:ext cx="984936" cy="626778"/>
          </a:xfrm>
          <a:prstGeom prst="rect">
            <a:avLst/>
          </a:prstGeom>
        </p:spPr>
      </p:pic>
      <p:pic>
        <p:nvPicPr>
          <p:cNvPr id="1026" name="Picture 2">
            <a:extLst>
              <a:ext uri="{FF2B5EF4-FFF2-40B4-BE49-F238E27FC236}">
                <a16:creationId xmlns:a16="http://schemas.microsoft.com/office/drawing/2014/main" id="{80BF64F0-D0B9-9522-D856-A968BE1335D7}"/>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9844" r="79275" b="1"/>
          <a:stretch/>
        </p:blipFill>
        <p:spPr bwMode="auto">
          <a:xfrm>
            <a:off x="8477742" y="3902836"/>
            <a:ext cx="921230" cy="80953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FCB251D6-7A70-5EEF-7A12-E600A8AD48B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200555" y="4093566"/>
            <a:ext cx="2028484" cy="758957"/>
          </a:xfrm>
          <a:prstGeom prst="rect">
            <a:avLst/>
          </a:prstGeom>
        </p:spPr>
      </p:pic>
      <p:pic>
        <p:nvPicPr>
          <p:cNvPr id="15" name="Picture 14">
            <a:extLst>
              <a:ext uri="{FF2B5EF4-FFF2-40B4-BE49-F238E27FC236}">
                <a16:creationId xmlns:a16="http://schemas.microsoft.com/office/drawing/2014/main" id="{F2687A64-33CB-D7DC-806A-6AC5F780B24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698887" y="4017277"/>
            <a:ext cx="758957" cy="758957"/>
          </a:xfrm>
          <a:prstGeom prst="rect">
            <a:avLst/>
          </a:prstGeom>
        </p:spPr>
      </p:pic>
      <p:pic>
        <p:nvPicPr>
          <p:cNvPr id="17" name="Picture 16">
            <a:extLst>
              <a:ext uri="{FF2B5EF4-FFF2-40B4-BE49-F238E27FC236}">
                <a16:creationId xmlns:a16="http://schemas.microsoft.com/office/drawing/2014/main" id="{9C128018-80C9-B4CE-3AB1-EA828B19920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627617" y="3987276"/>
            <a:ext cx="807196" cy="807196"/>
          </a:xfrm>
          <a:prstGeom prst="rect">
            <a:avLst/>
          </a:prstGeom>
        </p:spPr>
      </p:pic>
      <p:pic>
        <p:nvPicPr>
          <p:cNvPr id="7" name="Picture 2">
            <a:extLst>
              <a:ext uri="{FF2B5EF4-FFF2-40B4-BE49-F238E27FC236}">
                <a16:creationId xmlns:a16="http://schemas.microsoft.com/office/drawing/2014/main" id="{921ADD9A-BBF6-7DE3-6F4F-F73724FDE78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9759" y="1101667"/>
            <a:ext cx="1560321" cy="156032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5DCFC442-FDAB-0CC7-4BFE-D67156206240}"/>
              </a:ex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8593623" y="4815966"/>
            <a:ext cx="726204" cy="726204"/>
          </a:xfrm>
          <a:prstGeom prst="rect">
            <a:avLst/>
          </a:prstGeom>
        </p:spPr>
      </p:pic>
      <p:pic>
        <p:nvPicPr>
          <p:cNvPr id="1032" name="Picture 8" descr="Tập tin:Logo Trường Đại học kinh tế - Luật (UEL), ĐHQG-HCM ...">
            <a:extLst>
              <a:ext uri="{FF2B5EF4-FFF2-40B4-BE49-F238E27FC236}">
                <a16:creationId xmlns:a16="http://schemas.microsoft.com/office/drawing/2014/main" id="{67DE6323-8384-F695-93DF-42131F6FDA6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436981" y="4727822"/>
            <a:ext cx="855217" cy="855217"/>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Nhận diện thương hiệu UHS">
            <a:extLst>
              <a:ext uri="{FF2B5EF4-FFF2-40B4-BE49-F238E27FC236}">
                <a16:creationId xmlns:a16="http://schemas.microsoft.com/office/drawing/2014/main" id="{C6B3A0B8-C5CA-5456-F2B0-4F0FFFF8BFE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543492" y="4686951"/>
            <a:ext cx="855219" cy="855219"/>
          </a:xfrm>
          <a:prstGeom prst="rect">
            <a:avLst/>
          </a:prstGeom>
          <a:noFill/>
          <a:extLst>
            <a:ext uri="{909E8E84-426E-40DD-AFC4-6F175D3DCCD1}">
              <a14:hiddenFill xmlns:a14="http://schemas.microsoft.com/office/drawing/2010/main">
                <a:solidFill>
                  <a:srgbClr val="FFFFFF"/>
                </a:solidFill>
              </a14:hiddenFill>
            </a:ext>
          </a:extLst>
        </p:spPr>
      </p:pic>
      <p:sp>
        <p:nvSpPr>
          <p:cNvPr id="22" name="Title 3">
            <a:extLst>
              <a:ext uri="{FF2B5EF4-FFF2-40B4-BE49-F238E27FC236}">
                <a16:creationId xmlns:a16="http://schemas.microsoft.com/office/drawing/2014/main" id="{5B02AFA5-D7AA-1F48-F87B-84DC95AAF4AB}"/>
              </a:ext>
            </a:extLst>
          </p:cNvPr>
          <p:cNvSpPr>
            <a:spLocks noGrp="1"/>
          </p:cNvSpPr>
          <p:nvPr>
            <p:ph type="title"/>
          </p:nvPr>
        </p:nvSpPr>
        <p:spPr>
          <a:xfrm>
            <a:off x="108246" y="13730"/>
            <a:ext cx="11969404" cy="936361"/>
          </a:xfrm>
        </p:spPr>
        <p:txBody>
          <a:bodyPr>
            <a:normAutofit/>
          </a:bodyPr>
          <a:lstStyle/>
          <a:p>
            <a:r>
              <a:rPr lang="en-US" sz="3600" b="1" dirty="0"/>
              <a:t>PHỤ TRÁCH HỌC PHẦN</a:t>
            </a:r>
          </a:p>
        </p:txBody>
      </p:sp>
    </p:spTree>
    <p:extLst>
      <p:ext uri="{BB962C8B-B14F-4D97-AF65-F5344CB8AC3E}">
        <p14:creationId xmlns:p14="http://schemas.microsoft.com/office/powerpoint/2010/main" val="3332373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0.79492 1.11111E-6 L -2.29167E-6 1.11111E-6 " pathEditMode="relative" rAng="0" ptsTypes="AA">
                                      <p:cBhvr>
                                        <p:cTn id="6" dur="1000" fill="hold"/>
                                        <p:tgtEl>
                                          <p:spTgt spid="4"/>
                                        </p:tgtEl>
                                        <p:attrNameLst>
                                          <p:attrName>ppt_x</p:attrName>
                                          <p:attrName>ppt_y</p:attrName>
                                        </p:attrNameLst>
                                      </p:cBhvr>
                                      <p:rCtr x="3975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68C75-1BA1-16DA-2FD9-338ADC60677B}"/>
              </a:ext>
            </a:extLst>
          </p:cNvPr>
          <p:cNvSpPr>
            <a:spLocks noGrp="1"/>
          </p:cNvSpPr>
          <p:nvPr>
            <p:ph type="title"/>
          </p:nvPr>
        </p:nvSpPr>
        <p:spPr/>
        <p:txBody>
          <a:bodyPr/>
          <a:lstStyle/>
          <a:p>
            <a:r>
              <a:rPr lang="en-US" dirty="0" err="1"/>
              <a:t>Nội</a:t>
            </a:r>
            <a:r>
              <a:rPr lang="en-US" dirty="0"/>
              <a:t> dung </a:t>
            </a:r>
            <a:r>
              <a:rPr lang="en-US" dirty="0" err="1"/>
              <a:t>chính</a:t>
            </a:r>
            <a:endParaRPr lang="en-US" dirty="0"/>
          </a:p>
        </p:txBody>
      </p:sp>
      <p:sp>
        <p:nvSpPr>
          <p:cNvPr id="3" name="Content Placeholder 2">
            <a:extLst>
              <a:ext uri="{FF2B5EF4-FFF2-40B4-BE49-F238E27FC236}">
                <a16:creationId xmlns:a16="http://schemas.microsoft.com/office/drawing/2014/main" id="{D39876BB-8C93-F11B-AF86-F1CF2F61E409}"/>
              </a:ext>
            </a:extLst>
          </p:cNvPr>
          <p:cNvSpPr>
            <a:spLocks noGrp="1"/>
          </p:cNvSpPr>
          <p:nvPr>
            <p:ph idx="1"/>
          </p:nvPr>
        </p:nvSpPr>
        <p:spPr/>
        <p:txBody>
          <a:bodyPr/>
          <a:lstStyle/>
          <a:p>
            <a:pPr marL="514350" indent="-514350">
              <a:buFont typeface="+mj-lt"/>
              <a:buAutoNum type="arabicPeriod"/>
            </a:pPr>
            <a:r>
              <a:rPr lang="vi-VN" dirty="0"/>
              <a:t>Nội dung bài học mới: Chương 7 (Chọn mẫu &amp; Xử lý số liệu).</a:t>
            </a:r>
          </a:p>
          <a:p>
            <a:pPr marL="514350" indent="-514350">
              <a:buFont typeface="+mj-lt"/>
              <a:buAutoNum type="arabicPeriod"/>
            </a:pPr>
            <a:r>
              <a:rPr lang="vi-VN" dirty="0"/>
              <a:t>Hệ thống hóa kiến thức toàn khóa học (Chương 1 - 7).</a:t>
            </a:r>
          </a:p>
          <a:p>
            <a:pPr marL="514350" indent="-514350">
              <a:buFont typeface="+mj-lt"/>
              <a:buAutoNum type="arabicPeriod"/>
            </a:pPr>
            <a:r>
              <a:rPr lang="vi-VN" dirty="0"/>
              <a:t>Hướng dẫn chi tiết bài thi cuối kỳ (Viết đề cương).</a:t>
            </a:r>
          </a:p>
          <a:p>
            <a:pPr marL="514350" indent="-514350">
              <a:buFont typeface="+mj-lt"/>
              <a:buAutoNum type="arabicPeriod"/>
            </a:pPr>
            <a:r>
              <a:rPr lang="vi-VN" dirty="0"/>
              <a:t>Các lỗi thường gặp &amp; Cách khắc phục.</a:t>
            </a:r>
          </a:p>
          <a:p>
            <a:pPr marL="514350" indent="-514350">
              <a:buFont typeface="+mj-lt"/>
              <a:buAutoNum type="arabicPeriod"/>
            </a:pPr>
            <a:r>
              <a:rPr lang="vi-VN" dirty="0"/>
              <a:t>Giải đáp thắc mắc (Q&amp;A).</a:t>
            </a:r>
            <a:endParaRPr lang="en-US" dirty="0"/>
          </a:p>
        </p:txBody>
      </p:sp>
      <p:sp>
        <p:nvSpPr>
          <p:cNvPr id="4" name="Footer Placeholder 3">
            <a:extLst>
              <a:ext uri="{FF2B5EF4-FFF2-40B4-BE49-F238E27FC236}">
                <a16:creationId xmlns:a16="http://schemas.microsoft.com/office/drawing/2014/main" id="{8A93F95F-9897-66AC-6F46-8561BEE6F979}"/>
              </a:ext>
            </a:extLst>
          </p:cNvPr>
          <p:cNvSpPr>
            <a:spLocks noGrp="1"/>
          </p:cNvSpPr>
          <p:nvPr>
            <p:ph type="ftr" sz="quarter" idx="11"/>
          </p:nvPr>
        </p:nvSpPr>
        <p:spPr/>
        <p:txBody>
          <a:bodyPr/>
          <a:lstStyle/>
          <a:p>
            <a:r>
              <a:rPr lang="zh-CN" altLang="en-US" dirty="0"/>
              <a:t>科学研究方法</a:t>
            </a:r>
            <a:endParaRPr lang="en-US" dirty="0"/>
          </a:p>
        </p:txBody>
      </p:sp>
      <p:sp>
        <p:nvSpPr>
          <p:cNvPr id="5" name="Slide Number Placeholder 4">
            <a:extLst>
              <a:ext uri="{FF2B5EF4-FFF2-40B4-BE49-F238E27FC236}">
                <a16:creationId xmlns:a16="http://schemas.microsoft.com/office/drawing/2014/main" id="{A6C2B4EF-EF82-667F-0130-2F83864D7D15}"/>
              </a:ext>
            </a:extLst>
          </p:cNvPr>
          <p:cNvSpPr>
            <a:spLocks noGrp="1"/>
          </p:cNvSpPr>
          <p:nvPr>
            <p:ph type="sldNum" sz="quarter" idx="12"/>
          </p:nvPr>
        </p:nvSpPr>
        <p:spPr/>
        <p:txBody>
          <a:bodyPr/>
          <a:lstStyle/>
          <a:p>
            <a:fld id="{A71D4CCC-BB3A-4D93-86F3-16B4E3CF782A}" type="slidenum">
              <a:rPr lang="en-US" smtClean="0"/>
              <a:t>3</a:t>
            </a:fld>
            <a:endParaRPr lang="en-US"/>
          </a:p>
        </p:txBody>
      </p:sp>
    </p:spTree>
    <p:extLst>
      <p:ext uri="{BB962C8B-B14F-4D97-AF65-F5344CB8AC3E}">
        <p14:creationId xmlns:p14="http://schemas.microsoft.com/office/powerpoint/2010/main" val="828912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657D7-4042-974D-F164-70118F0E90BF}"/>
              </a:ext>
            </a:extLst>
          </p:cNvPr>
          <p:cNvSpPr>
            <a:spLocks noGrp="1"/>
          </p:cNvSpPr>
          <p:nvPr>
            <p:ph type="title"/>
          </p:nvPr>
        </p:nvSpPr>
        <p:spPr/>
        <p:txBody>
          <a:bodyPr/>
          <a:lstStyle/>
          <a:p>
            <a:r>
              <a:rPr lang="en-US" b="1" dirty="0" err="1"/>
              <a:t>Kiểm</a:t>
            </a:r>
            <a:r>
              <a:rPr lang="en-US" b="1" dirty="0"/>
              <a:t> </a:t>
            </a:r>
            <a:r>
              <a:rPr lang="en-US" b="1" dirty="0" err="1"/>
              <a:t>tra</a:t>
            </a:r>
            <a:r>
              <a:rPr lang="en-US" b="1" dirty="0"/>
              <a:t> </a:t>
            </a:r>
            <a:r>
              <a:rPr lang="en-US" b="1" dirty="0" err="1"/>
              <a:t>tiến</a:t>
            </a:r>
            <a:r>
              <a:rPr lang="en-US" b="1" dirty="0"/>
              <a:t> </a:t>
            </a:r>
            <a:r>
              <a:rPr lang="en-US" b="1" dirty="0" err="1"/>
              <a:t>độ</a:t>
            </a:r>
            <a:r>
              <a:rPr lang="en-US" b="1" dirty="0"/>
              <a:t> </a:t>
            </a:r>
            <a:r>
              <a:rPr lang="en-US" b="1" dirty="0" err="1"/>
              <a:t>học</a:t>
            </a:r>
            <a:r>
              <a:rPr lang="en-US" b="1" dirty="0"/>
              <a:t> </a:t>
            </a:r>
            <a:r>
              <a:rPr lang="en-US" b="1" dirty="0" err="1"/>
              <a:t>tập</a:t>
            </a:r>
            <a:endParaRPr lang="en-US" dirty="0"/>
          </a:p>
        </p:txBody>
      </p:sp>
      <p:sp>
        <p:nvSpPr>
          <p:cNvPr id="3" name="Content Placeholder 2">
            <a:extLst>
              <a:ext uri="{FF2B5EF4-FFF2-40B4-BE49-F238E27FC236}">
                <a16:creationId xmlns:a16="http://schemas.microsoft.com/office/drawing/2014/main" id="{6EB5A3B5-95F4-5FF0-3CE7-744DCEC9F09B}"/>
              </a:ext>
            </a:extLst>
          </p:cNvPr>
          <p:cNvSpPr>
            <a:spLocks noGrp="1"/>
          </p:cNvSpPr>
          <p:nvPr>
            <p:ph idx="1"/>
          </p:nvPr>
        </p:nvSpPr>
        <p:spPr/>
        <p:txBody>
          <a:bodyPr/>
          <a:lstStyle/>
          <a:p>
            <a:r>
              <a:rPr lang="en-US" dirty="0" err="1"/>
              <a:t>Rà</a:t>
            </a:r>
            <a:r>
              <a:rPr lang="en-US" dirty="0"/>
              <a:t> </a:t>
            </a:r>
            <a:r>
              <a:rPr lang="en-US" dirty="0" err="1"/>
              <a:t>soát</a:t>
            </a:r>
            <a:r>
              <a:rPr lang="en-US" dirty="0"/>
              <a:t> </a:t>
            </a:r>
            <a:r>
              <a:rPr lang="en-US" dirty="0" err="1"/>
              <a:t>tình</a:t>
            </a:r>
            <a:r>
              <a:rPr lang="en-US" dirty="0"/>
              <a:t> </a:t>
            </a:r>
            <a:r>
              <a:rPr lang="en-US" dirty="0" err="1"/>
              <a:t>hình</a:t>
            </a:r>
            <a:r>
              <a:rPr lang="en-US" dirty="0"/>
              <a:t> </a:t>
            </a:r>
            <a:r>
              <a:rPr lang="en-US" dirty="0" err="1"/>
              <a:t>hoàn</a:t>
            </a:r>
            <a:r>
              <a:rPr lang="en-US" dirty="0"/>
              <a:t> </a:t>
            </a:r>
            <a:r>
              <a:rPr lang="en-US" dirty="0" err="1"/>
              <a:t>thành</a:t>
            </a:r>
            <a:r>
              <a:rPr lang="en-US" dirty="0"/>
              <a:t> </a:t>
            </a:r>
            <a:r>
              <a:rPr lang="en-US" dirty="0" err="1"/>
              <a:t>bài</a:t>
            </a:r>
            <a:r>
              <a:rPr lang="en-US" dirty="0"/>
              <a:t> </a:t>
            </a:r>
            <a:r>
              <a:rPr lang="en-US" dirty="0" err="1"/>
              <a:t>giảng</a:t>
            </a:r>
            <a:r>
              <a:rPr lang="en-US" dirty="0"/>
              <a:t> Video </a:t>
            </a:r>
            <a:r>
              <a:rPr lang="en-US" dirty="0" err="1"/>
              <a:t>trên</a:t>
            </a:r>
            <a:r>
              <a:rPr lang="en-US" dirty="0"/>
              <a:t> LMS.</a:t>
            </a:r>
          </a:p>
          <a:p>
            <a:r>
              <a:rPr lang="en-US" dirty="0" err="1"/>
              <a:t>Tình</a:t>
            </a:r>
            <a:r>
              <a:rPr lang="en-US" dirty="0"/>
              <a:t> </a:t>
            </a:r>
            <a:r>
              <a:rPr lang="en-US" dirty="0" err="1"/>
              <a:t>hình</a:t>
            </a:r>
            <a:r>
              <a:rPr lang="en-US" dirty="0"/>
              <a:t> </a:t>
            </a:r>
            <a:r>
              <a:rPr lang="en-US" dirty="0" err="1"/>
              <a:t>làm</a:t>
            </a:r>
            <a:r>
              <a:rPr lang="en-US" dirty="0"/>
              <a:t> </a:t>
            </a:r>
            <a:r>
              <a:rPr lang="en-US" dirty="0" err="1"/>
              <a:t>các</a:t>
            </a:r>
            <a:r>
              <a:rPr lang="en-US" dirty="0"/>
              <a:t> </a:t>
            </a:r>
            <a:r>
              <a:rPr lang="en-US" dirty="0" err="1"/>
              <a:t>bài</a:t>
            </a:r>
            <a:r>
              <a:rPr lang="en-US" dirty="0"/>
              <a:t> </a:t>
            </a:r>
            <a:r>
              <a:rPr lang="en-US" dirty="0" err="1"/>
              <a:t>kiểm</a:t>
            </a:r>
            <a:r>
              <a:rPr lang="en-US" dirty="0"/>
              <a:t> </a:t>
            </a:r>
            <a:r>
              <a:rPr lang="en-US" dirty="0" err="1"/>
              <a:t>tra</a:t>
            </a:r>
            <a:r>
              <a:rPr lang="en-US" dirty="0"/>
              <a:t> </a:t>
            </a:r>
            <a:r>
              <a:rPr lang="en-US" dirty="0" err="1"/>
              <a:t>trắc</a:t>
            </a:r>
            <a:r>
              <a:rPr lang="en-US" dirty="0"/>
              <a:t> </a:t>
            </a:r>
            <a:r>
              <a:rPr lang="en-US" dirty="0" err="1"/>
              <a:t>nghiệm</a:t>
            </a:r>
            <a:r>
              <a:rPr lang="en-US" dirty="0"/>
              <a:t> </a:t>
            </a:r>
            <a:r>
              <a:rPr lang="en-US" dirty="0" err="1"/>
              <a:t>định</a:t>
            </a:r>
            <a:r>
              <a:rPr lang="en-US" dirty="0"/>
              <a:t> </a:t>
            </a:r>
            <a:r>
              <a:rPr lang="en-US" dirty="0" err="1"/>
              <a:t>kỳ</a:t>
            </a:r>
            <a:r>
              <a:rPr lang="en-US" dirty="0"/>
              <a:t> (</a:t>
            </a:r>
            <a:r>
              <a:rPr lang="en-US" dirty="0" err="1"/>
              <a:t>Quá</a:t>
            </a:r>
            <a:r>
              <a:rPr lang="en-US" dirty="0"/>
              <a:t> </a:t>
            </a:r>
            <a:r>
              <a:rPr lang="en-US" dirty="0" err="1"/>
              <a:t>trình</a:t>
            </a:r>
            <a:r>
              <a:rPr lang="en-US" dirty="0"/>
              <a:t> 40%).</a:t>
            </a:r>
          </a:p>
          <a:p>
            <a:r>
              <a:rPr lang="en-US" dirty="0" err="1"/>
              <a:t>Nhắc</a:t>
            </a:r>
            <a:r>
              <a:rPr lang="en-US" dirty="0"/>
              <a:t> </a:t>
            </a:r>
            <a:r>
              <a:rPr lang="en-US" dirty="0" err="1"/>
              <a:t>nhở</a:t>
            </a:r>
            <a:r>
              <a:rPr lang="en-US" dirty="0"/>
              <a:t> </a:t>
            </a:r>
            <a:r>
              <a:rPr lang="en-US" dirty="0" err="1"/>
              <a:t>hạn</a:t>
            </a:r>
            <a:r>
              <a:rPr lang="en-US" dirty="0"/>
              <a:t> </a:t>
            </a:r>
            <a:r>
              <a:rPr lang="en-US" dirty="0" err="1"/>
              <a:t>chót</a:t>
            </a:r>
            <a:r>
              <a:rPr lang="en-US" dirty="0"/>
              <a:t> </a:t>
            </a:r>
            <a:r>
              <a:rPr lang="en-US" dirty="0" err="1"/>
              <a:t>hoàn</a:t>
            </a:r>
            <a:r>
              <a:rPr lang="en-US" dirty="0"/>
              <a:t> </a:t>
            </a:r>
            <a:r>
              <a:rPr lang="en-US" dirty="0" err="1"/>
              <a:t>thành</a:t>
            </a:r>
            <a:r>
              <a:rPr lang="en-US" dirty="0"/>
              <a:t> </a:t>
            </a:r>
            <a:r>
              <a:rPr lang="en-US" dirty="0" err="1"/>
              <a:t>các</a:t>
            </a:r>
            <a:r>
              <a:rPr lang="en-US" dirty="0"/>
              <a:t> </a:t>
            </a:r>
            <a:r>
              <a:rPr lang="en-US" dirty="0" err="1"/>
              <a:t>bài</a:t>
            </a:r>
            <a:r>
              <a:rPr lang="en-US" dirty="0"/>
              <a:t> </a:t>
            </a:r>
            <a:r>
              <a:rPr lang="en-US" dirty="0" err="1"/>
              <a:t>tập</a:t>
            </a:r>
            <a:r>
              <a:rPr lang="en-US" dirty="0"/>
              <a:t> </a:t>
            </a:r>
            <a:r>
              <a:rPr lang="en-US" dirty="0" err="1"/>
              <a:t>còn</a:t>
            </a:r>
            <a:r>
              <a:rPr lang="en-US" dirty="0"/>
              <a:t> </a:t>
            </a:r>
            <a:r>
              <a:rPr lang="en-US" dirty="0" err="1"/>
              <a:t>thiếu</a:t>
            </a:r>
            <a:r>
              <a:rPr lang="en-US" dirty="0"/>
              <a:t>.</a:t>
            </a:r>
          </a:p>
          <a:p>
            <a:endParaRPr lang="en-US" dirty="0"/>
          </a:p>
        </p:txBody>
      </p:sp>
      <p:sp>
        <p:nvSpPr>
          <p:cNvPr id="4" name="Footer Placeholder 3">
            <a:extLst>
              <a:ext uri="{FF2B5EF4-FFF2-40B4-BE49-F238E27FC236}">
                <a16:creationId xmlns:a16="http://schemas.microsoft.com/office/drawing/2014/main" id="{8A0B9B34-CD24-19BD-B2E1-BAEBD2469409}"/>
              </a:ext>
            </a:extLst>
          </p:cNvPr>
          <p:cNvSpPr>
            <a:spLocks noGrp="1"/>
          </p:cNvSpPr>
          <p:nvPr>
            <p:ph type="ftr" sz="quarter" idx="11"/>
          </p:nvPr>
        </p:nvSpPr>
        <p:spPr/>
        <p:txBody>
          <a:bodyPr/>
          <a:lstStyle/>
          <a:p>
            <a:r>
              <a:rPr lang="zh-CN" altLang="en-US"/>
              <a:t>科学研究方法</a:t>
            </a:r>
            <a:endParaRPr lang="en-US" dirty="0"/>
          </a:p>
        </p:txBody>
      </p:sp>
      <p:sp>
        <p:nvSpPr>
          <p:cNvPr id="5" name="Slide Number Placeholder 4">
            <a:extLst>
              <a:ext uri="{FF2B5EF4-FFF2-40B4-BE49-F238E27FC236}">
                <a16:creationId xmlns:a16="http://schemas.microsoft.com/office/drawing/2014/main" id="{E1A0392A-869E-F56B-97C2-FE1FB6109FBC}"/>
              </a:ext>
            </a:extLst>
          </p:cNvPr>
          <p:cNvSpPr>
            <a:spLocks noGrp="1"/>
          </p:cNvSpPr>
          <p:nvPr>
            <p:ph type="sldNum" sz="quarter" idx="12"/>
          </p:nvPr>
        </p:nvSpPr>
        <p:spPr/>
        <p:txBody>
          <a:bodyPr/>
          <a:lstStyle/>
          <a:p>
            <a:fld id="{A71D4CCC-BB3A-4D93-86F3-16B4E3CF782A}" type="slidenum">
              <a:rPr lang="en-US" smtClean="0"/>
              <a:t>4</a:t>
            </a:fld>
            <a:endParaRPr lang="en-US"/>
          </a:p>
        </p:txBody>
      </p:sp>
    </p:spTree>
    <p:extLst>
      <p:ext uri="{BB962C8B-B14F-4D97-AF65-F5344CB8AC3E}">
        <p14:creationId xmlns:p14="http://schemas.microsoft.com/office/powerpoint/2010/main" val="781184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40EE2-4EC7-4CCA-B332-359A471F31C0}"/>
              </a:ext>
            </a:extLst>
          </p:cNvPr>
          <p:cNvSpPr>
            <a:spLocks noGrp="1"/>
          </p:cNvSpPr>
          <p:nvPr>
            <p:ph type="ctrTitle"/>
          </p:nvPr>
        </p:nvSpPr>
        <p:spPr/>
        <p:txBody>
          <a:bodyPr>
            <a:normAutofit/>
          </a:bodyPr>
          <a:lstStyle/>
          <a:p>
            <a:r>
              <a:rPr lang="en-US" sz="5300" dirty="0" err="1"/>
              <a:t>Phần</a:t>
            </a:r>
            <a:r>
              <a:rPr lang="en-US" sz="5300" dirty="0"/>
              <a:t> 1</a:t>
            </a:r>
            <a:br>
              <a:rPr lang="en-US" dirty="0"/>
            </a:br>
            <a:r>
              <a:rPr lang="vi-VN" b="1" dirty="0"/>
              <a:t>CHƯƠNG 7</a:t>
            </a:r>
            <a:endParaRPr lang="en-US" dirty="0"/>
          </a:p>
        </p:txBody>
      </p:sp>
      <p:sp>
        <p:nvSpPr>
          <p:cNvPr id="4" name="Slide Number Placeholder 3">
            <a:extLst>
              <a:ext uri="{FF2B5EF4-FFF2-40B4-BE49-F238E27FC236}">
                <a16:creationId xmlns:a16="http://schemas.microsoft.com/office/drawing/2014/main" id="{06A8BEBC-6B90-67F4-824E-7F0B269C1ED3}"/>
              </a:ext>
            </a:extLst>
          </p:cNvPr>
          <p:cNvSpPr>
            <a:spLocks noGrp="1"/>
          </p:cNvSpPr>
          <p:nvPr>
            <p:ph type="sldNum" sz="quarter" idx="12"/>
          </p:nvPr>
        </p:nvSpPr>
        <p:spPr/>
        <p:txBody>
          <a:bodyPr/>
          <a:lstStyle/>
          <a:p>
            <a:fld id="{A71D4CCC-BB3A-4D93-86F3-16B4E3CF782A}" type="slidenum">
              <a:rPr lang="en-US" smtClean="0"/>
              <a:t>5</a:t>
            </a:fld>
            <a:endParaRPr lang="en-US"/>
          </a:p>
        </p:txBody>
      </p:sp>
      <p:sp>
        <p:nvSpPr>
          <p:cNvPr id="5" name="Footer Placeholder 4">
            <a:extLst>
              <a:ext uri="{FF2B5EF4-FFF2-40B4-BE49-F238E27FC236}">
                <a16:creationId xmlns:a16="http://schemas.microsoft.com/office/drawing/2014/main" id="{467EAED5-4D17-030C-B5C3-6F44D06D0484}"/>
              </a:ext>
            </a:extLst>
          </p:cNvPr>
          <p:cNvSpPr>
            <a:spLocks noGrp="1"/>
          </p:cNvSpPr>
          <p:nvPr>
            <p:ph type="ftr" sz="quarter" idx="11"/>
          </p:nvPr>
        </p:nvSpPr>
        <p:spPr/>
        <p:txBody>
          <a:bodyPr/>
          <a:lstStyle/>
          <a:p>
            <a:r>
              <a:rPr lang="zh-CN" altLang="en-US" dirty="0"/>
              <a:t>科学研究方法</a:t>
            </a:r>
            <a:endParaRPr lang="en-US" dirty="0"/>
          </a:p>
        </p:txBody>
      </p:sp>
      <p:sp>
        <p:nvSpPr>
          <p:cNvPr id="7" name="Subtitle 6">
            <a:extLst>
              <a:ext uri="{FF2B5EF4-FFF2-40B4-BE49-F238E27FC236}">
                <a16:creationId xmlns:a16="http://schemas.microsoft.com/office/drawing/2014/main" id="{4D28930D-DE8D-4370-B208-6A4BB74AA290}"/>
              </a:ext>
            </a:extLst>
          </p:cNvPr>
          <p:cNvSpPr>
            <a:spLocks noGrp="1"/>
          </p:cNvSpPr>
          <p:nvPr>
            <p:ph type="subTitle" idx="1"/>
          </p:nvPr>
        </p:nvSpPr>
        <p:spPr/>
        <p:txBody>
          <a:bodyPr/>
          <a:lstStyle/>
          <a:p>
            <a:r>
              <a:rPr lang="vi-VN" dirty="0"/>
              <a:t>Chọn mẫu &amp; Xử lý số liệu</a:t>
            </a:r>
            <a:endParaRPr lang="en-US" dirty="0"/>
          </a:p>
        </p:txBody>
      </p:sp>
    </p:spTree>
    <p:extLst>
      <p:ext uri="{BB962C8B-B14F-4D97-AF65-F5344CB8AC3E}">
        <p14:creationId xmlns:p14="http://schemas.microsoft.com/office/powerpoint/2010/main" val="3591622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CA5542-0F2C-4902-9C30-B20D645E0776}"/>
              </a:ext>
            </a:extLst>
          </p:cNvPr>
          <p:cNvSpPr>
            <a:spLocks noGrp="1"/>
          </p:cNvSpPr>
          <p:nvPr>
            <p:ph type="title"/>
          </p:nvPr>
        </p:nvSpPr>
        <p:spPr>
          <a:xfrm>
            <a:off x="108246" y="13730"/>
            <a:ext cx="11969404" cy="936361"/>
          </a:xfrm>
        </p:spPr>
        <p:txBody>
          <a:bodyPr/>
          <a:lstStyle/>
          <a:p>
            <a:r>
              <a:rPr lang="vi-VN" b="1" dirty="0"/>
              <a:t>Giới thiệu Chương 7</a:t>
            </a:r>
          </a:p>
        </p:txBody>
      </p:sp>
      <p:sp>
        <p:nvSpPr>
          <p:cNvPr id="5" name="Content Placeholder 4">
            <a:extLst>
              <a:ext uri="{FF2B5EF4-FFF2-40B4-BE49-F238E27FC236}">
                <a16:creationId xmlns:a16="http://schemas.microsoft.com/office/drawing/2014/main" id="{4399DA72-3B47-4DD2-993D-A79061829C2B}"/>
              </a:ext>
            </a:extLst>
          </p:cNvPr>
          <p:cNvSpPr>
            <a:spLocks noGrp="1"/>
          </p:cNvSpPr>
          <p:nvPr>
            <p:ph idx="1"/>
          </p:nvPr>
        </p:nvSpPr>
        <p:spPr>
          <a:xfrm>
            <a:off x="108246" y="963142"/>
            <a:ext cx="11969404" cy="5512359"/>
          </a:xfrm>
        </p:spPr>
        <p:txBody>
          <a:bodyPr>
            <a:normAutofit/>
          </a:bodyPr>
          <a:lstStyle/>
          <a:p>
            <a:r>
              <a:rPr lang="vi-VN" b="1" dirty="0"/>
              <a:t>Tên chương:</a:t>
            </a:r>
            <a:r>
              <a:rPr lang="vi-VN" dirty="0"/>
              <a:t> Phương pháp chọn mẫu, Nhập liệu và Xử lý số liệu.</a:t>
            </a:r>
          </a:p>
          <a:p>
            <a:r>
              <a:rPr lang="vi-VN" b="1" dirty="0"/>
              <a:t>Vị trí:</a:t>
            </a:r>
            <a:r>
              <a:rPr lang="vi-VN" dirty="0"/>
              <a:t> Bước cuối cùng trong thiết kế nghiên cứu trước khi viết báo cáo.</a:t>
            </a:r>
          </a:p>
          <a:p>
            <a:r>
              <a:rPr lang="vi-VN" b="1" dirty="0"/>
              <a:t>Mục tiêu:</a:t>
            </a:r>
            <a:r>
              <a:rPr lang="vi-VN" dirty="0"/>
              <a:t> Hiểu cách lấy mẫu đại diện và xử lý dữ liệu thô.</a:t>
            </a:r>
          </a:p>
        </p:txBody>
      </p:sp>
      <p:sp>
        <p:nvSpPr>
          <p:cNvPr id="3" name="Footer Placeholder 2">
            <a:extLst>
              <a:ext uri="{FF2B5EF4-FFF2-40B4-BE49-F238E27FC236}">
                <a16:creationId xmlns:a16="http://schemas.microsoft.com/office/drawing/2014/main" id="{7827787A-1C93-4288-9692-23B875C6E113}"/>
              </a:ext>
            </a:extLst>
          </p:cNvPr>
          <p:cNvSpPr>
            <a:spLocks noGrp="1"/>
          </p:cNvSpPr>
          <p:nvPr>
            <p:ph type="ftr" sz="quarter" idx="11"/>
          </p:nvPr>
        </p:nvSpPr>
        <p:spPr>
          <a:xfrm>
            <a:off x="108246" y="6493561"/>
            <a:ext cx="8031424" cy="391212"/>
          </a:xfrm>
        </p:spPr>
        <p:txBody>
          <a:bodyPr/>
          <a:lstStyle/>
          <a:p>
            <a:r>
              <a:rPr lang="zh-CN" altLang="en-US" dirty="0"/>
              <a:t>科学研究方法</a:t>
            </a:r>
            <a:endParaRPr lang="en-US" dirty="0"/>
          </a:p>
        </p:txBody>
      </p:sp>
      <p:sp>
        <p:nvSpPr>
          <p:cNvPr id="2" name="Slide Number Placeholder 1">
            <a:extLst>
              <a:ext uri="{FF2B5EF4-FFF2-40B4-BE49-F238E27FC236}">
                <a16:creationId xmlns:a16="http://schemas.microsoft.com/office/drawing/2014/main" id="{452B4F77-7149-5591-CA31-DF13BC19A5AC}"/>
              </a:ext>
            </a:extLst>
          </p:cNvPr>
          <p:cNvSpPr>
            <a:spLocks noGrp="1"/>
          </p:cNvSpPr>
          <p:nvPr>
            <p:ph type="sldNum" sz="quarter" idx="12"/>
          </p:nvPr>
        </p:nvSpPr>
        <p:spPr/>
        <p:txBody>
          <a:bodyPr/>
          <a:lstStyle/>
          <a:p>
            <a:fld id="{A71D4CCC-BB3A-4D93-86F3-16B4E3CF782A}" type="slidenum">
              <a:rPr lang="en-US" smtClean="0"/>
              <a:t>6</a:t>
            </a:fld>
            <a:endParaRPr lang="en-US"/>
          </a:p>
        </p:txBody>
      </p:sp>
    </p:spTree>
    <p:extLst>
      <p:ext uri="{BB962C8B-B14F-4D97-AF65-F5344CB8AC3E}">
        <p14:creationId xmlns:p14="http://schemas.microsoft.com/office/powerpoint/2010/main" val="2917999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50B8D-609C-5C78-6A5D-349F0CE2C10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100CF74-C38B-774B-17B4-C5B1D256F486}"/>
              </a:ext>
            </a:extLst>
          </p:cNvPr>
          <p:cNvSpPr>
            <a:spLocks noGrp="1"/>
          </p:cNvSpPr>
          <p:nvPr>
            <p:ph type="title"/>
          </p:nvPr>
        </p:nvSpPr>
        <p:spPr>
          <a:xfrm>
            <a:off x="108246" y="13730"/>
            <a:ext cx="11969404" cy="936361"/>
          </a:xfrm>
        </p:spPr>
        <p:txBody>
          <a:bodyPr/>
          <a:lstStyle/>
          <a:p>
            <a:r>
              <a:rPr lang="en-US" b="1" dirty="0"/>
              <a:t>7.1. </a:t>
            </a:r>
            <a:r>
              <a:rPr lang="en-US" b="1" dirty="0" err="1"/>
              <a:t>Khái</a:t>
            </a:r>
            <a:r>
              <a:rPr lang="en-US" b="1" dirty="0"/>
              <a:t> </a:t>
            </a:r>
            <a:r>
              <a:rPr lang="en-US" b="1" dirty="0" err="1"/>
              <a:t>niệm</a:t>
            </a:r>
            <a:r>
              <a:rPr lang="en-US" b="1" dirty="0"/>
              <a:t> </a:t>
            </a:r>
            <a:r>
              <a:rPr lang="en-US" b="1" dirty="0" err="1"/>
              <a:t>về</a:t>
            </a:r>
            <a:r>
              <a:rPr lang="en-US" b="1" dirty="0"/>
              <a:t> </a:t>
            </a:r>
            <a:r>
              <a:rPr lang="en-US" b="1" dirty="0" err="1"/>
              <a:t>Chọn</a:t>
            </a:r>
            <a:r>
              <a:rPr lang="en-US" b="1" dirty="0"/>
              <a:t> </a:t>
            </a:r>
            <a:r>
              <a:rPr lang="en-US" b="1" dirty="0" err="1"/>
              <a:t>mẫu</a:t>
            </a:r>
            <a:endParaRPr lang="vi-VN" b="1" dirty="0"/>
          </a:p>
        </p:txBody>
      </p:sp>
      <p:sp>
        <p:nvSpPr>
          <p:cNvPr id="5" name="Content Placeholder 4">
            <a:extLst>
              <a:ext uri="{FF2B5EF4-FFF2-40B4-BE49-F238E27FC236}">
                <a16:creationId xmlns:a16="http://schemas.microsoft.com/office/drawing/2014/main" id="{5676EC48-4405-B792-EF38-810E610FAF2A}"/>
              </a:ext>
            </a:extLst>
          </p:cNvPr>
          <p:cNvSpPr>
            <a:spLocks noGrp="1"/>
          </p:cNvSpPr>
          <p:nvPr>
            <p:ph idx="1"/>
          </p:nvPr>
        </p:nvSpPr>
        <p:spPr>
          <a:xfrm>
            <a:off x="108246" y="963142"/>
            <a:ext cx="11969404" cy="5512359"/>
          </a:xfrm>
        </p:spPr>
        <p:txBody>
          <a:bodyPr>
            <a:normAutofit fontScale="92500"/>
          </a:bodyPr>
          <a:lstStyle/>
          <a:p>
            <a:r>
              <a:rPr lang="vi-VN" b="1" dirty="0"/>
              <a:t>Tổng thể (Population):</a:t>
            </a:r>
            <a:r>
              <a:rPr lang="vi-VN" dirty="0"/>
              <a:t> Toàn bộ đối tượng mà nghiên cứu hướng tới.</a:t>
            </a:r>
          </a:p>
          <a:p>
            <a:r>
              <a:rPr lang="vi-VN" b="1" dirty="0"/>
              <a:t>Mẫu (Sample):</a:t>
            </a:r>
            <a:r>
              <a:rPr lang="vi-VN" dirty="0"/>
              <a:t> Một phần nhỏ của tổng thể được chọn ra để khảo sát.</a:t>
            </a:r>
          </a:p>
          <a:p>
            <a:r>
              <a:rPr lang="vi-VN" b="1" dirty="0"/>
              <a:t>Khung mẫu:</a:t>
            </a:r>
            <a:r>
              <a:rPr lang="vi-VN" dirty="0"/>
              <a:t> Danh sách các đơn vị trong tổng thể.</a:t>
            </a:r>
            <a:endParaRPr lang="en-US" dirty="0"/>
          </a:p>
          <a:p>
            <a:endParaRPr lang="en-US" dirty="0"/>
          </a:p>
          <a:p>
            <a:pPr marL="0" indent="0">
              <a:buNone/>
            </a:pPr>
            <a:r>
              <a:rPr lang="en-US" b="1" dirty="0" err="1"/>
              <a:t>Tại</a:t>
            </a:r>
            <a:r>
              <a:rPr lang="en-US" b="1" dirty="0"/>
              <a:t> </a:t>
            </a:r>
            <a:r>
              <a:rPr lang="en-US" b="1" dirty="0" err="1"/>
              <a:t>sao</a:t>
            </a:r>
            <a:r>
              <a:rPr lang="en-US" b="1" dirty="0"/>
              <a:t> </a:t>
            </a:r>
            <a:r>
              <a:rPr lang="en-US" b="1" dirty="0" err="1"/>
              <a:t>phải</a:t>
            </a:r>
            <a:r>
              <a:rPr lang="en-US" b="1" dirty="0"/>
              <a:t> </a:t>
            </a:r>
            <a:r>
              <a:rPr lang="en-US" b="1" dirty="0" err="1"/>
              <a:t>chọn</a:t>
            </a:r>
            <a:r>
              <a:rPr lang="en-US" b="1" dirty="0"/>
              <a:t> </a:t>
            </a:r>
            <a:r>
              <a:rPr lang="en-US" b="1" dirty="0" err="1"/>
              <a:t>mẫu</a:t>
            </a:r>
            <a:r>
              <a:rPr lang="en-US" b="1" dirty="0"/>
              <a:t>?</a:t>
            </a:r>
            <a:endParaRPr lang="en-US" dirty="0"/>
          </a:p>
          <a:p>
            <a:r>
              <a:rPr lang="en-US" dirty="0" err="1"/>
              <a:t>Tiết</a:t>
            </a:r>
            <a:r>
              <a:rPr lang="en-US" dirty="0"/>
              <a:t> </a:t>
            </a:r>
            <a:r>
              <a:rPr lang="en-US" dirty="0" err="1"/>
              <a:t>kiệm</a:t>
            </a:r>
            <a:r>
              <a:rPr lang="en-US" dirty="0"/>
              <a:t> chi </a:t>
            </a:r>
            <a:r>
              <a:rPr lang="en-US" dirty="0" err="1"/>
              <a:t>phí</a:t>
            </a:r>
            <a:r>
              <a:rPr lang="en-US" dirty="0"/>
              <a:t>.</a:t>
            </a:r>
          </a:p>
          <a:p>
            <a:r>
              <a:rPr lang="en-US" dirty="0" err="1"/>
              <a:t>Tiết</a:t>
            </a:r>
            <a:r>
              <a:rPr lang="en-US" dirty="0"/>
              <a:t> </a:t>
            </a:r>
            <a:r>
              <a:rPr lang="en-US" dirty="0" err="1"/>
              <a:t>kiệm</a:t>
            </a:r>
            <a:r>
              <a:rPr lang="en-US" dirty="0"/>
              <a:t> </a:t>
            </a:r>
            <a:r>
              <a:rPr lang="en-US" dirty="0" err="1"/>
              <a:t>thời</a:t>
            </a:r>
            <a:r>
              <a:rPr lang="en-US" dirty="0"/>
              <a:t> </a:t>
            </a:r>
            <a:r>
              <a:rPr lang="en-US" dirty="0" err="1"/>
              <a:t>gian</a:t>
            </a:r>
            <a:r>
              <a:rPr lang="en-US" dirty="0"/>
              <a:t>.</a:t>
            </a:r>
          </a:p>
          <a:p>
            <a:r>
              <a:rPr lang="en-US" dirty="0" err="1"/>
              <a:t>Tính</a:t>
            </a:r>
            <a:r>
              <a:rPr lang="en-US" dirty="0"/>
              <a:t> </a:t>
            </a:r>
            <a:r>
              <a:rPr lang="en-US" dirty="0" err="1"/>
              <a:t>khả</a:t>
            </a:r>
            <a:r>
              <a:rPr lang="en-US" dirty="0"/>
              <a:t> </a:t>
            </a:r>
            <a:r>
              <a:rPr lang="en-US" dirty="0" err="1"/>
              <a:t>thi</a:t>
            </a:r>
            <a:r>
              <a:rPr lang="en-US" dirty="0"/>
              <a:t> (</a:t>
            </a:r>
            <a:r>
              <a:rPr lang="en-US" dirty="0" err="1"/>
              <a:t>không</a:t>
            </a:r>
            <a:r>
              <a:rPr lang="en-US" dirty="0"/>
              <a:t> </a:t>
            </a:r>
            <a:r>
              <a:rPr lang="en-US" dirty="0" err="1"/>
              <a:t>thể</a:t>
            </a:r>
            <a:r>
              <a:rPr lang="en-US" dirty="0"/>
              <a:t> </a:t>
            </a:r>
            <a:r>
              <a:rPr lang="en-US" dirty="0" err="1"/>
              <a:t>khảo</a:t>
            </a:r>
            <a:r>
              <a:rPr lang="en-US" dirty="0"/>
              <a:t> </a:t>
            </a:r>
            <a:r>
              <a:rPr lang="en-US" dirty="0" err="1"/>
              <a:t>sát</a:t>
            </a:r>
            <a:r>
              <a:rPr lang="en-US" dirty="0"/>
              <a:t> </a:t>
            </a:r>
            <a:r>
              <a:rPr lang="en-US" dirty="0" err="1"/>
              <a:t>toàn</a:t>
            </a:r>
            <a:r>
              <a:rPr lang="en-US" dirty="0"/>
              <a:t> </a:t>
            </a:r>
            <a:r>
              <a:rPr lang="en-US" dirty="0" err="1"/>
              <a:t>bộ</a:t>
            </a:r>
            <a:r>
              <a:rPr lang="en-US" dirty="0"/>
              <a:t> </a:t>
            </a:r>
            <a:r>
              <a:rPr lang="en-US" dirty="0" err="1"/>
              <a:t>dân</a:t>
            </a:r>
            <a:r>
              <a:rPr lang="en-US" dirty="0"/>
              <a:t> </a:t>
            </a:r>
            <a:r>
              <a:rPr lang="en-US" dirty="0" err="1"/>
              <a:t>số</a:t>
            </a:r>
            <a:r>
              <a:rPr lang="en-US" dirty="0"/>
              <a:t>).</a:t>
            </a:r>
          </a:p>
          <a:p>
            <a:r>
              <a:rPr lang="en-US" dirty="0" err="1"/>
              <a:t>Độ</a:t>
            </a:r>
            <a:r>
              <a:rPr lang="en-US" dirty="0"/>
              <a:t> </a:t>
            </a:r>
            <a:r>
              <a:rPr lang="en-US" dirty="0" err="1"/>
              <a:t>chính</a:t>
            </a:r>
            <a:r>
              <a:rPr lang="en-US" dirty="0"/>
              <a:t> </a:t>
            </a:r>
            <a:r>
              <a:rPr lang="en-US" dirty="0" err="1"/>
              <a:t>xác</a:t>
            </a:r>
            <a:r>
              <a:rPr lang="en-US" dirty="0"/>
              <a:t> </a:t>
            </a:r>
            <a:r>
              <a:rPr lang="en-US" dirty="0" err="1"/>
              <a:t>cho</a:t>
            </a:r>
            <a:r>
              <a:rPr lang="en-US" dirty="0"/>
              <a:t> </a:t>
            </a:r>
            <a:r>
              <a:rPr lang="en-US" dirty="0" err="1"/>
              <a:t>phép</a:t>
            </a:r>
            <a:r>
              <a:rPr lang="en-US" dirty="0"/>
              <a:t>.</a:t>
            </a:r>
          </a:p>
          <a:p>
            <a:endParaRPr lang="vi-VN" dirty="0"/>
          </a:p>
        </p:txBody>
      </p:sp>
      <p:sp>
        <p:nvSpPr>
          <p:cNvPr id="3" name="Footer Placeholder 2">
            <a:extLst>
              <a:ext uri="{FF2B5EF4-FFF2-40B4-BE49-F238E27FC236}">
                <a16:creationId xmlns:a16="http://schemas.microsoft.com/office/drawing/2014/main" id="{CB6596BC-C228-4FF1-3CDF-43A580FB53E9}"/>
              </a:ext>
            </a:extLst>
          </p:cNvPr>
          <p:cNvSpPr>
            <a:spLocks noGrp="1"/>
          </p:cNvSpPr>
          <p:nvPr>
            <p:ph type="ftr" sz="quarter" idx="11"/>
          </p:nvPr>
        </p:nvSpPr>
        <p:spPr>
          <a:xfrm>
            <a:off x="108246" y="6493561"/>
            <a:ext cx="8031424" cy="391212"/>
          </a:xfrm>
        </p:spPr>
        <p:txBody>
          <a:bodyPr/>
          <a:lstStyle/>
          <a:p>
            <a:r>
              <a:rPr lang="zh-CN" altLang="en-US" dirty="0"/>
              <a:t>科学研究方法</a:t>
            </a:r>
            <a:endParaRPr lang="en-US" dirty="0"/>
          </a:p>
        </p:txBody>
      </p:sp>
      <p:sp>
        <p:nvSpPr>
          <p:cNvPr id="2" name="Slide Number Placeholder 1">
            <a:extLst>
              <a:ext uri="{FF2B5EF4-FFF2-40B4-BE49-F238E27FC236}">
                <a16:creationId xmlns:a16="http://schemas.microsoft.com/office/drawing/2014/main" id="{8EBB0BA5-74D3-65C9-842A-36F86E2407B5}"/>
              </a:ext>
            </a:extLst>
          </p:cNvPr>
          <p:cNvSpPr>
            <a:spLocks noGrp="1"/>
          </p:cNvSpPr>
          <p:nvPr>
            <p:ph type="sldNum" sz="quarter" idx="12"/>
          </p:nvPr>
        </p:nvSpPr>
        <p:spPr/>
        <p:txBody>
          <a:bodyPr/>
          <a:lstStyle/>
          <a:p>
            <a:fld id="{A71D4CCC-BB3A-4D93-86F3-16B4E3CF782A}" type="slidenum">
              <a:rPr lang="en-US" smtClean="0"/>
              <a:t>7</a:t>
            </a:fld>
            <a:endParaRPr lang="en-US"/>
          </a:p>
        </p:txBody>
      </p:sp>
    </p:spTree>
    <p:extLst>
      <p:ext uri="{BB962C8B-B14F-4D97-AF65-F5344CB8AC3E}">
        <p14:creationId xmlns:p14="http://schemas.microsoft.com/office/powerpoint/2010/main" val="3903608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DF518-84DA-9955-BF02-71A74C49FF6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99EC512-76B3-6C5D-4CC4-710240D71A64}"/>
              </a:ext>
            </a:extLst>
          </p:cNvPr>
          <p:cNvSpPr>
            <a:spLocks noGrp="1"/>
          </p:cNvSpPr>
          <p:nvPr>
            <p:ph type="title"/>
          </p:nvPr>
        </p:nvSpPr>
        <p:spPr>
          <a:xfrm>
            <a:off x="108246" y="13730"/>
            <a:ext cx="11969404" cy="936361"/>
          </a:xfrm>
        </p:spPr>
        <p:txBody>
          <a:bodyPr/>
          <a:lstStyle/>
          <a:p>
            <a:r>
              <a:rPr lang="vi-VN" b="1" dirty="0"/>
              <a:t>Các phương pháp chọn mẫu phổ biến</a:t>
            </a:r>
          </a:p>
        </p:txBody>
      </p:sp>
      <p:sp>
        <p:nvSpPr>
          <p:cNvPr id="5" name="Content Placeholder 4">
            <a:extLst>
              <a:ext uri="{FF2B5EF4-FFF2-40B4-BE49-F238E27FC236}">
                <a16:creationId xmlns:a16="http://schemas.microsoft.com/office/drawing/2014/main" id="{F3D47390-A211-D038-5159-FBF92E2079CD}"/>
              </a:ext>
            </a:extLst>
          </p:cNvPr>
          <p:cNvSpPr>
            <a:spLocks noGrp="1"/>
          </p:cNvSpPr>
          <p:nvPr>
            <p:ph idx="1"/>
          </p:nvPr>
        </p:nvSpPr>
        <p:spPr>
          <a:xfrm>
            <a:off x="108246" y="963142"/>
            <a:ext cx="11969404" cy="5512359"/>
          </a:xfrm>
        </p:spPr>
        <p:txBody>
          <a:bodyPr>
            <a:normAutofit/>
          </a:bodyPr>
          <a:lstStyle/>
          <a:p>
            <a:r>
              <a:rPr lang="vi-VN" b="1" dirty="0"/>
              <a:t>Chọn mẫu xác suất:</a:t>
            </a:r>
            <a:r>
              <a:rPr lang="vi-VN" dirty="0"/>
              <a:t> Ngẫu nhiên đơn giản, Hệ thống, Phân tầng.</a:t>
            </a:r>
          </a:p>
          <a:p>
            <a:r>
              <a:rPr lang="vi-VN" b="1" dirty="0"/>
              <a:t>Chọn mẫu phi xác suất:</a:t>
            </a:r>
            <a:r>
              <a:rPr lang="vi-VN" dirty="0"/>
              <a:t> Thuận tiện, Phán đoán, Định mức, Tuyết lăn.</a:t>
            </a:r>
            <a:endParaRPr lang="en-US" dirty="0"/>
          </a:p>
          <a:p>
            <a:endParaRPr lang="en-US" dirty="0"/>
          </a:p>
          <a:p>
            <a:pPr marL="0" indent="0">
              <a:buNone/>
            </a:pPr>
            <a:r>
              <a:rPr lang="vi-VN" b="1" dirty="0"/>
              <a:t>Kích thước mẫu bao nhiêu là đủ?</a:t>
            </a:r>
            <a:endParaRPr lang="vi-VN" dirty="0"/>
          </a:p>
          <a:p>
            <a:r>
              <a:rPr lang="vi-VN" dirty="0"/>
              <a:t>Phụ thuộc vào phương pháp nghiên cứu (Định tính hay Định lượng).</a:t>
            </a:r>
          </a:p>
          <a:p>
            <a:r>
              <a:rPr lang="vi-VN" dirty="0"/>
              <a:t>Công thức tính mẫu cơ bản (Giới thiệu sơ lược).</a:t>
            </a:r>
          </a:p>
          <a:p>
            <a:r>
              <a:rPr lang="vi-VN" dirty="0"/>
              <a:t>Lưu ý: Mẫu càng lớn, sai số càng nhỏ, nhưng tốn kém hơn.</a:t>
            </a:r>
          </a:p>
          <a:p>
            <a:endParaRPr lang="vi-VN" dirty="0"/>
          </a:p>
        </p:txBody>
      </p:sp>
      <p:sp>
        <p:nvSpPr>
          <p:cNvPr id="3" name="Footer Placeholder 2">
            <a:extLst>
              <a:ext uri="{FF2B5EF4-FFF2-40B4-BE49-F238E27FC236}">
                <a16:creationId xmlns:a16="http://schemas.microsoft.com/office/drawing/2014/main" id="{57A93057-DB26-A530-724A-F94096175F45}"/>
              </a:ext>
            </a:extLst>
          </p:cNvPr>
          <p:cNvSpPr>
            <a:spLocks noGrp="1"/>
          </p:cNvSpPr>
          <p:nvPr>
            <p:ph type="ftr" sz="quarter" idx="11"/>
          </p:nvPr>
        </p:nvSpPr>
        <p:spPr>
          <a:xfrm>
            <a:off x="108246" y="6493561"/>
            <a:ext cx="8031424" cy="391212"/>
          </a:xfrm>
        </p:spPr>
        <p:txBody>
          <a:bodyPr/>
          <a:lstStyle/>
          <a:p>
            <a:r>
              <a:rPr lang="zh-CN" altLang="en-US" dirty="0"/>
              <a:t>科学研究方法</a:t>
            </a:r>
            <a:endParaRPr lang="en-US" dirty="0"/>
          </a:p>
        </p:txBody>
      </p:sp>
      <p:sp>
        <p:nvSpPr>
          <p:cNvPr id="2" name="Slide Number Placeholder 1">
            <a:extLst>
              <a:ext uri="{FF2B5EF4-FFF2-40B4-BE49-F238E27FC236}">
                <a16:creationId xmlns:a16="http://schemas.microsoft.com/office/drawing/2014/main" id="{23048D79-B563-2EC1-8DB9-1FBC526844FE}"/>
              </a:ext>
            </a:extLst>
          </p:cNvPr>
          <p:cNvSpPr>
            <a:spLocks noGrp="1"/>
          </p:cNvSpPr>
          <p:nvPr>
            <p:ph type="sldNum" sz="quarter" idx="12"/>
          </p:nvPr>
        </p:nvSpPr>
        <p:spPr/>
        <p:txBody>
          <a:bodyPr/>
          <a:lstStyle/>
          <a:p>
            <a:fld id="{A71D4CCC-BB3A-4D93-86F3-16B4E3CF782A}" type="slidenum">
              <a:rPr lang="en-US" smtClean="0"/>
              <a:t>8</a:t>
            </a:fld>
            <a:endParaRPr lang="en-US"/>
          </a:p>
        </p:txBody>
      </p:sp>
    </p:spTree>
    <p:extLst>
      <p:ext uri="{BB962C8B-B14F-4D97-AF65-F5344CB8AC3E}">
        <p14:creationId xmlns:p14="http://schemas.microsoft.com/office/powerpoint/2010/main" val="2963446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FCE2F-20A9-197F-8F60-46081371CF2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EFED98C-7A88-06BF-DFF3-0B2F1F7F2E88}"/>
              </a:ext>
            </a:extLst>
          </p:cNvPr>
          <p:cNvSpPr>
            <a:spLocks noGrp="1"/>
          </p:cNvSpPr>
          <p:nvPr>
            <p:ph type="title"/>
          </p:nvPr>
        </p:nvSpPr>
        <p:spPr>
          <a:xfrm>
            <a:off x="108246" y="13730"/>
            <a:ext cx="11969404" cy="936361"/>
          </a:xfrm>
        </p:spPr>
        <p:txBody>
          <a:bodyPr/>
          <a:lstStyle/>
          <a:p>
            <a:r>
              <a:rPr lang="en-US" b="1" dirty="0"/>
              <a:t>7.2. </a:t>
            </a:r>
            <a:r>
              <a:rPr lang="en-US" b="1" dirty="0" err="1"/>
              <a:t>Xử</a:t>
            </a:r>
            <a:r>
              <a:rPr lang="en-US" b="1" dirty="0"/>
              <a:t> </a:t>
            </a:r>
            <a:r>
              <a:rPr lang="en-US" b="1" dirty="0" err="1"/>
              <a:t>lý</a:t>
            </a:r>
            <a:r>
              <a:rPr lang="en-US" b="1" dirty="0"/>
              <a:t> </a:t>
            </a:r>
            <a:r>
              <a:rPr lang="en-US" b="1" dirty="0" err="1"/>
              <a:t>dữ</a:t>
            </a:r>
            <a:r>
              <a:rPr lang="en-US" b="1" dirty="0"/>
              <a:t> </a:t>
            </a:r>
            <a:r>
              <a:rPr lang="en-US" b="1" dirty="0" err="1"/>
              <a:t>liệu</a:t>
            </a:r>
            <a:r>
              <a:rPr lang="en-US" b="1" dirty="0"/>
              <a:t> (Data Processing)</a:t>
            </a:r>
            <a:endParaRPr lang="vi-VN" b="1" dirty="0"/>
          </a:p>
        </p:txBody>
      </p:sp>
      <p:sp>
        <p:nvSpPr>
          <p:cNvPr id="5" name="Content Placeholder 4">
            <a:extLst>
              <a:ext uri="{FF2B5EF4-FFF2-40B4-BE49-F238E27FC236}">
                <a16:creationId xmlns:a16="http://schemas.microsoft.com/office/drawing/2014/main" id="{E82B8DD5-7DBD-A5C2-550E-4516964311A7}"/>
              </a:ext>
            </a:extLst>
          </p:cNvPr>
          <p:cNvSpPr>
            <a:spLocks noGrp="1"/>
          </p:cNvSpPr>
          <p:nvPr>
            <p:ph idx="1"/>
          </p:nvPr>
        </p:nvSpPr>
        <p:spPr>
          <a:xfrm>
            <a:off x="108246" y="963142"/>
            <a:ext cx="11969404" cy="5512359"/>
          </a:xfrm>
        </p:spPr>
        <p:txBody>
          <a:bodyPr>
            <a:normAutofit/>
          </a:bodyPr>
          <a:lstStyle/>
          <a:p>
            <a:r>
              <a:rPr lang="vi-VN" dirty="0"/>
              <a:t>Dữ liệu sau khi thu thập (thô) cần được xử lý.</a:t>
            </a:r>
          </a:p>
          <a:p>
            <a:r>
              <a:rPr lang="vi-VN" b="1" dirty="0"/>
              <a:t>Quy trình:</a:t>
            </a:r>
            <a:endParaRPr lang="vi-VN" dirty="0"/>
          </a:p>
          <a:p>
            <a:pPr lvl="1"/>
            <a:r>
              <a:rPr lang="vi-VN" dirty="0"/>
              <a:t>Hiệu chỉnh (Làm sạch dữ liệu).</a:t>
            </a:r>
          </a:p>
          <a:p>
            <a:pPr lvl="1"/>
            <a:r>
              <a:rPr lang="vi-VN" dirty="0"/>
              <a:t>Mã hóa (Chuyển câu trả lời thành số/ký hiệu).</a:t>
            </a:r>
          </a:p>
          <a:p>
            <a:pPr lvl="1"/>
            <a:r>
              <a:rPr lang="vi-VN" dirty="0"/>
              <a:t>Nhập liệu (Vào phần mềm Excel/SPSS...).</a:t>
            </a:r>
          </a:p>
        </p:txBody>
      </p:sp>
      <p:sp>
        <p:nvSpPr>
          <p:cNvPr id="3" name="Footer Placeholder 2">
            <a:extLst>
              <a:ext uri="{FF2B5EF4-FFF2-40B4-BE49-F238E27FC236}">
                <a16:creationId xmlns:a16="http://schemas.microsoft.com/office/drawing/2014/main" id="{8F9F3355-D79A-6AF9-EF5C-50295BF7DC42}"/>
              </a:ext>
            </a:extLst>
          </p:cNvPr>
          <p:cNvSpPr>
            <a:spLocks noGrp="1"/>
          </p:cNvSpPr>
          <p:nvPr>
            <p:ph type="ftr" sz="quarter" idx="11"/>
          </p:nvPr>
        </p:nvSpPr>
        <p:spPr>
          <a:xfrm>
            <a:off x="108246" y="6493561"/>
            <a:ext cx="8031424" cy="391212"/>
          </a:xfrm>
        </p:spPr>
        <p:txBody>
          <a:bodyPr/>
          <a:lstStyle/>
          <a:p>
            <a:r>
              <a:rPr lang="zh-CN" altLang="en-US" dirty="0"/>
              <a:t>科学研究方法</a:t>
            </a:r>
            <a:endParaRPr lang="en-US" dirty="0"/>
          </a:p>
        </p:txBody>
      </p:sp>
      <p:sp>
        <p:nvSpPr>
          <p:cNvPr id="2" name="Slide Number Placeholder 1">
            <a:extLst>
              <a:ext uri="{FF2B5EF4-FFF2-40B4-BE49-F238E27FC236}">
                <a16:creationId xmlns:a16="http://schemas.microsoft.com/office/drawing/2014/main" id="{C148C4B3-6C72-1682-F115-3C04A29FC4A4}"/>
              </a:ext>
            </a:extLst>
          </p:cNvPr>
          <p:cNvSpPr>
            <a:spLocks noGrp="1"/>
          </p:cNvSpPr>
          <p:nvPr>
            <p:ph type="sldNum" sz="quarter" idx="12"/>
          </p:nvPr>
        </p:nvSpPr>
        <p:spPr/>
        <p:txBody>
          <a:bodyPr/>
          <a:lstStyle/>
          <a:p>
            <a:fld id="{A71D4CCC-BB3A-4D93-86F3-16B4E3CF782A}" type="slidenum">
              <a:rPr lang="en-US" smtClean="0"/>
              <a:t>9</a:t>
            </a:fld>
            <a:endParaRPr lang="en-US"/>
          </a:p>
        </p:txBody>
      </p:sp>
    </p:spTree>
    <p:extLst>
      <p:ext uri="{BB962C8B-B14F-4D97-AF65-F5344CB8AC3E}">
        <p14:creationId xmlns:p14="http://schemas.microsoft.com/office/powerpoint/2010/main" val="1334363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00E82-F7A6-7E14-2C8C-CB576BAFF71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7D092F0-7702-85E6-8FCE-485AD725AF17}"/>
              </a:ext>
            </a:extLst>
          </p:cNvPr>
          <p:cNvSpPr>
            <a:spLocks noGrp="1"/>
          </p:cNvSpPr>
          <p:nvPr>
            <p:ph type="title"/>
          </p:nvPr>
        </p:nvSpPr>
        <p:spPr>
          <a:xfrm>
            <a:off x="108246" y="13730"/>
            <a:ext cx="11969404" cy="936361"/>
          </a:xfrm>
        </p:spPr>
        <p:txBody>
          <a:bodyPr/>
          <a:lstStyle/>
          <a:p>
            <a:r>
              <a:rPr lang="en-US" b="1" dirty="0" err="1"/>
              <a:t>Phân</a:t>
            </a:r>
            <a:r>
              <a:rPr lang="en-US" b="1" dirty="0"/>
              <a:t> </a:t>
            </a:r>
            <a:r>
              <a:rPr lang="en-US" b="1" dirty="0" err="1"/>
              <a:t>tích</a:t>
            </a:r>
            <a:r>
              <a:rPr lang="en-US" b="1" dirty="0"/>
              <a:t> </a:t>
            </a:r>
            <a:r>
              <a:rPr lang="en-US" b="1" dirty="0" err="1"/>
              <a:t>thống</a:t>
            </a:r>
            <a:r>
              <a:rPr lang="en-US" b="1" dirty="0"/>
              <a:t> </a:t>
            </a:r>
            <a:r>
              <a:rPr lang="en-US" b="1" dirty="0" err="1"/>
              <a:t>kê</a:t>
            </a:r>
            <a:r>
              <a:rPr lang="en-US" b="1" dirty="0"/>
              <a:t> </a:t>
            </a:r>
            <a:r>
              <a:rPr lang="en-US" b="1" dirty="0" err="1"/>
              <a:t>mô</a:t>
            </a:r>
            <a:r>
              <a:rPr lang="en-US" b="1" dirty="0"/>
              <a:t> </a:t>
            </a:r>
            <a:r>
              <a:rPr lang="en-US" b="1" dirty="0" err="1"/>
              <a:t>tả</a:t>
            </a:r>
            <a:r>
              <a:rPr lang="en-US" b="1" dirty="0"/>
              <a:t> (Descriptive Statistics)</a:t>
            </a:r>
            <a:endParaRPr lang="vi-VN" b="1" dirty="0"/>
          </a:p>
        </p:txBody>
      </p:sp>
      <p:sp>
        <p:nvSpPr>
          <p:cNvPr id="5" name="Content Placeholder 4">
            <a:extLst>
              <a:ext uri="{FF2B5EF4-FFF2-40B4-BE49-F238E27FC236}">
                <a16:creationId xmlns:a16="http://schemas.microsoft.com/office/drawing/2014/main" id="{F9BF1902-C116-1CD1-894B-570231FE4C9E}"/>
              </a:ext>
            </a:extLst>
          </p:cNvPr>
          <p:cNvSpPr>
            <a:spLocks noGrp="1"/>
          </p:cNvSpPr>
          <p:nvPr>
            <p:ph idx="1"/>
          </p:nvPr>
        </p:nvSpPr>
        <p:spPr>
          <a:xfrm>
            <a:off x="108246" y="963142"/>
            <a:ext cx="11969404" cy="5512359"/>
          </a:xfrm>
        </p:spPr>
        <p:txBody>
          <a:bodyPr>
            <a:normAutofit/>
          </a:bodyPr>
          <a:lstStyle/>
          <a:p>
            <a:r>
              <a:rPr lang="en-US" dirty="0" err="1"/>
              <a:t>Dùng</a:t>
            </a:r>
            <a:r>
              <a:rPr lang="en-US" dirty="0"/>
              <a:t> </a:t>
            </a:r>
            <a:r>
              <a:rPr lang="en-US" dirty="0" err="1"/>
              <a:t>để</a:t>
            </a:r>
            <a:r>
              <a:rPr lang="en-US" dirty="0"/>
              <a:t> </a:t>
            </a:r>
            <a:r>
              <a:rPr lang="en-US" dirty="0" err="1"/>
              <a:t>mô</a:t>
            </a:r>
            <a:r>
              <a:rPr lang="en-US" dirty="0"/>
              <a:t> </a:t>
            </a:r>
            <a:r>
              <a:rPr lang="en-US" dirty="0" err="1"/>
              <a:t>tả</a:t>
            </a:r>
            <a:r>
              <a:rPr lang="en-US" dirty="0"/>
              <a:t> </a:t>
            </a:r>
            <a:r>
              <a:rPr lang="en-US" dirty="0" err="1"/>
              <a:t>đặc</a:t>
            </a:r>
            <a:r>
              <a:rPr lang="en-US" dirty="0"/>
              <a:t> </a:t>
            </a:r>
            <a:r>
              <a:rPr lang="en-US" dirty="0" err="1"/>
              <a:t>điểm</a:t>
            </a:r>
            <a:r>
              <a:rPr lang="en-US" dirty="0"/>
              <a:t> </a:t>
            </a:r>
            <a:r>
              <a:rPr lang="en-US" dirty="0" err="1"/>
              <a:t>của</a:t>
            </a:r>
            <a:r>
              <a:rPr lang="en-US" dirty="0"/>
              <a:t> </a:t>
            </a:r>
            <a:r>
              <a:rPr lang="en-US" dirty="0" err="1"/>
              <a:t>mẫu</a:t>
            </a:r>
            <a:r>
              <a:rPr lang="en-US" dirty="0"/>
              <a:t>.</a:t>
            </a:r>
          </a:p>
          <a:p>
            <a:r>
              <a:rPr lang="en-US" dirty="0"/>
              <a:t>Các </a:t>
            </a:r>
            <a:r>
              <a:rPr lang="en-US" dirty="0" err="1"/>
              <a:t>chỉ</a:t>
            </a:r>
            <a:r>
              <a:rPr lang="en-US" dirty="0"/>
              <a:t> </a:t>
            </a:r>
            <a:r>
              <a:rPr lang="en-US" dirty="0" err="1"/>
              <a:t>số</a:t>
            </a:r>
            <a:r>
              <a:rPr lang="en-US" dirty="0"/>
              <a:t>: Trung </a:t>
            </a:r>
            <a:r>
              <a:rPr lang="en-US" dirty="0" err="1"/>
              <a:t>bình</a:t>
            </a:r>
            <a:r>
              <a:rPr lang="en-US" dirty="0"/>
              <a:t> (Mean), Trung </a:t>
            </a:r>
            <a:r>
              <a:rPr lang="en-US" dirty="0" err="1"/>
              <a:t>vị</a:t>
            </a:r>
            <a:r>
              <a:rPr lang="en-US" dirty="0"/>
              <a:t> (Median), </a:t>
            </a:r>
            <a:r>
              <a:rPr lang="en-US" dirty="0" err="1"/>
              <a:t>Yếu</a:t>
            </a:r>
            <a:r>
              <a:rPr lang="en-US" dirty="0"/>
              <a:t> </a:t>
            </a:r>
            <a:r>
              <a:rPr lang="en-US" dirty="0" err="1"/>
              <a:t>vị</a:t>
            </a:r>
            <a:r>
              <a:rPr lang="en-US" dirty="0"/>
              <a:t> (Mode).</a:t>
            </a:r>
          </a:p>
          <a:p>
            <a:r>
              <a:rPr lang="en-US" dirty="0" err="1"/>
              <a:t>Biểu</a:t>
            </a:r>
            <a:r>
              <a:rPr lang="en-US" dirty="0"/>
              <a:t> </a:t>
            </a:r>
            <a:r>
              <a:rPr lang="en-US" dirty="0" err="1"/>
              <a:t>diễn</a:t>
            </a:r>
            <a:r>
              <a:rPr lang="en-US" dirty="0"/>
              <a:t> </a:t>
            </a:r>
            <a:r>
              <a:rPr lang="en-US" dirty="0" err="1"/>
              <a:t>dữ</a:t>
            </a:r>
            <a:r>
              <a:rPr lang="en-US" dirty="0"/>
              <a:t> </a:t>
            </a:r>
            <a:r>
              <a:rPr lang="en-US" dirty="0" err="1"/>
              <a:t>liệu</a:t>
            </a:r>
            <a:r>
              <a:rPr lang="en-US" dirty="0"/>
              <a:t>: </a:t>
            </a:r>
            <a:r>
              <a:rPr lang="en-US" dirty="0" err="1"/>
              <a:t>Biểu</a:t>
            </a:r>
            <a:r>
              <a:rPr lang="en-US" dirty="0"/>
              <a:t> </a:t>
            </a:r>
            <a:r>
              <a:rPr lang="en-US" dirty="0" err="1"/>
              <a:t>đồ</a:t>
            </a:r>
            <a:r>
              <a:rPr lang="en-US" dirty="0"/>
              <a:t> </a:t>
            </a:r>
            <a:r>
              <a:rPr lang="en-US" dirty="0" err="1"/>
              <a:t>tròn</a:t>
            </a:r>
            <a:r>
              <a:rPr lang="en-US" dirty="0"/>
              <a:t>, </a:t>
            </a:r>
            <a:r>
              <a:rPr lang="en-US" dirty="0" err="1"/>
              <a:t>biểu</a:t>
            </a:r>
            <a:r>
              <a:rPr lang="en-US" dirty="0"/>
              <a:t> </a:t>
            </a:r>
            <a:r>
              <a:rPr lang="en-US" dirty="0" err="1"/>
              <a:t>đồ</a:t>
            </a:r>
            <a:r>
              <a:rPr lang="en-US" dirty="0"/>
              <a:t> </a:t>
            </a:r>
            <a:r>
              <a:rPr lang="en-US" dirty="0" err="1"/>
              <a:t>cột</a:t>
            </a:r>
            <a:r>
              <a:rPr lang="en-US" dirty="0"/>
              <a:t>, </a:t>
            </a:r>
            <a:r>
              <a:rPr lang="en-US" dirty="0" err="1"/>
              <a:t>bảng</a:t>
            </a:r>
            <a:r>
              <a:rPr lang="en-US" dirty="0"/>
              <a:t> </a:t>
            </a:r>
            <a:r>
              <a:rPr lang="en-US" dirty="0" err="1"/>
              <a:t>tần</a:t>
            </a:r>
            <a:r>
              <a:rPr lang="en-US" dirty="0"/>
              <a:t> </a:t>
            </a:r>
            <a:r>
              <a:rPr lang="en-US" dirty="0" err="1"/>
              <a:t>số</a:t>
            </a:r>
            <a:r>
              <a:rPr lang="en-US" dirty="0"/>
              <a:t>.</a:t>
            </a:r>
          </a:p>
        </p:txBody>
      </p:sp>
      <p:sp>
        <p:nvSpPr>
          <p:cNvPr id="3" name="Footer Placeholder 2">
            <a:extLst>
              <a:ext uri="{FF2B5EF4-FFF2-40B4-BE49-F238E27FC236}">
                <a16:creationId xmlns:a16="http://schemas.microsoft.com/office/drawing/2014/main" id="{4054B4C3-20E0-E506-724B-367B2A50E568}"/>
              </a:ext>
            </a:extLst>
          </p:cNvPr>
          <p:cNvSpPr>
            <a:spLocks noGrp="1"/>
          </p:cNvSpPr>
          <p:nvPr>
            <p:ph type="ftr" sz="quarter" idx="11"/>
          </p:nvPr>
        </p:nvSpPr>
        <p:spPr>
          <a:xfrm>
            <a:off x="108246" y="6493561"/>
            <a:ext cx="8031424" cy="391212"/>
          </a:xfrm>
        </p:spPr>
        <p:txBody>
          <a:bodyPr/>
          <a:lstStyle/>
          <a:p>
            <a:r>
              <a:rPr lang="zh-CN" altLang="en-US" dirty="0"/>
              <a:t>科学研究方法</a:t>
            </a:r>
            <a:endParaRPr lang="en-US" dirty="0"/>
          </a:p>
        </p:txBody>
      </p:sp>
      <p:sp>
        <p:nvSpPr>
          <p:cNvPr id="2" name="Slide Number Placeholder 1">
            <a:extLst>
              <a:ext uri="{FF2B5EF4-FFF2-40B4-BE49-F238E27FC236}">
                <a16:creationId xmlns:a16="http://schemas.microsoft.com/office/drawing/2014/main" id="{536F72C4-519D-4CB0-1D60-32136598C312}"/>
              </a:ext>
            </a:extLst>
          </p:cNvPr>
          <p:cNvSpPr>
            <a:spLocks noGrp="1"/>
          </p:cNvSpPr>
          <p:nvPr>
            <p:ph type="sldNum" sz="quarter" idx="12"/>
          </p:nvPr>
        </p:nvSpPr>
        <p:spPr/>
        <p:txBody>
          <a:bodyPr/>
          <a:lstStyle/>
          <a:p>
            <a:fld id="{A71D4CCC-BB3A-4D93-86F3-16B4E3CF782A}" type="slidenum">
              <a:rPr lang="en-US" smtClean="0"/>
              <a:t>10</a:t>
            </a:fld>
            <a:endParaRPr lang="en-US"/>
          </a:p>
        </p:txBody>
      </p:sp>
    </p:spTree>
    <p:extLst>
      <p:ext uri="{BB962C8B-B14F-4D97-AF65-F5344CB8AC3E}">
        <p14:creationId xmlns:p14="http://schemas.microsoft.com/office/powerpoint/2010/main" val="4013815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6599D-7F2D-57D5-5A06-0B0016AD554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52622B6-E42F-19B9-9596-1CF53A9AEE26}"/>
              </a:ext>
            </a:extLst>
          </p:cNvPr>
          <p:cNvSpPr>
            <a:spLocks noGrp="1"/>
          </p:cNvSpPr>
          <p:nvPr>
            <p:ph type="title"/>
          </p:nvPr>
        </p:nvSpPr>
        <p:spPr>
          <a:xfrm>
            <a:off x="108246" y="13730"/>
            <a:ext cx="11969404" cy="936361"/>
          </a:xfrm>
        </p:spPr>
        <p:txBody>
          <a:bodyPr/>
          <a:lstStyle/>
          <a:p>
            <a:r>
              <a:rPr lang="en-US" b="1" dirty="0"/>
              <a:t> 7.3. </a:t>
            </a:r>
            <a:r>
              <a:rPr lang="en-US" b="1" dirty="0" err="1"/>
              <a:t>Phân</a:t>
            </a:r>
            <a:r>
              <a:rPr lang="en-US" b="1" dirty="0"/>
              <a:t> </a:t>
            </a:r>
            <a:r>
              <a:rPr lang="en-US" b="1" dirty="0" err="1"/>
              <a:t>tích</a:t>
            </a:r>
            <a:r>
              <a:rPr lang="en-US" b="1" dirty="0"/>
              <a:t> </a:t>
            </a:r>
            <a:r>
              <a:rPr lang="en-US" b="1" dirty="0" err="1"/>
              <a:t>định</a:t>
            </a:r>
            <a:r>
              <a:rPr lang="en-US" b="1" dirty="0"/>
              <a:t> </a:t>
            </a:r>
            <a:r>
              <a:rPr lang="en-US" b="1" dirty="0" err="1"/>
              <a:t>tính</a:t>
            </a:r>
            <a:r>
              <a:rPr lang="en-US" b="1" dirty="0"/>
              <a:t> (Qualitative Analysis)</a:t>
            </a:r>
            <a:endParaRPr lang="vi-VN" b="1" dirty="0"/>
          </a:p>
        </p:txBody>
      </p:sp>
      <p:sp>
        <p:nvSpPr>
          <p:cNvPr id="5" name="Content Placeholder 4">
            <a:extLst>
              <a:ext uri="{FF2B5EF4-FFF2-40B4-BE49-F238E27FC236}">
                <a16:creationId xmlns:a16="http://schemas.microsoft.com/office/drawing/2014/main" id="{B1C476FF-A1EA-1732-85A9-3E0D81B49E30}"/>
              </a:ext>
            </a:extLst>
          </p:cNvPr>
          <p:cNvSpPr>
            <a:spLocks noGrp="1"/>
          </p:cNvSpPr>
          <p:nvPr>
            <p:ph idx="1"/>
          </p:nvPr>
        </p:nvSpPr>
        <p:spPr>
          <a:xfrm>
            <a:off x="108246" y="963142"/>
            <a:ext cx="11969404" cy="5512359"/>
          </a:xfrm>
        </p:spPr>
        <p:txBody>
          <a:bodyPr>
            <a:normAutofit/>
          </a:bodyPr>
          <a:lstStyle/>
          <a:p>
            <a:r>
              <a:rPr lang="en-US" dirty="0" err="1"/>
              <a:t>Dành</a:t>
            </a:r>
            <a:r>
              <a:rPr lang="en-US" dirty="0"/>
              <a:t> </a:t>
            </a:r>
            <a:r>
              <a:rPr lang="en-US" dirty="0" err="1"/>
              <a:t>cho</a:t>
            </a:r>
            <a:r>
              <a:rPr lang="en-US" dirty="0"/>
              <a:t> </a:t>
            </a:r>
            <a:r>
              <a:rPr lang="en-US" dirty="0" err="1"/>
              <a:t>các</a:t>
            </a:r>
            <a:r>
              <a:rPr lang="en-US" dirty="0"/>
              <a:t> </a:t>
            </a:r>
            <a:r>
              <a:rPr lang="en-US" dirty="0" err="1"/>
              <a:t>đề</a:t>
            </a:r>
            <a:r>
              <a:rPr lang="en-US" dirty="0"/>
              <a:t> </a:t>
            </a:r>
            <a:r>
              <a:rPr lang="en-US" dirty="0" err="1"/>
              <a:t>tài</a:t>
            </a:r>
            <a:r>
              <a:rPr lang="en-US" dirty="0"/>
              <a:t> </a:t>
            </a:r>
            <a:r>
              <a:rPr lang="en-US" dirty="0" err="1"/>
              <a:t>về</a:t>
            </a:r>
            <a:r>
              <a:rPr lang="en-US" dirty="0"/>
              <a:t> Văn </a:t>
            </a:r>
            <a:r>
              <a:rPr lang="en-US" dirty="0" err="1"/>
              <a:t>hóa</a:t>
            </a:r>
            <a:r>
              <a:rPr lang="en-US" dirty="0"/>
              <a:t>, </a:t>
            </a:r>
            <a:r>
              <a:rPr lang="en-US" dirty="0" err="1"/>
              <a:t>Ngôn</a:t>
            </a:r>
            <a:r>
              <a:rPr lang="en-US" dirty="0"/>
              <a:t> </a:t>
            </a:r>
            <a:r>
              <a:rPr lang="en-US" dirty="0" err="1"/>
              <a:t>ngữ</a:t>
            </a:r>
            <a:r>
              <a:rPr lang="en-US" dirty="0"/>
              <a:t> </a:t>
            </a:r>
            <a:r>
              <a:rPr lang="en-US" dirty="0" err="1"/>
              <a:t>học</a:t>
            </a:r>
            <a:r>
              <a:rPr lang="en-US" dirty="0"/>
              <a:t> (</a:t>
            </a:r>
            <a:r>
              <a:rPr lang="en-US" dirty="0" err="1"/>
              <a:t>ngữ</a:t>
            </a:r>
            <a:r>
              <a:rPr lang="en-US" dirty="0"/>
              <a:t> </a:t>
            </a:r>
            <a:r>
              <a:rPr lang="en-US" dirty="0" err="1"/>
              <a:t>nghĩa</a:t>
            </a:r>
            <a:r>
              <a:rPr lang="en-US" dirty="0"/>
              <a:t>), </a:t>
            </a:r>
            <a:r>
              <a:rPr lang="en-US" dirty="0" err="1"/>
              <a:t>Giáo</a:t>
            </a:r>
            <a:r>
              <a:rPr lang="en-US" dirty="0"/>
              <a:t> </a:t>
            </a:r>
            <a:r>
              <a:rPr lang="en-US" dirty="0" err="1"/>
              <a:t>dục</a:t>
            </a:r>
            <a:r>
              <a:rPr lang="en-US" dirty="0"/>
              <a:t> (</a:t>
            </a:r>
            <a:r>
              <a:rPr lang="en-US" dirty="0" err="1"/>
              <a:t>hành</a:t>
            </a:r>
            <a:r>
              <a:rPr lang="en-US" dirty="0"/>
              <a:t> vi).</a:t>
            </a:r>
          </a:p>
          <a:p>
            <a:r>
              <a:rPr lang="en-US" b="1" dirty="0" err="1"/>
              <a:t>Đặc</a:t>
            </a:r>
            <a:r>
              <a:rPr lang="en-US" b="1" dirty="0"/>
              <a:t> </a:t>
            </a:r>
            <a:r>
              <a:rPr lang="en-US" b="1" dirty="0" err="1"/>
              <a:t>điểm</a:t>
            </a:r>
            <a:r>
              <a:rPr lang="en-US" b="1" dirty="0"/>
              <a:t>:</a:t>
            </a:r>
            <a:r>
              <a:rPr lang="en-US" dirty="0"/>
              <a:t> </a:t>
            </a:r>
            <a:r>
              <a:rPr lang="en-US" dirty="0" err="1"/>
              <a:t>Dữ</a:t>
            </a:r>
            <a:r>
              <a:rPr lang="en-US" dirty="0"/>
              <a:t> </a:t>
            </a:r>
            <a:r>
              <a:rPr lang="en-US" dirty="0" err="1"/>
              <a:t>liệu</a:t>
            </a:r>
            <a:r>
              <a:rPr lang="en-US" dirty="0"/>
              <a:t> </a:t>
            </a:r>
            <a:r>
              <a:rPr lang="en-US" dirty="0" err="1"/>
              <a:t>là</a:t>
            </a:r>
            <a:r>
              <a:rPr lang="en-US" dirty="0"/>
              <a:t> </a:t>
            </a:r>
            <a:r>
              <a:rPr lang="en-US" dirty="0" err="1"/>
              <a:t>từ</a:t>
            </a:r>
            <a:r>
              <a:rPr lang="en-US" dirty="0"/>
              <a:t> </a:t>
            </a:r>
            <a:r>
              <a:rPr lang="en-US" dirty="0" err="1"/>
              <a:t>ngữ</a:t>
            </a:r>
            <a:r>
              <a:rPr lang="en-US" dirty="0"/>
              <a:t>, </a:t>
            </a:r>
            <a:r>
              <a:rPr lang="en-US" dirty="0" err="1"/>
              <a:t>hình</a:t>
            </a:r>
            <a:r>
              <a:rPr lang="en-US" dirty="0"/>
              <a:t> </a:t>
            </a:r>
            <a:r>
              <a:rPr lang="en-US" dirty="0" err="1"/>
              <a:t>ảnh</a:t>
            </a:r>
            <a:r>
              <a:rPr lang="en-US" dirty="0"/>
              <a:t>, </a:t>
            </a:r>
            <a:r>
              <a:rPr lang="en-US" dirty="0" err="1"/>
              <a:t>âm</a:t>
            </a:r>
            <a:r>
              <a:rPr lang="en-US" dirty="0"/>
              <a:t> </a:t>
            </a:r>
            <a:r>
              <a:rPr lang="en-US" dirty="0" err="1"/>
              <a:t>thanh</a:t>
            </a:r>
            <a:r>
              <a:rPr lang="en-US" dirty="0"/>
              <a:t> (</a:t>
            </a:r>
            <a:r>
              <a:rPr lang="en-US" dirty="0" err="1"/>
              <a:t>không</a:t>
            </a:r>
            <a:r>
              <a:rPr lang="en-US" dirty="0"/>
              <a:t> </a:t>
            </a:r>
            <a:r>
              <a:rPr lang="en-US" dirty="0" err="1"/>
              <a:t>phải</a:t>
            </a:r>
            <a:r>
              <a:rPr lang="en-US" dirty="0"/>
              <a:t> con </a:t>
            </a:r>
            <a:r>
              <a:rPr lang="en-US" dirty="0" err="1"/>
              <a:t>số</a:t>
            </a:r>
            <a:r>
              <a:rPr lang="en-US" dirty="0"/>
              <a:t>).</a:t>
            </a:r>
          </a:p>
          <a:p>
            <a:r>
              <a:rPr lang="en-US" b="1" dirty="0" err="1"/>
              <a:t>Mục</a:t>
            </a:r>
            <a:r>
              <a:rPr lang="en-US" b="1" dirty="0"/>
              <a:t> </a:t>
            </a:r>
            <a:r>
              <a:rPr lang="en-US" b="1" dirty="0" err="1"/>
              <a:t>tiêu</a:t>
            </a:r>
            <a:r>
              <a:rPr lang="en-US" b="1" dirty="0"/>
              <a:t>:</a:t>
            </a:r>
            <a:r>
              <a:rPr lang="en-US" dirty="0"/>
              <a:t> Tìm </a:t>
            </a:r>
            <a:r>
              <a:rPr lang="en-US" dirty="0" err="1"/>
              <a:t>hiểu</a:t>
            </a:r>
            <a:r>
              <a:rPr lang="en-US" dirty="0"/>
              <a:t> ý </a:t>
            </a:r>
            <a:r>
              <a:rPr lang="en-US" dirty="0" err="1"/>
              <a:t>nghĩa</a:t>
            </a:r>
            <a:r>
              <a:rPr lang="en-US" dirty="0"/>
              <a:t> </a:t>
            </a:r>
            <a:r>
              <a:rPr lang="en-US" dirty="0" err="1"/>
              <a:t>sâu</a:t>
            </a:r>
            <a:r>
              <a:rPr lang="en-US" dirty="0"/>
              <a:t> xa, </a:t>
            </a:r>
            <a:r>
              <a:rPr lang="en-US" dirty="0" err="1"/>
              <a:t>bản</a:t>
            </a:r>
            <a:r>
              <a:rPr lang="en-US" dirty="0"/>
              <a:t> </a:t>
            </a:r>
            <a:r>
              <a:rPr lang="en-US" dirty="0" err="1"/>
              <a:t>chất</a:t>
            </a:r>
            <a:r>
              <a:rPr lang="en-US" dirty="0"/>
              <a:t> </a:t>
            </a:r>
            <a:r>
              <a:rPr lang="en-US" dirty="0" err="1"/>
              <a:t>vấn</a:t>
            </a:r>
            <a:r>
              <a:rPr lang="en-US" dirty="0"/>
              <a:t> </a:t>
            </a:r>
            <a:r>
              <a:rPr lang="en-US" dirty="0" err="1"/>
              <a:t>đề</a:t>
            </a:r>
            <a:r>
              <a:rPr lang="en-US" dirty="0"/>
              <a:t>.</a:t>
            </a:r>
          </a:p>
        </p:txBody>
      </p:sp>
      <p:sp>
        <p:nvSpPr>
          <p:cNvPr id="3" name="Footer Placeholder 2">
            <a:extLst>
              <a:ext uri="{FF2B5EF4-FFF2-40B4-BE49-F238E27FC236}">
                <a16:creationId xmlns:a16="http://schemas.microsoft.com/office/drawing/2014/main" id="{E2746088-343D-ED60-821D-E8BC82889171}"/>
              </a:ext>
            </a:extLst>
          </p:cNvPr>
          <p:cNvSpPr>
            <a:spLocks noGrp="1"/>
          </p:cNvSpPr>
          <p:nvPr>
            <p:ph type="ftr" sz="quarter" idx="11"/>
          </p:nvPr>
        </p:nvSpPr>
        <p:spPr>
          <a:xfrm>
            <a:off x="108246" y="6493561"/>
            <a:ext cx="8031424" cy="391212"/>
          </a:xfrm>
        </p:spPr>
        <p:txBody>
          <a:bodyPr/>
          <a:lstStyle/>
          <a:p>
            <a:r>
              <a:rPr lang="zh-CN" altLang="en-US" dirty="0"/>
              <a:t>科学研究方法</a:t>
            </a:r>
            <a:endParaRPr lang="en-US" dirty="0"/>
          </a:p>
        </p:txBody>
      </p:sp>
      <p:sp>
        <p:nvSpPr>
          <p:cNvPr id="2" name="Slide Number Placeholder 1">
            <a:extLst>
              <a:ext uri="{FF2B5EF4-FFF2-40B4-BE49-F238E27FC236}">
                <a16:creationId xmlns:a16="http://schemas.microsoft.com/office/drawing/2014/main" id="{DA93C05A-681A-1E10-415B-81B65B3FAF05}"/>
              </a:ext>
            </a:extLst>
          </p:cNvPr>
          <p:cNvSpPr>
            <a:spLocks noGrp="1"/>
          </p:cNvSpPr>
          <p:nvPr>
            <p:ph type="sldNum" sz="quarter" idx="12"/>
          </p:nvPr>
        </p:nvSpPr>
        <p:spPr/>
        <p:txBody>
          <a:bodyPr/>
          <a:lstStyle/>
          <a:p>
            <a:fld id="{A71D4CCC-BB3A-4D93-86F3-16B4E3CF782A}" type="slidenum">
              <a:rPr lang="en-US" smtClean="0"/>
              <a:t>11</a:t>
            </a:fld>
            <a:endParaRPr lang="en-US"/>
          </a:p>
        </p:txBody>
      </p:sp>
    </p:spTree>
    <p:extLst>
      <p:ext uri="{BB962C8B-B14F-4D97-AF65-F5344CB8AC3E}">
        <p14:creationId xmlns:p14="http://schemas.microsoft.com/office/powerpoint/2010/main" val="932219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2940F-93C5-A510-6F83-DC3D2752362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C1FC461-0498-1123-654C-586DB4372CB2}"/>
              </a:ext>
            </a:extLst>
          </p:cNvPr>
          <p:cNvSpPr>
            <a:spLocks noGrp="1"/>
          </p:cNvSpPr>
          <p:nvPr>
            <p:ph type="title"/>
          </p:nvPr>
        </p:nvSpPr>
        <p:spPr>
          <a:xfrm>
            <a:off x="108246" y="13730"/>
            <a:ext cx="11969404" cy="936361"/>
          </a:xfrm>
        </p:spPr>
        <p:txBody>
          <a:bodyPr/>
          <a:lstStyle/>
          <a:p>
            <a:r>
              <a:rPr lang="en-US" b="1" dirty="0"/>
              <a:t>Khi </a:t>
            </a:r>
            <a:r>
              <a:rPr lang="en-US" b="1" dirty="0" err="1"/>
              <a:t>nào</a:t>
            </a:r>
            <a:r>
              <a:rPr lang="en-US" b="1" dirty="0"/>
              <a:t> </a:t>
            </a:r>
            <a:r>
              <a:rPr lang="en-US" b="1" dirty="0" err="1"/>
              <a:t>dùng</a:t>
            </a:r>
            <a:r>
              <a:rPr lang="en-US" b="1" dirty="0"/>
              <a:t> </a:t>
            </a:r>
            <a:r>
              <a:rPr lang="en-US" b="1" dirty="0" err="1"/>
              <a:t>nghiên</a:t>
            </a:r>
            <a:r>
              <a:rPr lang="en-US" b="1" dirty="0"/>
              <a:t> </a:t>
            </a:r>
            <a:r>
              <a:rPr lang="en-US" b="1" dirty="0" err="1"/>
              <a:t>cứu</a:t>
            </a:r>
            <a:r>
              <a:rPr lang="en-US" b="1" dirty="0"/>
              <a:t> </a:t>
            </a:r>
            <a:r>
              <a:rPr lang="en-US" b="1" dirty="0" err="1"/>
              <a:t>định</a:t>
            </a:r>
            <a:r>
              <a:rPr lang="en-US" b="1" dirty="0"/>
              <a:t> </a:t>
            </a:r>
            <a:r>
              <a:rPr lang="en-US" b="1" dirty="0" err="1"/>
              <a:t>tính</a:t>
            </a:r>
            <a:r>
              <a:rPr lang="en-US" b="1" dirty="0"/>
              <a:t>?</a:t>
            </a:r>
            <a:endParaRPr lang="vi-VN" b="1" dirty="0"/>
          </a:p>
        </p:txBody>
      </p:sp>
      <p:sp>
        <p:nvSpPr>
          <p:cNvPr id="5" name="Content Placeholder 4">
            <a:extLst>
              <a:ext uri="{FF2B5EF4-FFF2-40B4-BE49-F238E27FC236}">
                <a16:creationId xmlns:a16="http://schemas.microsoft.com/office/drawing/2014/main" id="{0E8B10C2-5BBE-7C91-84A7-D6E6AABB3688}"/>
              </a:ext>
            </a:extLst>
          </p:cNvPr>
          <p:cNvSpPr>
            <a:spLocks noGrp="1"/>
          </p:cNvSpPr>
          <p:nvPr>
            <p:ph idx="1"/>
          </p:nvPr>
        </p:nvSpPr>
        <p:spPr>
          <a:xfrm>
            <a:off x="108246" y="963142"/>
            <a:ext cx="11969404" cy="5512359"/>
          </a:xfrm>
        </p:spPr>
        <p:txBody>
          <a:bodyPr>
            <a:normAutofit/>
          </a:bodyPr>
          <a:lstStyle/>
          <a:p>
            <a:r>
              <a:rPr lang="vi-VN" dirty="0"/>
              <a:t>Khi vấn đề còn mới, chưa có lý thuyết rõ ràng.</a:t>
            </a:r>
          </a:p>
          <a:p>
            <a:r>
              <a:rPr lang="vi-VN" dirty="0"/>
              <a:t>Khi cần tìm hiểu sâu về trải nghiệm, quan điểm.</a:t>
            </a:r>
          </a:p>
          <a:p>
            <a:r>
              <a:rPr lang="vi-VN" dirty="0"/>
              <a:t>Ví dụ: "Khó khăn tâm lý của sinh viên khi học chữ Hán".</a:t>
            </a:r>
            <a:endParaRPr lang="en-US" dirty="0"/>
          </a:p>
          <a:p>
            <a:endParaRPr lang="en-US" dirty="0"/>
          </a:p>
          <a:p>
            <a:pPr marL="0" indent="0">
              <a:buNone/>
            </a:pPr>
            <a:r>
              <a:rPr lang="en-US" b="1" dirty="0"/>
              <a:t>Các </a:t>
            </a:r>
            <a:r>
              <a:rPr lang="en-US" b="1" dirty="0" err="1"/>
              <a:t>công</a:t>
            </a:r>
            <a:r>
              <a:rPr lang="en-US" b="1" dirty="0"/>
              <a:t> </a:t>
            </a:r>
            <a:r>
              <a:rPr lang="en-US" b="1" dirty="0" err="1"/>
              <a:t>cụ</a:t>
            </a:r>
            <a:r>
              <a:rPr lang="en-US" b="1" dirty="0"/>
              <a:t> </a:t>
            </a:r>
            <a:r>
              <a:rPr lang="en-US" b="1" dirty="0" err="1"/>
              <a:t>thu</a:t>
            </a:r>
            <a:r>
              <a:rPr lang="en-US" b="1" dirty="0"/>
              <a:t> </a:t>
            </a:r>
            <a:r>
              <a:rPr lang="en-US" b="1" dirty="0" err="1"/>
              <a:t>thập</a:t>
            </a:r>
            <a:r>
              <a:rPr lang="en-US" b="1" dirty="0"/>
              <a:t> </a:t>
            </a:r>
            <a:r>
              <a:rPr lang="en-US" b="1" dirty="0" err="1"/>
              <a:t>định</a:t>
            </a:r>
            <a:r>
              <a:rPr lang="en-US" b="1" dirty="0"/>
              <a:t> </a:t>
            </a:r>
            <a:r>
              <a:rPr lang="en-US" b="1" dirty="0" err="1"/>
              <a:t>tính</a:t>
            </a:r>
            <a:r>
              <a:rPr lang="en-US" b="1" dirty="0"/>
              <a:t> </a:t>
            </a:r>
            <a:r>
              <a:rPr lang="en-US" b="1" dirty="0" err="1"/>
              <a:t>chính</a:t>
            </a:r>
            <a:endParaRPr lang="en-US" dirty="0"/>
          </a:p>
          <a:p>
            <a:r>
              <a:rPr lang="en-US" dirty="0" err="1"/>
              <a:t>Phỏng</a:t>
            </a:r>
            <a:r>
              <a:rPr lang="en-US" dirty="0"/>
              <a:t> </a:t>
            </a:r>
            <a:r>
              <a:rPr lang="en-US" dirty="0" err="1"/>
              <a:t>vấn</a:t>
            </a:r>
            <a:r>
              <a:rPr lang="en-US" dirty="0"/>
              <a:t> </a:t>
            </a:r>
            <a:r>
              <a:rPr lang="en-US" dirty="0" err="1"/>
              <a:t>sâu</a:t>
            </a:r>
            <a:r>
              <a:rPr lang="en-US" dirty="0"/>
              <a:t> (In-depth Interview).</a:t>
            </a:r>
          </a:p>
          <a:p>
            <a:r>
              <a:rPr lang="en-US" dirty="0"/>
              <a:t>Thảo </a:t>
            </a:r>
            <a:r>
              <a:rPr lang="en-US" dirty="0" err="1"/>
              <a:t>luận</a:t>
            </a:r>
            <a:r>
              <a:rPr lang="en-US" dirty="0"/>
              <a:t> </a:t>
            </a:r>
            <a:r>
              <a:rPr lang="en-US" dirty="0" err="1"/>
              <a:t>nhóm</a:t>
            </a:r>
            <a:r>
              <a:rPr lang="en-US" dirty="0"/>
              <a:t> </a:t>
            </a:r>
            <a:r>
              <a:rPr lang="en-US" dirty="0" err="1"/>
              <a:t>tập</a:t>
            </a:r>
            <a:r>
              <a:rPr lang="en-US" dirty="0"/>
              <a:t> </a:t>
            </a:r>
            <a:r>
              <a:rPr lang="en-US" dirty="0" err="1"/>
              <a:t>trung</a:t>
            </a:r>
            <a:r>
              <a:rPr lang="en-US" dirty="0"/>
              <a:t> (Focus Group).</a:t>
            </a:r>
          </a:p>
          <a:p>
            <a:r>
              <a:rPr lang="en-US" dirty="0"/>
              <a:t>Quan </a:t>
            </a:r>
            <a:r>
              <a:rPr lang="en-US" dirty="0" err="1"/>
              <a:t>sát</a:t>
            </a:r>
            <a:r>
              <a:rPr lang="en-US" dirty="0"/>
              <a:t> </a:t>
            </a:r>
            <a:r>
              <a:rPr lang="en-US" dirty="0" err="1"/>
              <a:t>tham</a:t>
            </a:r>
            <a:r>
              <a:rPr lang="en-US" dirty="0"/>
              <a:t> </a:t>
            </a:r>
            <a:r>
              <a:rPr lang="en-US" dirty="0" err="1"/>
              <a:t>dự</a:t>
            </a:r>
            <a:r>
              <a:rPr lang="en-US" dirty="0"/>
              <a:t>.</a:t>
            </a:r>
          </a:p>
          <a:p>
            <a:endParaRPr lang="vi-VN" dirty="0"/>
          </a:p>
        </p:txBody>
      </p:sp>
      <p:sp>
        <p:nvSpPr>
          <p:cNvPr id="3" name="Footer Placeholder 2">
            <a:extLst>
              <a:ext uri="{FF2B5EF4-FFF2-40B4-BE49-F238E27FC236}">
                <a16:creationId xmlns:a16="http://schemas.microsoft.com/office/drawing/2014/main" id="{D3B16152-D1F1-1EA0-0D9D-E605572804D8}"/>
              </a:ext>
            </a:extLst>
          </p:cNvPr>
          <p:cNvSpPr>
            <a:spLocks noGrp="1"/>
          </p:cNvSpPr>
          <p:nvPr>
            <p:ph type="ftr" sz="quarter" idx="11"/>
          </p:nvPr>
        </p:nvSpPr>
        <p:spPr>
          <a:xfrm>
            <a:off x="108246" y="6493561"/>
            <a:ext cx="8031424" cy="391212"/>
          </a:xfrm>
        </p:spPr>
        <p:txBody>
          <a:bodyPr/>
          <a:lstStyle/>
          <a:p>
            <a:r>
              <a:rPr lang="zh-CN" altLang="en-US" dirty="0"/>
              <a:t>科学研究方法</a:t>
            </a:r>
            <a:endParaRPr lang="en-US" dirty="0"/>
          </a:p>
        </p:txBody>
      </p:sp>
      <p:sp>
        <p:nvSpPr>
          <p:cNvPr id="2" name="Slide Number Placeholder 1">
            <a:extLst>
              <a:ext uri="{FF2B5EF4-FFF2-40B4-BE49-F238E27FC236}">
                <a16:creationId xmlns:a16="http://schemas.microsoft.com/office/drawing/2014/main" id="{018EA4C1-6A3E-A318-11BB-AF3961C96D60}"/>
              </a:ext>
            </a:extLst>
          </p:cNvPr>
          <p:cNvSpPr>
            <a:spLocks noGrp="1"/>
          </p:cNvSpPr>
          <p:nvPr>
            <p:ph type="sldNum" sz="quarter" idx="12"/>
          </p:nvPr>
        </p:nvSpPr>
        <p:spPr/>
        <p:txBody>
          <a:bodyPr/>
          <a:lstStyle/>
          <a:p>
            <a:fld id="{A71D4CCC-BB3A-4D93-86F3-16B4E3CF782A}" type="slidenum">
              <a:rPr lang="en-US" smtClean="0"/>
              <a:t>12</a:t>
            </a:fld>
            <a:endParaRPr lang="en-US"/>
          </a:p>
        </p:txBody>
      </p:sp>
    </p:spTree>
    <p:extLst>
      <p:ext uri="{BB962C8B-B14F-4D97-AF65-F5344CB8AC3E}">
        <p14:creationId xmlns:p14="http://schemas.microsoft.com/office/powerpoint/2010/main" val="3915255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FDFA2-7C9E-E095-01D4-F7B7DFDFE84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711BF36-ED91-4D20-2549-4572BF03A6F5}"/>
              </a:ext>
            </a:extLst>
          </p:cNvPr>
          <p:cNvSpPr>
            <a:spLocks noGrp="1"/>
          </p:cNvSpPr>
          <p:nvPr>
            <p:ph type="title"/>
          </p:nvPr>
        </p:nvSpPr>
        <p:spPr>
          <a:xfrm>
            <a:off x="108246" y="13730"/>
            <a:ext cx="11969404" cy="936361"/>
          </a:xfrm>
        </p:spPr>
        <p:txBody>
          <a:bodyPr/>
          <a:lstStyle/>
          <a:p>
            <a:r>
              <a:rPr lang="vi-VN" b="1" dirty="0"/>
              <a:t>Tổng kết Chương 7</a:t>
            </a:r>
          </a:p>
        </p:txBody>
      </p:sp>
      <p:sp>
        <p:nvSpPr>
          <p:cNvPr id="5" name="Content Placeholder 4">
            <a:extLst>
              <a:ext uri="{FF2B5EF4-FFF2-40B4-BE49-F238E27FC236}">
                <a16:creationId xmlns:a16="http://schemas.microsoft.com/office/drawing/2014/main" id="{6E4FE4C5-AB4D-DE6E-1CD8-5144BE42ADDF}"/>
              </a:ext>
            </a:extLst>
          </p:cNvPr>
          <p:cNvSpPr>
            <a:spLocks noGrp="1"/>
          </p:cNvSpPr>
          <p:nvPr>
            <p:ph idx="1"/>
          </p:nvPr>
        </p:nvSpPr>
        <p:spPr>
          <a:xfrm>
            <a:off x="108246" y="963142"/>
            <a:ext cx="11969404" cy="5512359"/>
          </a:xfrm>
        </p:spPr>
        <p:txBody>
          <a:bodyPr>
            <a:normAutofit/>
          </a:bodyPr>
          <a:lstStyle/>
          <a:p>
            <a:r>
              <a:rPr lang="vi-VN" dirty="0"/>
              <a:t>Chọn mẫu đúng giúp kết quả đại diện cho tổng thể.</a:t>
            </a:r>
          </a:p>
          <a:p>
            <a:r>
              <a:rPr lang="vi-VN" dirty="0"/>
              <a:t>Xử lý dữ liệu cẩn thận giúp tránh sai lệch kết quả.</a:t>
            </a:r>
          </a:p>
          <a:p>
            <a:r>
              <a:rPr lang="vi-VN" dirty="0"/>
              <a:t>Lựa chọn phân tích (Định tính/Định lượng) phải phù hợp với Mục tiêu nghiên cứu đã đặt ra ở Chương 2.</a:t>
            </a:r>
          </a:p>
        </p:txBody>
      </p:sp>
      <p:sp>
        <p:nvSpPr>
          <p:cNvPr id="3" name="Footer Placeholder 2">
            <a:extLst>
              <a:ext uri="{FF2B5EF4-FFF2-40B4-BE49-F238E27FC236}">
                <a16:creationId xmlns:a16="http://schemas.microsoft.com/office/drawing/2014/main" id="{5AF3D016-48B3-F87E-831E-BA9847426322}"/>
              </a:ext>
            </a:extLst>
          </p:cNvPr>
          <p:cNvSpPr>
            <a:spLocks noGrp="1"/>
          </p:cNvSpPr>
          <p:nvPr>
            <p:ph type="ftr" sz="quarter" idx="11"/>
          </p:nvPr>
        </p:nvSpPr>
        <p:spPr>
          <a:xfrm>
            <a:off x="108246" y="6493561"/>
            <a:ext cx="8031424" cy="391212"/>
          </a:xfrm>
        </p:spPr>
        <p:txBody>
          <a:bodyPr/>
          <a:lstStyle/>
          <a:p>
            <a:r>
              <a:rPr lang="zh-CN" altLang="en-US" dirty="0"/>
              <a:t>科学研究方法</a:t>
            </a:r>
            <a:endParaRPr lang="en-US" dirty="0"/>
          </a:p>
        </p:txBody>
      </p:sp>
      <p:sp>
        <p:nvSpPr>
          <p:cNvPr id="2" name="Slide Number Placeholder 1">
            <a:extLst>
              <a:ext uri="{FF2B5EF4-FFF2-40B4-BE49-F238E27FC236}">
                <a16:creationId xmlns:a16="http://schemas.microsoft.com/office/drawing/2014/main" id="{97438C55-5CFD-E116-ED71-A1A98CAD8147}"/>
              </a:ext>
            </a:extLst>
          </p:cNvPr>
          <p:cNvSpPr>
            <a:spLocks noGrp="1"/>
          </p:cNvSpPr>
          <p:nvPr>
            <p:ph type="sldNum" sz="quarter" idx="12"/>
          </p:nvPr>
        </p:nvSpPr>
        <p:spPr/>
        <p:txBody>
          <a:bodyPr/>
          <a:lstStyle/>
          <a:p>
            <a:fld id="{A71D4CCC-BB3A-4D93-86F3-16B4E3CF782A}" type="slidenum">
              <a:rPr lang="en-US" smtClean="0"/>
              <a:t>13</a:t>
            </a:fld>
            <a:endParaRPr lang="en-US"/>
          </a:p>
        </p:txBody>
      </p:sp>
    </p:spTree>
    <p:extLst>
      <p:ext uri="{BB962C8B-B14F-4D97-AF65-F5344CB8AC3E}">
        <p14:creationId xmlns:p14="http://schemas.microsoft.com/office/powerpoint/2010/main" val="3114275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11C5E-0FFA-4850-49A2-4A14A01A8A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6C9CD7-411B-4244-CB11-241ACBD1C956}"/>
              </a:ext>
            </a:extLst>
          </p:cNvPr>
          <p:cNvSpPr>
            <a:spLocks noGrp="1"/>
          </p:cNvSpPr>
          <p:nvPr>
            <p:ph type="ctrTitle"/>
          </p:nvPr>
        </p:nvSpPr>
        <p:spPr/>
        <p:txBody>
          <a:bodyPr>
            <a:normAutofit/>
          </a:bodyPr>
          <a:lstStyle/>
          <a:p>
            <a:r>
              <a:rPr lang="en-US" sz="5300" dirty="0" err="1"/>
              <a:t>Phần</a:t>
            </a:r>
            <a:r>
              <a:rPr lang="en-US" sz="5300" dirty="0"/>
              <a:t> 2</a:t>
            </a:r>
            <a:br>
              <a:rPr lang="en-US" dirty="0"/>
            </a:br>
            <a:r>
              <a:rPr lang="en-US" b="1" dirty="0"/>
              <a:t>ÔN TẬP TOÀN KHÓA</a:t>
            </a:r>
            <a:endParaRPr lang="en-US" dirty="0"/>
          </a:p>
        </p:txBody>
      </p:sp>
      <p:sp>
        <p:nvSpPr>
          <p:cNvPr id="4" name="Slide Number Placeholder 3">
            <a:extLst>
              <a:ext uri="{FF2B5EF4-FFF2-40B4-BE49-F238E27FC236}">
                <a16:creationId xmlns:a16="http://schemas.microsoft.com/office/drawing/2014/main" id="{0859FA94-A104-3A31-C5A4-D52AD8FD3C37}"/>
              </a:ext>
            </a:extLst>
          </p:cNvPr>
          <p:cNvSpPr>
            <a:spLocks noGrp="1"/>
          </p:cNvSpPr>
          <p:nvPr>
            <p:ph type="sldNum" sz="quarter" idx="12"/>
          </p:nvPr>
        </p:nvSpPr>
        <p:spPr/>
        <p:txBody>
          <a:bodyPr/>
          <a:lstStyle/>
          <a:p>
            <a:fld id="{A71D4CCC-BB3A-4D93-86F3-16B4E3CF782A}" type="slidenum">
              <a:rPr lang="en-US" smtClean="0"/>
              <a:t>14</a:t>
            </a:fld>
            <a:endParaRPr lang="en-US"/>
          </a:p>
        </p:txBody>
      </p:sp>
      <p:sp>
        <p:nvSpPr>
          <p:cNvPr id="5" name="Footer Placeholder 4">
            <a:extLst>
              <a:ext uri="{FF2B5EF4-FFF2-40B4-BE49-F238E27FC236}">
                <a16:creationId xmlns:a16="http://schemas.microsoft.com/office/drawing/2014/main" id="{995A3384-4445-267A-52F7-324F00D8F548}"/>
              </a:ext>
            </a:extLst>
          </p:cNvPr>
          <p:cNvSpPr>
            <a:spLocks noGrp="1"/>
          </p:cNvSpPr>
          <p:nvPr>
            <p:ph type="ftr" sz="quarter" idx="11"/>
          </p:nvPr>
        </p:nvSpPr>
        <p:spPr/>
        <p:txBody>
          <a:bodyPr/>
          <a:lstStyle/>
          <a:p>
            <a:r>
              <a:rPr lang="zh-CN" altLang="en-US" dirty="0"/>
              <a:t>科学研究方法</a:t>
            </a:r>
            <a:endParaRPr lang="en-US" dirty="0"/>
          </a:p>
        </p:txBody>
      </p:sp>
      <p:sp>
        <p:nvSpPr>
          <p:cNvPr id="7" name="Subtitle 6">
            <a:extLst>
              <a:ext uri="{FF2B5EF4-FFF2-40B4-BE49-F238E27FC236}">
                <a16:creationId xmlns:a16="http://schemas.microsoft.com/office/drawing/2014/main" id="{DF08C565-923A-2719-7C4D-50D59C73111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80514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CA5542-0F2C-4902-9C30-B20D645E0776}"/>
              </a:ext>
            </a:extLst>
          </p:cNvPr>
          <p:cNvSpPr>
            <a:spLocks noGrp="1"/>
          </p:cNvSpPr>
          <p:nvPr>
            <p:ph type="title"/>
          </p:nvPr>
        </p:nvSpPr>
        <p:spPr/>
        <p:txBody>
          <a:bodyPr/>
          <a:lstStyle/>
          <a:p>
            <a:r>
              <a:rPr lang="en-US" b="1" dirty="0" err="1"/>
              <a:t>Tổng</a:t>
            </a:r>
            <a:r>
              <a:rPr lang="en-US" b="1" dirty="0"/>
              <a:t> </a:t>
            </a:r>
            <a:r>
              <a:rPr lang="en-US" b="1" dirty="0" err="1"/>
              <a:t>quát</a:t>
            </a:r>
            <a:endParaRPr lang="en-US" b="1" dirty="0"/>
          </a:p>
        </p:txBody>
      </p:sp>
      <p:sp>
        <p:nvSpPr>
          <p:cNvPr id="3" name="Footer Placeholder 2">
            <a:extLst>
              <a:ext uri="{FF2B5EF4-FFF2-40B4-BE49-F238E27FC236}">
                <a16:creationId xmlns:a16="http://schemas.microsoft.com/office/drawing/2014/main" id="{7827787A-1C93-4288-9692-23B875C6E113}"/>
              </a:ext>
            </a:extLst>
          </p:cNvPr>
          <p:cNvSpPr>
            <a:spLocks noGrp="1"/>
          </p:cNvSpPr>
          <p:nvPr>
            <p:ph type="ftr" sz="quarter" idx="11"/>
          </p:nvPr>
        </p:nvSpPr>
        <p:spPr/>
        <p:txBody>
          <a:bodyPr/>
          <a:lstStyle/>
          <a:p>
            <a:r>
              <a:rPr lang="zh-CN" altLang="en-US" dirty="0"/>
              <a:t>科学研究方法</a:t>
            </a:r>
            <a:endParaRPr lang="en-US" dirty="0"/>
          </a:p>
        </p:txBody>
      </p:sp>
      <p:sp>
        <p:nvSpPr>
          <p:cNvPr id="2" name="Slide Number Placeholder 1">
            <a:extLst>
              <a:ext uri="{FF2B5EF4-FFF2-40B4-BE49-F238E27FC236}">
                <a16:creationId xmlns:a16="http://schemas.microsoft.com/office/drawing/2014/main" id="{DA02EEC0-D700-1745-28DF-95979A6E5C42}"/>
              </a:ext>
            </a:extLst>
          </p:cNvPr>
          <p:cNvSpPr>
            <a:spLocks noGrp="1"/>
          </p:cNvSpPr>
          <p:nvPr>
            <p:ph type="sldNum" sz="quarter" idx="12"/>
          </p:nvPr>
        </p:nvSpPr>
        <p:spPr/>
        <p:txBody>
          <a:bodyPr/>
          <a:lstStyle/>
          <a:p>
            <a:fld id="{A71D4CCC-BB3A-4D93-86F3-16B4E3CF782A}" type="slidenum">
              <a:rPr lang="en-US" smtClean="0"/>
              <a:t>15</a:t>
            </a:fld>
            <a:endParaRPr lang="en-US"/>
          </a:p>
        </p:txBody>
      </p:sp>
      <p:pic>
        <p:nvPicPr>
          <p:cNvPr id="9" name="Picture 8" descr="A diagram of different colored lines&#10;&#10;AI-generated content may be incorrect.">
            <a:extLst>
              <a:ext uri="{FF2B5EF4-FFF2-40B4-BE49-F238E27FC236}">
                <a16:creationId xmlns:a16="http://schemas.microsoft.com/office/drawing/2014/main" id="{91D528AC-3BC1-48E0-6809-5771B9FE1ADC}"/>
              </a:ext>
            </a:extLst>
          </p:cNvPr>
          <p:cNvPicPr>
            <a:picLocks noChangeAspect="1"/>
          </p:cNvPicPr>
          <p:nvPr/>
        </p:nvPicPr>
        <p:blipFill>
          <a:blip r:embed="rId2"/>
          <a:stretch>
            <a:fillRect/>
          </a:stretch>
        </p:blipFill>
        <p:spPr>
          <a:xfrm>
            <a:off x="376438" y="1214680"/>
            <a:ext cx="11460480" cy="4986832"/>
          </a:xfrm>
          <a:prstGeom prst="rect">
            <a:avLst/>
          </a:prstGeom>
        </p:spPr>
      </p:pic>
    </p:spTree>
    <p:extLst>
      <p:ext uri="{BB962C8B-B14F-4D97-AF65-F5344CB8AC3E}">
        <p14:creationId xmlns:p14="http://schemas.microsoft.com/office/powerpoint/2010/main" val="34605715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7958B-2ADC-E081-FDB1-52F2C3B0D77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F0B7BBF-CE62-6D6A-0F9D-29C46B37BC1A}"/>
              </a:ext>
            </a:extLst>
          </p:cNvPr>
          <p:cNvSpPr>
            <a:spLocks noGrp="1"/>
          </p:cNvSpPr>
          <p:nvPr>
            <p:ph type="title"/>
          </p:nvPr>
        </p:nvSpPr>
        <p:spPr/>
        <p:txBody>
          <a:bodyPr/>
          <a:lstStyle/>
          <a:p>
            <a:r>
              <a:rPr lang="vi-VN" b="1" dirty="0"/>
              <a:t>Ôn tập Chương 1 &amp; 2 (Xác định vấn đề)</a:t>
            </a:r>
            <a:endParaRPr lang="en-US" b="1" dirty="0"/>
          </a:p>
        </p:txBody>
      </p:sp>
      <p:sp>
        <p:nvSpPr>
          <p:cNvPr id="5" name="Content Placeholder 4">
            <a:extLst>
              <a:ext uri="{FF2B5EF4-FFF2-40B4-BE49-F238E27FC236}">
                <a16:creationId xmlns:a16="http://schemas.microsoft.com/office/drawing/2014/main" id="{0621744E-EFF4-0030-CD1D-A6B0F5F1180F}"/>
              </a:ext>
            </a:extLst>
          </p:cNvPr>
          <p:cNvSpPr>
            <a:spLocks noGrp="1"/>
          </p:cNvSpPr>
          <p:nvPr>
            <p:ph idx="1"/>
          </p:nvPr>
        </p:nvSpPr>
        <p:spPr/>
        <p:txBody>
          <a:bodyPr>
            <a:normAutofit/>
          </a:bodyPr>
          <a:lstStyle/>
          <a:p>
            <a:r>
              <a:rPr lang="vi-VN" dirty="0"/>
              <a:t>Nhắc lại cách viết </a:t>
            </a:r>
            <a:r>
              <a:rPr lang="vi-VN" b="1" dirty="0"/>
              <a:t>Câu hỏi nghiên cứu</a:t>
            </a:r>
            <a:r>
              <a:rPr lang="vi-VN" dirty="0"/>
              <a:t> và </a:t>
            </a:r>
            <a:r>
              <a:rPr lang="vi-VN" b="1" dirty="0"/>
              <a:t>Mục tiêu nghiên cứu</a:t>
            </a:r>
            <a:r>
              <a:rPr lang="vi-VN" dirty="0"/>
              <a:t>.</a:t>
            </a:r>
          </a:p>
          <a:p>
            <a:r>
              <a:rPr lang="vi-VN" i="1" dirty="0"/>
              <a:t>Lỗi thường gặp:</a:t>
            </a:r>
            <a:r>
              <a:rPr lang="vi-VN" dirty="0"/>
              <a:t> Mục tiêu quá rộng hoặc không đo lường được.</a:t>
            </a:r>
          </a:p>
        </p:txBody>
      </p:sp>
      <p:sp>
        <p:nvSpPr>
          <p:cNvPr id="3" name="Footer Placeholder 2">
            <a:extLst>
              <a:ext uri="{FF2B5EF4-FFF2-40B4-BE49-F238E27FC236}">
                <a16:creationId xmlns:a16="http://schemas.microsoft.com/office/drawing/2014/main" id="{E0206B36-1256-EA67-166B-B4F56E982965}"/>
              </a:ext>
            </a:extLst>
          </p:cNvPr>
          <p:cNvSpPr>
            <a:spLocks noGrp="1"/>
          </p:cNvSpPr>
          <p:nvPr>
            <p:ph type="ftr" sz="quarter" idx="11"/>
          </p:nvPr>
        </p:nvSpPr>
        <p:spPr/>
        <p:txBody>
          <a:bodyPr/>
          <a:lstStyle/>
          <a:p>
            <a:r>
              <a:rPr lang="zh-CN" altLang="en-US" dirty="0"/>
              <a:t>科学研究方法</a:t>
            </a:r>
            <a:endParaRPr lang="en-US" dirty="0"/>
          </a:p>
        </p:txBody>
      </p:sp>
      <p:sp>
        <p:nvSpPr>
          <p:cNvPr id="2" name="Slide Number Placeholder 1">
            <a:extLst>
              <a:ext uri="{FF2B5EF4-FFF2-40B4-BE49-F238E27FC236}">
                <a16:creationId xmlns:a16="http://schemas.microsoft.com/office/drawing/2014/main" id="{473B9061-070E-12F6-B011-65346A2B4C2B}"/>
              </a:ext>
            </a:extLst>
          </p:cNvPr>
          <p:cNvSpPr>
            <a:spLocks noGrp="1"/>
          </p:cNvSpPr>
          <p:nvPr>
            <p:ph type="sldNum" sz="quarter" idx="12"/>
          </p:nvPr>
        </p:nvSpPr>
        <p:spPr/>
        <p:txBody>
          <a:bodyPr/>
          <a:lstStyle/>
          <a:p>
            <a:fld id="{A71D4CCC-BB3A-4D93-86F3-16B4E3CF782A}" type="slidenum">
              <a:rPr lang="en-US" smtClean="0"/>
              <a:t>16</a:t>
            </a:fld>
            <a:endParaRPr lang="en-US"/>
          </a:p>
        </p:txBody>
      </p:sp>
    </p:spTree>
    <p:extLst>
      <p:ext uri="{BB962C8B-B14F-4D97-AF65-F5344CB8AC3E}">
        <p14:creationId xmlns:p14="http://schemas.microsoft.com/office/powerpoint/2010/main" val="3405177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51A47-498E-8E38-8279-570D8C59FD8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3401C74-E9AB-797A-3EE9-5266831EB91F}"/>
              </a:ext>
            </a:extLst>
          </p:cNvPr>
          <p:cNvSpPr>
            <a:spLocks noGrp="1"/>
          </p:cNvSpPr>
          <p:nvPr>
            <p:ph type="title"/>
          </p:nvPr>
        </p:nvSpPr>
        <p:spPr/>
        <p:txBody>
          <a:bodyPr/>
          <a:lstStyle/>
          <a:p>
            <a:r>
              <a:rPr lang="vi-VN" b="1" dirty="0"/>
              <a:t>Ôn tập Chương 3 (Đề cương &amp; Đạo đức)</a:t>
            </a:r>
            <a:endParaRPr lang="en-US" b="1" dirty="0"/>
          </a:p>
        </p:txBody>
      </p:sp>
      <p:sp>
        <p:nvSpPr>
          <p:cNvPr id="5" name="Content Placeholder 4">
            <a:extLst>
              <a:ext uri="{FF2B5EF4-FFF2-40B4-BE49-F238E27FC236}">
                <a16:creationId xmlns:a16="http://schemas.microsoft.com/office/drawing/2014/main" id="{91F50FF4-AE41-2CC9-EE30-B5784081EF7C}"/>
              </a:ext>
            </a:extLst>
          </p:cNvPr>
          <p:cNvSpPr>
            <a:spLocks noGrp="1"/>
          </p:cNvSpPr>
          <p:nvPr>
            <p:ph idx="1"/>
          </p:nvPr>
        </p:nvSpPr>
        <p:spPr/>
        <p:txBody>
          <a:bodyPr>
            <a:normAutofit/>
          </a:bodyPr>
          <a:lstStyle/>
          <a:p>
            <a:r>
              <a:rPr lang="vi-VN" dirty="0"/>
              <a:t>Cấu trúc bài Đề cương (Proposal).</a:t>
            </a:r>
          </a:p>
          <a:p>
            <a:r>
              <a:rPr lang="vi-VN" dirty="0"/>
              <a:t>Nhấn mạnh lại </a:t>
            </a:r>
            <a:r>
              <a:rPr lang="vi-VN" b="1" dirty="0"/>
              <a:t>Đạo đức nghiên cứu</a:t>
            </a:r>
            <a:r>
              <a:rPr lang="vi-VN" dirty="0"/>
              <a:t> (Tuyệt đối không bịa số liệu, không đạo văn).</a:t>
            </a:r>
          </a:p>
        </p:txBody>
      </p:sp>
      <p:sp>
        <p:nvSpPr>
          <p:cNvPr id="3" name="Footer Placeholder 2">
            <a:extLst>
              <a:ext uri="{FF2B5EF4-FFF2-40B4-BE49-F238E27FC236}">
                <a16:creationId xmlns:a16="http://schemas.microsoft.com/office/drawing/2014/main" id="{16BEED0B-8587-C4F5-BFEC-9FA2F341D821}"/>
              </a:ext>
            </a:extLst>
          </p:cNvPr>
          <p:cNvSpPr>
            <a:spLocks noGrp="1"/>
          </p:cNvSpPr>
          <p:nvPr>
            <p:ph type="ftr" sz="quarter" idx="11"/>
          </p:nvPr>
        </p:nvSpPr>
        <p:spPr/>
        <p:txBody>
          <a:bodyPr/>
          <a:lstStyle/>
          <a:p>
            <a:r>
              <a:rPr lang="zh-CN" altLang="en-US" dirty="0"/>
              <a:t>科学研究方法</a:t>
            </a:r>
            <a:endParaRPr lang="en-US" dirty="0"/>
          </a:p>
        </p:txBody>
      </p:sp>
      <p:sp>
        <p:nvSpPr>
          <p:cNvPr id="2" name="Slide Number Placeholder 1">
            <a:extLst>
              <a:ext uri="{FF2B5EF4-FFF2-40B4-BE49-F238E27FC236}">
                <a16:creationId xmlns:a16="http://schemas.microsoft.com/office/drawing/2014/main" id="{41EA3777-45E3-838C-2D7C-B8AC6EFE5B88}"/>
              </a:ext>
            </a:extLst>
          </p:cNvPr>
          <p:cNvSpPr>
            <a:spLocks noGrp="1"/>
          </p:cNvSpPr>
          <p:nvPr>
            <p:ph type="sldNum" sz="quarter" idx="12"/>
          </p:nvPr>
        </p:nvSpPr>
        <p:spPr/>
        <p:txBody>
          <a:bodyPr/>
          <a:lstStyle/>
          <a:p>
            <a:fld id="{A71D4CCC-BB3A-4D93-86F3-16B4E3CF782A}" type="slidenum">
              <a:rPr lang="en-US" smtClean="0"/>
              <a:t>17</a:t>
            </a:fld>
            <a:endParaRPr lang="en-US"/>
          </a:p>
        </p:txBody>
      </p:sp>
    </p:spTree>
    <p:extLst>
      <p:ext uri="{BB962C8B-B14F-4D97-AF65-F5344CB8AC3E}">
        <p14:creationId xmlns:p14="http://schemas.microsoft.com/office/powerpoint/2010/main" val="2850785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655C0-63B8-4F05-58EE-C84BF9768AB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6D83D1D-D210-51DF-F7AE-32A81248A26C}"/>
              </a:ext>
            </a:extLst>
          </p:cNvPr>
          <p:cNvSpPr>
            <a:spLocks noGrp="1"/>
          </p:cNvSpPr>
          <p:nvPr>
            <p:ph type="title"/>
          </p:nvPr>
        </p:nvSpPr>
        <p:spPr/>
        <p:txBody>
          <a:bodyPr/>
          <a:lstStyle/>
          <a:p>
            <a:r>
              <a:rPr lang="vi-VN" b="1" dirty="0"/>
              <a:t>Ôn tập Chương 4 &amp; 5 (Lý thuyết &amp; Trích dẫn)</a:t>
            </a:r>
            <a:endParaRPr lang="en-US" b="1" dirty="0"/>
          </a:p>
        </p:txBody>
      </p:sp>
      <p:sp>
        <p:nvSpPr>
          <p:cNvPr id="5" name="Content Placeholder 4">
            <a:extLst>
              <a:ext uri="{FF2B5EF4-FFF2-40B4-BE49-F238E27FC236}">
                <a16:creationId xmlns:a16="http://schemas.microsoft.com/office/drawing/2014/main" id="{7541D90D-2F54-4FD0-CF2D-A6C5BF20CD00}"/>
              </a:ext>
            </a:extLst>
          </p:cNvPr>
          <p:cNvSpPr>
            <a:spLocks noGrp="1"/>
          </p:cNvSpPr>
          <p:nvPr>
            <p:ph idx="1"/>
          </p:nvPr>
        </p:nvSpPr>
        <p:spPr/>
        <p:txBody>
          <a:bodyPr>
            <a:normAutofit/>
          </a:bodyPr>
          <a:lstStyle/>
          <a:p>
            <a:r>
              <a:rPr lang="vi-VN" dirty="0"/>
              <a:t>Vai trò của Tổng quan tài liệu: Kế thừa người đi trước.</a:t>
            </a:r>
          </a:p>
          <a:p>
            <a:r>
              <a:rPr lang="vi-VN" dirty="0"/>
              <a:t>Cách trích dẫn APA/IEEE: Nhắc lại quy tắc "Trích dẫn trong bài" và "Danh mục tham khảo".</a:t>
            </a:r>
          </a:p>
        </p:txBody>
      </p:sp>
      <p:sp>
        <p:nvSpPr>
          <p:cNvPr id="3" name="Footer Placeholder 2">
            <a:extLst>
              <a:ext uri="{FF2B5EF4-FFF2-40B4-BE49-F238E27FC236}">
                <a16:creationId xmlns:a16="http://schemas.microsoft.com/office/drawing/2014/main" id="{31D2E961-41AD-45D1-8AE2-87E44F01DC77}"/>
              </a:ext>
            </a:extLst>
          </p:cNvPr>
          <p:cNvSpPr>
            <a:spLocks noGrp="1"/>
          </p:cNvSpPr>
          <p:nvPr>
            <p:ph type="ftr" sz="quarter" idx="11"/>
          </p:nvPr>
        </p:nvSpPr>
        <p:spPr/>
        <p:txBody>
          <a:bodyPr/>
          <a:lstStyle/>
          <a:p>
            <a:r>
              <a:rPr lang="zh-CN" altLang="en-US" dirty="0"/>
              <a:t>科学研究方法</a:t>
            </a:r>
            <a:endParaRPr lang="en-US" dirty="0"/>
          </a:p>
        </p:txBody>
      </p:sp>
      <p:sp>
        <p:nvSpPr>
          <p:cNvPr id="2" name="Slide Number Placeholder 1">
            <a:extLst>
              <a:ext uri="{FF2B5EF4-FFF2-40B4-BE49-F238E27FC236}">
                <a16:creationId xmlns:a16="http://schemas.microsoft.com/office/drawing/2014/main" id="{49127644-40DE-0A57-A71E-93765F35AA00}"/>
              </a:ext>
            </a:extLst>
          </p:cNvPr>
          <p:cNvSpPr>
            <a:spLocks noGrp="1"/>
          </p:cNvSpPr>
          <p:nvPr>
            <p:ph type="sldNum" sz="quarter" idx="12"/>
          </p:nvPr>
        </p:nvSpPr>
        <p:spPr/>
        <p:txBody>
          <a:bodyPr/>
          <a:lstStyle/>
          <a:p>
            <a:fld id="{A71D4CCC-BB3A-4D93-86F3-16B4E3CF782A}" type="slidenum">
              <a:rPr lang="en-US" smtClean="0"/>
              <a:t>18</a:t>
            </a:fld>
            <a:endParaRPr lang="en-US"/>
          </a:p>
        </p:txBody>
      </p:sp>
    </p:spTree>
    <p:extLst>
      <p:ext uri="{BB962C8B-B14F-4D97-AF65-F5344CB8AC3E}">
        <p14:creationId xmlns:p14="http://schemas.microsoft.com/office/powerpoint/2010/main" val="1643351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E79F9-8F3D-A287-134E-FCD0DF0B3C8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6EB1668-94F9-84A0-E49C-8E5C12AC1406}"/>
              </a:ext>
            </a:extLst>
          </p:cNvPr>
          <p:cNvSpPr>
            <a:spLocks noGrp="1"/>
          </p:cNvSpPr>
          <p:nvPr>
            <p:ph type="title"/>
          </p:nvPr>
        </p:nvSpPr>
        <p:spPr/>
        <p:txBody>
          <a:bodyPr/>
          <a:lstStyle/>
          <a:p>
            <a:r>
              <a:rPr lang="vi-VN" b="1" dirty="0"/>
              <a:t>Ôn tập Chương 6 (Phương pháp nghiên cứu)</a:t>
            </a:r>
            <a:endParaRPr lang="en-US" b="1" dirty="0"/>
          </a:p>
        </p:txBody>
      </p:sp>
      <p:sp>
        <p:nvSpPr>
          <p:cNvPr id="5" name="Content Placeholder 4">
            <a:extLst>
              <a:ext uri="{FF2B5EF4-FFF2-40B4-BE49-F238E27FC236}">
                <a16:creationId xmlns:a16="http://schemas.microsoft.com/office/drawing/2014/main" id="{6748B2A3-1681-DDAC-636A-8DEFC0978F80}"/>
              </a:ext>
            </a:extLst>
          </p:cNvPr>
          <p:cNvSpPr>
            <a:spLocks noGrp="1"/>
          </p:cNvSpPr>
          <p:nvPr>
            <p:ph idx="1"/>
          </p:nvPr>
        </p:nvSpPr>
        <p:spPr/>
        <p:txBody>
          <a:bodyPr>
            <a:normAutofit/>
          </a:bodyPr>
          <a:lstStyle/>
          <a:p>
            <a:r>
              <a:rPr lang="vi-VN" dirty="0"/>
              <a:t>Phân biệt Dữ liệu Sơ cấp vs Thứ cấp.</a:t>
            </a:r>
          </a:p>
          <a:p>
            <a:r>
              <a:rPr lang="vi-VN" dirty="0"/>
              <a:t>Thiết kế bảng hỏi/thang đo phù hợp.</a:t>
            </a:r>
          </a:p>
        </p:txBody>
      </p:sp>
      <p:sp>
        <p:nvSpPr>
          <p:cNvPr id="3" name="Footer Placeholder 2">
            <a:extLst>
              <a:ext uri="{FF2B5EF4-FFF2-40B4-BE49-F238E27FC236}">
                <a16:creationId xmlns:a16="http://schemas.microsoft.com/office/drawing/2014/main" id="{0995EA73-8594-AFEF-890E-9FAD0BE58F9D}"/>
              </a:ext>
            </a:extLst>
          </p:cNvPr>
          <p:cNvSpPr>
            <a:spLocks noGrp="1"/>
          </p:cNvSpPr>
          <p:nvPr>
            <p:ph type="ftr" sz="quarter" idx="11"/>
          </p:nvPr>
        </p:nvSpPr>
        <p:spPr/>
        <p:txBody>
          <a:bodyPr/>
          <a:lstStyle/>
          <a:p>
            <a:r>
              <a:rPr lang="zh-CN" altLang="en-US" dirty="0"/>
              <a:t>科学研究方法</a:t>
            </a:r>
            <a:endParaRPr lang="en-US" dirty="0"/>
          </a:p>
        </p:txBody>
      </p:sp>
      <p:sp>
        <p:nvSpPr>
          <p:cNvPr id="2" name="Slide Number Placeholder 1">
            <a:extLst>
              <a:ext uri="{FF2B5EF4-FFF2-40B4-BE49-F238E27FC236}">
                <a16:creationId xmlns:a16="http://schemas.microsoft.com/office/drawing/2014/main" id="{4609EABC-8A48-6455-7795-FFD792501084}"/>
              </a:ext>
            </a:extLst>
          </p:cNvPr>
          <p:cNvSpPr>
            <a:spLocks noGrp="1"/>
          </p:cNvSpPr>
          <p:nvPr>
            <p:ph type="sldNum" sz="quarter" idx="12"/>
          </p:nvPr>
        </p:nvSpPr>
        <p:spPr/>
        <p:txBody>
          <a:bodyPr/>
          <a:lstStyle/>
          <a:p>
            <a:fld id="{A71D4CCC-BB3A-4D93-86F3-16B4E3CF782A}" type="slidenum">
              <a:rPr lang="en-US" smtClean="0"/>
              <a:t>19</a:t>
            </a:fld>
            <a:endParaRPr lang="en-US"/>
          </a:p>
        </p:txBody>
      </p:sp>
    </p:spTree>
    <p:extLst>
      <p:ext uri="{BB962C8B-B14F-4D97-AF65-F5344CB8AC3E}">
        <p14:creationId xmlns:p14="http://schemas.microsoft.com/office/powerpoint/2010/main" val="40516281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F9F69-AA67-59B4-36C3-B3C7FCC985D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AEA43AD-2BE3-AF7E-2ACD-C480F9720679}"/>
              </a:ext>
            </a:extLst>
          </p:cNvPr>
          <p:cNvSpPr>
            <a:spLocks noGrp="1"/>
          </p:cNvSpPr>
          <p:nvPr>
            <p:ph type="title"/>
          </p:nvPr>
        </p:nvSpPr>
        <p:spPr/>
        <p:txBody>
          <a:bodyPr/>
          <a:lstStyle/>
          <a:p>
            <a:r>
              <a:rPr lang="vi-VN" b="1" dirty="0"/>
              <a:t>Mối liên hệ giữa các chương</a:t>
            </a:r>
            <a:endParaRPr lang="en-US" b="1" dirty="0"/>
          </a:p>
        </p:txBody>
      </p:sp>
      <p:sp>
        <p:nvSpPr>
          <p:cNvPr id="5" name="Content Placeholder 4">
            <a:extLst>
              <a:ext uri="{FF2B5EF4-FFF2-40B4-BE49-F238E27FC236}">
                <a16:creationId xmlns:a16="http://schemas.microsoft.com/office/drawing/2014/main" id="{0E74E3DB-717B-2403-3895-4A76561BDDCB}"/>
              </a:ext>
            </a:extLst>
          </p:cNvPr>
          <p:cNvSpPr>
            <a:spLocks noGrp="1"/>
          </p:cNvSpPr>
          <p:nvPr>
            <p:ph idx="1"/>
          </p:nvPr>
        </p:nvSpPr>
        <p:spPr/>
        <p:txBody>
          <a:bodyPr>
            <a:normAutofit/>
          </a:bodyPr>
          <a:lstStyle/>
          <a:p>
            <a:r>
              <a:rPr lang="vi-VN" dirty="0"/>
              <a:t>Câu hỏi nghiên cứu (Chương 2) quy định Phương pháp (Chương 6).</a:t>
            </a:r>
          </a:p>
          <a:p>
            <a:r>
              <a:rPr lang="vi-VN" dirty="0"/>
              <a:t>Cơ sở lý thuyết (Chương 4) hỗ trợ xây dựng Thang đo (Chương 6).</a:t>
            </a:r>
          </a:p>
        </p:txBody>
      </p:sp>
      <p:sp>
        <p:nvSpPr>
          <p:cNvPr id="3" name="Footer Placeholder 2">
            <a:extLst>
              <a:ext uri="{FF2B5EF4-FFF2-40B4-BE49-F238E27FC236}">
                <a16:creationId xmlns:a16="http://schemas.microsoft.com/office/drawing/2014/main" id="{ACED05C3-38E8-0704-A32A-2509625F504A}"/>
              </a:ext>
            </a:extLst>
          </p:cNvPr>
          <p:cNvSpPr>
            <a:spLocks noGrp="1"/>
          </p:cNvSpPr>
          <p:nvPr>
            <p:ph type="ftr" sz="quarter" idx="11"/>
          </p:nvPr>
        </p:nvSpPr>
        <p:spPr/>
        <p:txBody>
          <a:bodyPr/>
          <a:lstStyle/>
          <a:p>
            <a:r>
              <a:rPr lang="zh-CN" altLang="en-US" dirty="0"/>
              <a:t>科学研究方法</a:t>
            </a:r>
            <a:endParaRPr lang="en-US" dirty="0"/>
          </a:p>
        </p:txBody>
      </p:sp>
      <p:sp>
        <p:nvSpPr>
          <p:cNvPr id="2" name="Slide Number Placeholder 1">
            <a:extLst>
              <a:ext uri="{FF2B5EF4-FFF2-40B4-BE49-F238E27FC236}">
                <a16:creationId xmlns:a16="http://schemas.microsoft.com/office/drawing/2014/main" id="{1C9C9652-0CD1-323A-585E-BD461CCAAE13}"/>
              </a:ext>
            </a:extLst>
          </p:cNvPr>
          <p:cNvSpPr>
            <a:spLocks noGrp="1"/>
          </p:cNvSpPr>
          <p:nvPr>
            <p:ph type="sldNum" sz="quarter" idx="12"/>
          </p:nvPr>
        </p:nvSpPr>
        <p:spPr/>
        <p:txBody>
          <a:bodyPr/>
          <a:lstStyle/>
          <a:p>
            <a:fld id="{A71D4CCC-BB3A-4D93-86F3-16B4E3CF782A}" type="slidenum">
              <a:rPr lang="en-US" smtClean="0"/>
              <a:t>20</a:t>
            </a:fld>
            <a:endParaRPr lang="en-US"/>
          </a:p>
        </p:txBody>
      </p:sp>
    </p:spTree>
    <p:extLst>
      <p:ext uri="{BB962C8B-B14F-4D97-AF65-F5344CB8AC3E}">
        <p14:creationId xmlns:p14="http://schemas.microsoft.com/office/powerpoint/2010/main" val="13801872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0F9FE-A8CC-D218-4FD9-9E991F9E7F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D17F0B-2F51-A5CB-0524-D06D8556C008}"/>
              </a:ext>
            </a:extLst>
          </p:cNvPr>
          <p:cNvSpPr>
            <a:spLocks noGrp="1"/>
          </p:cNvSpPr>
          <p:nvPr>
            <p:ph type="ctrTitle"/>
          </p:nvPr>
        </p:nvSpPr>
        <p:spPr/>
        <p:txBody>
          <a:bodyPr>
            <a:normAutofit/>
          </a:bodyPr>
          <a:lstStyle/>
          <a:p>
            <a:r>
              <a:rPr lang="en-US" sz="5300" dirty="0" err="1"/>
              <a:t>Phần</a:t>
            </a:r>
            <a:r>
              <a:rPr lang="en-US" sz="5300" dirty="0"/>
              <a:t> 3</a:t>
            </a:r>
            <a:br>
              <a:rPr lang="en-US" dirty="0"/>
            </a:br>
            <a:r>
              <a:rPr lang="vi-VN" b="1" dirty="0"/>
              <a:t>HƯỚNG DẪN BÀI CUỐI KỲ</a:t>
            </a:r>
            <a:endParaRPr lang="en-US" dirty="0"/>
          </a:p>
        </p:txBody>
      </p:sp>
      <p:sp>
        <p:nvSpPr>
          <p:cNvPr id="4" name="Slide Number Placeholder 3">
            <a:extLst>
              <a:ext uri="{FF2B5EF4-FFF2-40B4-BE49-F238E27FC236}">
                <a16:creationId xmlns:a16="http://schemas.microsoft.com/office/drawing/2014/main" id="{C2623E03-1C30-8B87-8021-E847B88C8C51}"/>
              </a:ext>
            </a:extLst>
          </p:cNvPr>
          <p:cNvSpPr>
            <a:spLocks noGrp="1"/>
          </p:cNvSpPr>
          <p:nvPr>
            <p:ph type="sldNum" sz="quarter" idx="12"/>
          </p:nvPr>
        </p:nvSpPr>
        <p:spPr/>
        <p:txBody>
          <a:bodyPr/>
          <a:lstStyle/>
          <a:p>
            <a:fld id="{A71D4CCC-BB3A-4D93-86F3-16B4E3CF782A}" type="slidenum">
              <a:rPr lang="en-US" smtClean="0"/>
              <a:t>21</a:t>
            </a:fld>
            <a:endParaRPr lang="en-US"/>
          </a:p>
        </p:txBody>
      </p:sp>
      <p:sp>
        <p:nvSpPr>
          <p:cNvPr id="5" name="Footer Placeholder 4">
            <a:extLst>
              <a:ext uri="{FF2B5EF4-FFF2-40B4-BE49-F238E27FC236}">
                <a16:creationId xmlns:a16="http://schemas.microsoft.com/office/drawing/2014/main" id="{29DE1D32-1F92-E71A-B2BB-9D56E25E3B93}"/>
              </a:ext>
            </a:extLst>
          </p:cNvPr>
          <p:cNvSpPr>
            <a:spLocks noGrp="1"/>
          </p:cNvSpPr>
          <p:nvPr>
            <p:ph type="ftr" sz="quarter" idx="11"/>
          </p:nvPr>
        </p:nvSpPr>
        <p:spPr/>
        <p:txBody>
          <a:bodyPr/>
          <a:lstStyle/>
          <a:p>
            <a:r>
              <a:rPr lang="zh-CN" altLang="en-US" dirty="0"/>
              <a:t>科学研究方法</a:t>
            </a:r>
            <a:endParaRPr lang="en-US" dirty="0"/>
          </a:p>
        </p:txBody>
      </p:sp>
      <p:sp>
        <p:nvSpPr>
          <p:cNvPr id="7" name="Subtitle 6">
            <a:extLst>
              <a:ext uri="{FF2B5EF4-FFF2-40B4-BE49-F238E27FC236}">
                <a16:creationId xmlns:a16="http://schemas.microsoft.com/office/drawing/2014/main" id="{99947709-E6F0-1409-B0BC-50AE3134E3C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138183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35E22-12FD-E5E9-818F-F92C73FB5F9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17AE54E-6077-C891-C8B8-C607B051E23B}"/>
              </a:ext>
            </a:extLst>
          </p:cNvPr>
          <p:cNvSpPr>
            <a:spLocks noGrp="1"/>
          </p:cNvSpPr>
          <p:nvPr>
            <p:ph type="title"/>
          </p:nvPr>
        </p:nvSpPr>
        <p:spPr/>
        <p:txBody>
          <a:bodyPr/>
          <a:lstStyle/>
          <a:p>
            <a:r>
              <a:rPr lang="en-US" b="1" dirty="0" err="1"/>
              <a:t>Tổng</a:t>
            </a:r>
            <a:r>
              <a:rPr lang="en-US" b="1" dirty="0"/>
              <a:t> </a:t>
            </a:r>
            <a:r>
              <a:rPr lang="en-US" b="1" dirty="0" err="1"/>
              <a:t>quan</a:t>
            </a:r>
            <a:r>
              <a:rPr lang="en-US" b="1" dirty="0"/>
              <a:t> </a:t>
            </a:r>
            <a:r>
              <a:rPr lang="en-US" b="1" dirty="0" err="1"/>
              <a:t>Bài</a:t>
            </a:r>
            <a:r>
              <a:rPr lang="en-US" b="1" dirty="0"/>
              <a:t> </a:t>
            </a:r>
            <a:r>
              <a:rPr lang="en-US" b="1" dirty="0" err="1"/>
              <a:t>cuối</a:t>
            </a:r>
            <a:r>
              <a:rPr lang="en-US" b="1" dirty="0"/>
              <a:t> </a:t>
            </a:r>
            <a:r>
              <a:rPr lang="en-US" b="1" dirty="0" err="1"/>
              <a:t>kỳ</a:t>
            </a:r>
            <a:endParaRPr lang="vi-VN" i="1" dirty="0"/>
          </a:p>
        </p:txBody>
      </p:sp>
      <p:sp>
        <p:nvSpPr>
          <p:cNvPr id="5" name="Content Placeholder 4">
            <a:extLst>
              <a:ext uri="{FF2B5EF4-FFF2-40B4-BE49-F238E27FC236}">
                <a16:creationId xmlns:a16="http://schemas.microsoft.com/office/drawing/2014/main" id="{361D20EF-74A4-BAB4-83A9-098BB4498544}"/>
              </a:ext>
            </a:extLst>
          </p:cNvPr>
          <p:cNvSpPr>
            <a:spLocks noGrp="1"/>
          </p:cNvSpPr>
          <p:nvPr>
            <p:ph idx="1"/>
          </p:nvPr>
        </p:nvSpPr>
        <p:spPr/>
        <p:txBody>
          <a:bodyPr>
            <a:normAutofit/>
          </a:bodyPr>
          <a:lstStyle/>
          <a:p>
            <a:r>
              <a:rPr lang="vi-VN" b="1" dirty="0"/>
              <a:t>Tên bài tập:</a:t>
            </a:r>
            <a:r>
              <a:rPr lang="vi-VN" dirty="0"/>
              <a:t> Tiểu luận kết thúc học phần (Final Assignment).</a:t>
            </a:r>
          </a:p>
          <a:p>
            <a:r>
              <a:rPr lang="vi-VN" b="1" dirty="0"/>
              <a:t>Yêu cầu cốt lõi:</a:t>
            </a:r>
            <a:r>
              <a:rPr lang="vi-VN" dirty="0"/>
              <a:t> Xây dựng một </a:t>
            </a:r>
            <a:r>
              <a:rPr lang="vi-VN" b="1" dirty="0"/>
              <a:t>Đề cương nghiên cứu (Research Proposal)</a:t>
            </a:r>
            <a:r>
              <a:rPr lang="vi-VN" dirty="0"/>
              <a:t> hoàn chỉnh.</a:t>
            </a:r>
          </a:p>
          <a:p>
            <a:r>
              <a:rPr lang="vi-VN" b="1" dirty="0"/>
              <a:t>Lưu ý quan trọng:</a:t>
            </a:r>
            <a:r>
              <a:rPr lang="vi-VN" dirty="0"/>
              <a:t> Các bạn </a:t>
            </a:r>
            <a:r>
              <a:rPr lang="vi-VN" b="1" dirty="0"/>
              <a:t>CHƯA</a:t>
            </a:r>
            <a:r>
              <a:rPr lang="vi-VN" dirty="0"/>
              <a:t> cần đi thực địa hay thu thập dữ liệu thật. Các bạn chỉ cần lập kế hoạch chi tiết cho việc nghiên cứu đó (như một bản thiết kế nhà trước khi xây).</a:t>
            </a:r>
          </a:p>
          <a:p>
            <a:r>
              <a:rPr lang="vi-VN" b="1" dirty="0"/>
              <a:t>Trọng số:</a:t>
            </a:r>
            <a:r>
              <a:rPr lang="vi-VN" dirty="0"/>
              <a:t> 60% tổng điểm môn học.</a:t>
            </a:r>
          </a:p>
        </p:txBody>
      </p:sp>
      <p:sp>
        <p:nvSpPr>
          <p:cNvPr id="3" name="Footer Placeholder 2">
            <a:extLst>
              <a:ext uri="{FF2B5EF4-FFF2-40B4-BE49-F238E27FC236}">
                <a16:creationId xmlns:a16="http://schemas.microsoft.com/office/drawing/2014/main" id="{6F281BE7-859D-FAA5-374F-5CD79653EB4A}"/>
              </a:ext>
            </a:extLst>
          </p:cNvPr>
          <p:cNvSpPr>
            <a:spLocks noGrp="1"/>
          </p:cNvSpPr>
          <p:nvPr>
            <p:ph type="ftr" sz="quarter" idx="11"/>
          </p:nvPr>
        </p:nvSpPr>
        <p:spPr/>
        <p:txBody>
          <a:bodyPr/>
          <a:lstStyle/>
          <a:p>
            <a:r>
              <a:rPr lang="zh-CN" altLang="en-US" dirty="0"/>
              <a:t>科学研究方法</a:t>
            </a:r>
            <a:endParaRPr lang="en-US" dirty="0"/>
          </a:p>
        </p:txBody>
      </p:sp>
      <p:sp>
        <p:nvSpPr>
          <p:cNvPr id="2" name="Slide Number Placeholder 1">
            <a:extLst>
              <a:ext uri="{FF2B5EF4-FFF2-40B4-BE49-F238E27FC236}">
                <a16:creationId xmlns:a16="http://schemas.microsoft.com/office/drawing/2014/main" id="{F0FF2B62-0C64-61EF-01BE-0226B2BA50F2}"/>
              </a:ext>
            </a:extLst>
          </p:cNvPr>
          <p:cNvSpPr>
            <a:spLocks noGrp="1"/>
          </p:cNvSpPr>
          <p:nvPr>
            <p:ph type="sldNum" sz="quarter" idx="12"/>
          </p:nvPr>
        </p:nvSpPr>
        <p:spPr/>
        <p:txBody>
          <a:bodyPr/>
          <a:lstStyle/>
          <a:p>
            <a:fld id="{A71D4CCC-BB3A-4D93-86F3-16B4E3CF782A}" type="slidenum">
              <a:rPr lang="en-US" smtClean="0"/>
              <a:t>22</a:t>
            </a:fld>
            <a:endParaRPr lang="en-US"/>
          </a:p>
        </p:txBody>
      </p:sp>
    </p:spTree>
    <p:extLst>
      <p:ext uri="{BB962C8B-B14F-4D97-AF65-F5344CB8AC3E}">
        <p14:creationId xmlns:p14="http://schemas.microsoft.com/office/powerpoint/2010/main" val="1286996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8E55A-0916-3E38-C73D-A2E544D8E38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EB8BF1F-A127-AA19-52E4-6E6CAEBCA2B9}"/>
              </a:ext>
            </a:extLst>
          </p:cNvPr>
          <p:cNvSpPr>
            <a:spLocks noGrp="1"/>
          </p:cNvSpPr>
          <p:nvPr>
            <p:ph type="title"/>
          </p:nvPr>
        </p:nvSpPr>
        <p:spPr/>
        <p:txBody>
          <a:bodyPr/>
          <a:lstStyle/>
          <a:p>
            <a:r>
              <a:rPr lang="en-US" b="1" dirty="0" err="1"/>
              <a:t>Giới</a:t>
            </a:r>
            <a:r>
              <a:rPr lang="en-US" b="1" dirty="0"/>
              <a:t> </a:t>
            </a:r>
            <a:r>
              <a:rPr lang="en-US" b="1" dirty="0" err="1"/>
              <a:t>thiệu</a:t>
            </a:r>
            <a:r>
              <a:rPr lang="en-US" b="1" dirty="0"/>
              <a:t> </a:t>
            </a:r>
            <a:r>
              <a:rPr lang="en-US" b="1" dirty="0" err="1"/>
              <a:t>bài</a:t>
            </a:r>
            <a:r>
              <a:rPr lang="en-US" b="1" dirty="0"/>
              <a:t> </a:t>
            </a:r>
            <a:r>
              <a:rPr lang="en-US" b="1" dirty="0" err="1"/>
              <a:t>đánh</a:t>
            </a:r>
            <a:r>
              <a:rPr lang="en-US" b="1" dirty="0"/>
              <a:t> </a:t>
            </a:r>
            <a:r>
              <a:rPr lang="en-US" b="1" dirty="0" err="1"/>
              <a:t>giá</a:t>
            </a:r>
            <a:r>
              <a:rPr lang="en-US" b="1" dirty="0"/>
              <a:t> </a:t>
            </a:r>
            <a:r>
              <a:rPr lang="en-US" b="1" dirty="0" err="1"/>
              <a:t>cuối</a:t>
            </a:r>
            <a:r>
              <a:rPr lang="en-US" b="1" dirty="0"/>
              <a:t> </a:t>
            </a:r>
            <a:r>
              <a:rPr lang="en-US" b="1" dirty="0" err="1"/>
              <a:t>kỳ</a:t>
            </a:r>
            <a:endParaRPr lang="vi-VN" i="1" dirty="0"/>
          </a:p>
        </p:txBody>
      </p:sp>
      <p:sp>
        <p:nvSpPr>
          <p:cNvPr id="5" name="Content Placeholder 4">
            <a:extLst>
              <a:ext uri="{FF2B5EF4-FFF2-40B4-BE49-F238E27FC236}">
                <a16:creationId xmlns:a16="http://schemas.microsoft.com/office/drawing/2014/main" id="{2A55118E-A3B0-2C84-F807-61DED1E4B7EA}"/>
              </a:ext>
            </a:extLst>
          </p:cNvPr>
          <p:cNvSpPr>
            <a:spLocks noGrp="1"/>
          </p:cNvSpPr>
          <p:nvPr>
            <p:ph idx="1"/>
          </p:nvPr>
        </p:nvSpPr>
        <p:spPr/>
        <p:txBody>
          <a:bodyPr>
            <a:normAutofit/>
          </a:bodyPr>
          <a:lstStyle/>
          <a:p>
            <a:r>
              <a:rPr lang="vi-VN" b="1" dirty="0"/>
              <a:t>Hình thức:</a:t>
            </a:r>
            <a:r>
              <a:rPr lang="vi-VN" dirty="0"/>
              <a:t> Tiểu luận (Viết đề cương nghiên cứu khoa học</a:t>
            </a:r>
            <a:r>
              <a:rPr lang="en-US" dirty="0"/>
              <a:t> - Proposal</a:t>
            </a:r>
            <a:r>
              <a:rPr lang="vi-VN" dirty="0"/>
              <a:t>).</a:t>
            </a:r>
          </a:p>
          <a:p>
            <a:r>
              <a:rPr lang="vi-VN" b="1" dirty="0"/>
              <a:t>Tỷ trọng điểm:</a:t>
            </a:r>
            <a:r>
              <a:rPr lang="vi-VN" dirty="0"/>
              <a:t> 60% tổng điểm môn học.</a:t>
            </a:r>
          </a:p>
          <a:p>
            <a:r>
              <a:rPr lang="vi-VN" b="1" dirty="0"/>
              <a:t>Hình thức làm bài:</a:t>
            </a:r>
            <a:r>
              <a:rPr lang="vi-VN" dirty="0"/>
              <a:t> Cá nhân hoặc Nhóm (Theo quy định lớp đã </a:t>
            </a:r>
            <a:r>
              <a:rPr lang="en-US" dirty="0" err="1"/>
              <a:t>thống</a:t>
            </a:r>
            <a:r>
              <a:rPr lang="en-US" dirty="0"/>
              <a:t> </a:t>
            </a:r>
            <a:r>
              <a:rPr lang="en-US" dirty="0" err="1"/>
              <a:t>nhất</a:t>
            </a:r>
            <a:r>
              <a:rPr lang="vi-VN" dirty="0"/>
              <a:t>).</a:t>
            </a:r>
          </a:p>
        </p:txBody>
      </p:sp>
      <p:sp>
        <p:nvSpPr>
          <p:cNvPr id="3" name="Footer Placeholder 2">
            <a:extLst>
              <a:ext uri="{FF2B5EF4-FFF2-40B4-BE49-F238E27FC236}">
                <a16:creationId xmlns:a16="http://schemas.microsoft.com/office/drawing/2014/main" id="{94A8A1BA-3D61-89E7-E4DD-48F58AE5487E}"/>
              </a:ext>
            </a:extLst>
          </p:cNvPr>
          <p:cNvSpPr>
            <a:spLocks noGrp="1"/>
          </p:cNvSpPr>
          <p:nvPr>
            <p:ph type="ftr" sz="quarter" idx="11"/>
          </p:nvPr>
        </p:nvSpPr>
        <p:spPr/>
        <p:txBody>
          <a:bodyPr/>
          <a:lstStyle/>
          <a:p>
            <a:r>
              <a:rPr lang="zh-CN" altLang="en-US" dirty="0"/>
              <a:t>科学研究方法</a:t>
            </a:r>
            <a:endParaRPr lang="en-US" dirty="0"/>
          </a:p>
        </p:txBody>
      </p:sp>
      <p:sp>
        <p:nvSpPr>
          <p:cNvPr id="2" name="Slide Number Placeholder 1">
            <a:extLst>
              <a:ext uri="{FF2B5EF4-FFF2-40B4-BE49-F238E27FC236}">
                <a16:creationId xmlns:a16="http://schemas.microsoft.com/office/drawing/2014/main" id="{56B4837F-F7D9-DA12-2EB2-D832CC595532}"/>
              </a:ext>
            </a:extLst>
          </p:cNvPr>
          <p:cNvSpPr>
            <a:spLocks noGrp="1"/>
          </p:cNvSpPr>
          <p:nvPr>
            <p:ph type="sldNum" sz="quarter" idx="12"/>
          </p:nvPr>
        </p:nvSpPr>
        <p:spPr/>
        <p:txBody>
          <a:bodyPr/>
          <a:lstStyle/>
          <a:p>
            <a:fld id="{A71D4CCC-BB3A-4D93-86F3-16B4E3CF782A}" type="slidenum">
              <a:rPr lang="en-US" smtClean="0"/>
              <a:t>23</a:t>
            </a:fld>
            <a:endParaRPr lang="en-US"/>
          </a:p>
        </p:txBody>
      </p:sp>
    </p:spTree>
    <p:extLst>
      <p:ext uri="{BB962C8B-B14F-4D97-AF65-F5344CB8AC3E}">
        <p14:creationId xmlns:p14="http://schemas.microsoft.com/office/powerpoint/2010/main" val="1045586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5F393-454A-41D5-8B52-923B728F74B6}"/>
              </a:ext>
            </a:extLst>
          </p:cNvPr>
          <p:cNvSpPr>
            <a:spLocks noGrp="1"/>
          </p:cNvSpPr>
          <p:nvPr>
            <p:ph type="title"/>
          </p:nvPr>
        </p:nvSpPr>
        <p:spPr/>
        <p:txBody>
          <a:bodyPr/>
          <a:lstStyle/>
          <a:p>
            <a:r>
              <a:rPr lang="en-US" b="1" dirty="0" err="1"/>
              <a:t>Yêu</a:t>
            </a:r>
            <a:r>
              <a:rPr lang="en-US" b="1" dirty="0"/>
              <a:t> </a:t>
            </a:r>
            <a:r>
              <a:rPr lang="en-US" b="1" dirty="0" err="1"/>
              <a:t>cầu</a:t>
            </a:r>
            <a:r>
              <a:rPr lang="en-US" b="1" dirty="0"/>
              <a:t> </a:t>
            </a:r>
            <a:r>
              <a:rPr lang="en-US" b="1" dirty="0" err="1"/>
              <a:t>về</a:t>
            </a:r>
            <a:r>
              <a:rPr lang="en-US" b="1" dirty="0"/>
              <a:t> </a:t>
            </a:r>
            <a:r>
              <a:rPr lang="en-US" b="1" dirty="0" err="1"/>
              <a:t>Đề</a:t>
            </a:r>
            <a:r>
              <a:rPr lang="en-US" b="1" dirty="0"/>
              <a:t> </a:t>
            </a:r>
            <a:r>
              <a:rPr lang="en-US" b="1" dirty="0" err="1"/>
              <a:t>tài</a:t>
            </a:r>
            <a:endParaRPr lang="en-US" b="1" dirty="0"/>
          </a:p>
        </p:txBody>
      </p:sp>
      <p:sp>
        <p:nvSpPr>
          <p:cNvPr id="3" name="Content Placeholder 2">
            <a:extLst>
              <a:ext uri="{FF2B5EF4-FFF2-40B4-BE49-F238E27FC236}">
                <a16:creationId xmlns:a16="http://schemas.microsoft.com/office/drawing/2014/main" id="{9E3DCB10-C3C9-458C-BA78-FF57409B5005}"/>
              </a:ext>
            </a:extLst>
          </p:cNvPr>
          <p:cNvSpPr>
            <a:spLocks noGrp="1"/>
          </p:cNvSpPr>
          <p:nvPr>
            <p:ph idx="1"/>
          </p:nvPr>
        </p:nvSpPr>
        <p:spPr/>
        <p:txBody>
          <a:bodyPr>
            <a:normAutofit/>
          </a:bodyPr>
          <a:lstStyle/>
          <a:p>
            <a:r>
              <a:rPr lang="vi-VN" dirty="0"/>
              <a:t>Phải thuộc lĩnh vực:</a:t>
            </a:r>
          </a:p>
          <a:p>
            <a:pPr lvl="1"/>
            <a:r>
              <a:rPr lang="vi-VN" dirty="0"/>
              <a:t>Ngôn ngữ Trung Quốc (Hán ngữ hiện đại, Đối chiếu Hán-Việt...).</a:t>
            </a:r>
          </a:p>
          <a:p>
            <a:pPr lvl="1"/>
            <a:r>
              <a:rPr lang="vi-VN" dirty="0"/>
              <a:t>Văn hóa Trung Quốc (Phong tục, nghệ thuật, tư tưởng...).</a:t>
            </a:r>
          </a:p>
          <a:p>
            <a:pPr lvl="1"/>
            <a:r>
              <a:rPr lang="vi-VN" dirty="0"/>
              <a:t>Giáo dục tiếng Trung (Phương pháp giảng dạy, thụ đắc ngôn ngữ...).</a:t>
            </a:r>
          </a:p>
        </p:txBody>
      </p:sp>
      <p:sp>
        <p:nvSpPr>
          <p:cNvPr id="4" name="Footer Placeholder 3">
            <a:extLst>
              <a:ext uri="{FF2B5EF4-FFF2-40B4-BE49-F238E27FC236}">
                <a16:creationId xmlns:a16="http://schemas.microsoft.com/office/drawing/2014/main" id="{4BA55B36-72BE-4063-93FB-DF57F75DBE0B}"/>
              </a:ext>
            </a:extLst>
          </p:cNvPr>
          <p:cNvSpPr>
            <a:spLocks noGrp="1"/>
          </p:cNvSpPr>
          <p:nvPr>
            <p:ph type="ftr" sz="quarter" idx="11"/>
          </p:nvPr>
        </p:nvSpPr>
        <p:spPr/>
        <p:txBody>
          <a:bodyPr/>
          <a:lstStyle/>
          <a:p>
            <a:r>
              <a:rPr lang="zh-CN" altLang="en-US" dirty="0"/>
              <a:t>科学研究方法</a:t>
            </a:r>
            <a:endParaRPr lang="en-US" dirty="0"/>
          </a:p>
        </p:txBody>
      </p:sp>
      <p:sp>
        <p:nvSpPr>
          <p:cNvPr id="5" name="Slide Number Placeholder 4">
            <a:extLst>
              <a:ext uri="{FF2B5EF4-FFF2-40B4-BE49-F238E27FC236}">
                <a16:creationId xmlns:a16="http://schemas.microsoft.com/office/drawing/2014/main" id="{3A2FAC1F-D964-4F21-7318-35A2191F3B6D}"/>
              </a:ext>
            </a:extLst>
          </p:cNvPr>
          <p:cNvSpPr>
            <a:spLocks noGrp="1"/>
          </p:cNvSpPr>
          <p:nvPr>
            <p:ph type="sldNum" sz="quarter" idx="12"/>
          </p:nvPr>
        </p:nvSpPr>
        <p:spPr/>
        <p:txBody>
          <a:bodyPr/>
          <a:lstStyle/>
          <a:p>
            <a:fld id="{A71D4CCC-BB3A-4D93-86F3-16B4E3CF782A}" type="slidenum">
              <a:rPr lang="en-US" smtClean="0"/>
              <a:t>24</a:t>
            </a:fld>
            <a:endParaRPr lang="en-US"/>
          </a:p>
        </p:txBody>
      </p:sp>
    </p:spTree>
    <p:extLst>
      <p:ext uri="{BB962C8B-B14F-4D97-AF65-F5344CB8AC3E}">
        <p14:creationId xmlns:p14="http://schemas.microsoft.com/office/powerpoint/2010/main" val="15069061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B662B-A75D-58B5-416B-08ACCC7A6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488366-EF15-4251-F37D-85537539F863}"/>
              </a:ext>
            </a:extLst>
          </p:cNvPr>
          <p:cNvSpPr>
            <a:spLocks noGrp="1"/>
          </p:cNvSpPr>
          <p:nvPr>
            <p:ph type="title"/>
          </p:nvPr>
        </p:nvSpPr>
        <p:spPr/>
        <p:txBody>
          <a:bodyPr>
            <a:normAutofit/>
          </a:bodyPr>
          <a:lstStyle/>
          <a:p>
            <a:r>
              <a:rPr lang="vi-VN" b="1" dirty="0"/>
              <a:t>Cấu trúc bài Tiểu luận (Đề cương nghiên cứu)</a:t>
            </a:r>
            <a:endParaRPr lang="en-US" b="1" dirty="0"/>
          </a:p>
        </p:txBody>
      </p:sp>
      <p:sp>
        <p:nvSpPr>
          <p:cNvPr id="3" name="Content Placeholder 2">
            <a:extLst>
              <a:ext uri="{FF2B5EF4-FFF2-40B4-BE49-F238E27FC236}">
                <a16:creationId xmlns:a16="http://schemas.microsoft.com/office/drawing/2014/main" id="{E07B9C3C-B52A-60DC-87CD-0C8D54F7C020}"/>
              </a:ext>
            </a:extLst>
          </p:cNvPr>
          <p:cNvSpPr>
            <a:spLocks noGrp="1"/>
          </p:cNvSpPr>
          <p:nvPr>
            <p:ph idx="1"/>
          </p:nvPr>
        </p:nvSpPr>
        <p:spPr/>
        <p:txBody>
          <a:bodyPr>
            <a:normAutofit/>
          </a:bodyPr>
          <a:lstStyle/>
          <a:p>
            <a:r>
              <a:rPr lang="vi-VN" b="1" dirty="0"/>
              <a:t>Trang bìa:</a:t>
            </a:r>
            <a:r>
              <a:rPr lang="vi-VN" dirty="0"/>
              <a:t> Theo mẫu của trường.</a:t>
            </a:r>
          </a:p>
          <a:p>
            <a:r>
              <a:rPr lang="vi-VN" b="1" dirty="0"/>
              <a:t>Mở đầu:</a:t>
            </a:r>
            <a:r>
              <a:rPr lang="vi-VN" dirty="0"/>
              <a:t> Lý do chọn đề tài, Mục tiêu, Câu hỏi NC, Đối tượng &amp; Phạm vi.</a:t>
            </a:r>
          </a:p>
          <a:p>
            <a:r>
              <a:rPr lang="vi-VN" b="1" dirty="0"/>
              <a:t>Tổng quan tài liệu &amp; Cơ sở lý thuyết:</a:t>
            </a:r>
            <a:r>
              <a:rPr lang="vi-VN" dirty="0"/>
              <a:t> Các nghiên cứu trước, Khái niệm chính.</a:t>
            </a:r>
          </a:p>
          <a:p>
            <a:r>
              <a:rPr lang="vi-VN" b="1" dirty="0"/>
              <a:t>Phương pháp nghiên cứu:</a:t>
            </a:r>
            <a:r>
              <a:rPr lang="vi-VN" dirty="0"/>
              <a:t> Thiết kế nghiên cứu, Mẫu, Công cụ thu thập, Quy trình.</a:t>
            </a:r>
          </a:p>
          <a:p>
            <a:r>
              <a:rPr lang="vi-VN" b="1" dirty="0"/>
              <a:t>Kế hoạch dự kiến:</a:t>
            </a:r>
            <a:r>
              <a:rPr lang="vi-VN" dirty="0"/>
              <a:t> Biểu đồ Gantt (thời gian).</a:t>
            </a:r>
          </a:p>
          <a:p>
            <a:r>
              <a:rPr lang="vi-VN" b="1" dirty="0"/>
              <a:t>Tài liệu tham khảo:</a:t>
            </a:r>
            <a:r>
              <a:rPr lang="vi-VN" dirty="0"/>
              <a:t> Chuẩn APA</a:t>
            </a:r>
            <a:r>
              <a:rPr lang="en-US" dirty="0"/>
              <a:t> </a:t>
            </a:r>
            <a:r>
              <a:rPr lang="vi-VN" dirty="0"/>
              <a:t>.</a:t>
            </a:r>
          </a:p>
        </p:txBody>
      </p:sp>
      <p:sp>
        <p:nvSpPr>
          <p:cNvPr id="4" name="Footer Placeholder 3">
            <a:extLst>
              <a:ext uri="{FF2B5EF4-FFF2-40B4-BE49-F238E27FC236}">
                <a16:creationId xmlns:a16="http://schemas.microsoft.com/office/drawing/2014/main" id="{80BB5105-71AF-7B4F-DE88-FDED158A8F78}"/>
              </a:ext>
            </a:extLst>
          </p:cNvPr>
          <p:cNvSpPr>
            <a:spLocks noGrp="1"/>
          </p:cNvSpPr>
          <p:nvPr>
            <p:ph type="ftr" sz="quarter" idx="11"/>
          </p:nvPr>
        </p:nvSpPr>
        <p:spPr/>
        <p:txBody>
          <a:bodyPr/>
          <a:lstStyle/>
          <a:p>
            <a:r>
              <a:rPr lang="zh-CN" altLang="en-US" dirty="0"/>
              <a:t>科学研究方法</a:t>
            </a:r>
            <a:endParaRPr lang="en-US" dirty="0"/>
          </a:p>
        </p:txBody>
      </p:sp>
      <p:sp>
        <p:nvSpPr>
          <p:cNvPr id="5" name="Slide Number Placeholder 4">
            <a:extLst>
              <a:ext uri="{FF2B5EF4-FFF2-40B4-BE49-F238E27FC236}">
                <a16:creationId xmlns:a16="http://schemas.microsoft.com/office/drawing/2014/main" id="{EB4FE71A-E8EB-9A55-B186-C20F36B0E10F}"/>
              </a:ext>
            </a:extLst>
          </p:cNvPr>
          <p:cNvSpPr>
            <a:spLocks noGrp="1"/>
          </p:cNvSpPr>
          <p:nvPr>
            <p:ph type="sldNum" sz="quarter" idx="12"/>
          </p:nvPr>
        </p:nvSpPr>
        <p:spPr/>
        <p:txBody>
          <a:bodyPr/>
          <a:lstStyle/>
          <a:p>
            <a:fld id="{A71D4CCC-BB3A-4D93-86F3-16B4E3CF782A}" type="slidenum">
              <a:rPr lang="en-US" smtClean="0"/>
              <a:t>25</a:t>
            </a:fld>
            <a:endParaRPr lang="en-US"/>
          </a:p>
        </p:txBody>
      </p:sp>
    </p:spTree>
    <p:extLst>
      <p:ext uri="{BB962C8B-B14F-4D97-AF65-F5344CB8AC3E}">
        <p14:creationId xmlns:p14="http://schemas.microsoft.com/office/powerpoint/2010/main" val="32037481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0F028-D6B4-07F2-3ABA-4686817D63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551633-D9F7-883B-F46C-8DC89B05FF9A}"/>
              </a:ext>
            </a:extLst>
          </p:cNvPr>
          <p:cNvSpPr>
            <a:spLocks noGrp="1"/>
          </p:cNvSpPr>
          <p:nvPr>
            <p:ph type="title"/>
          </p:nvPr>
        </p:nvSpPr>
        <p:spPr/>
        <p:txBody>
          <a:bodyPr>
            <a:normAutofit/>
          </a:bodyPr>
          <a:lstStyle/>
          <a:p>
            <a:r>
              <a:rPr lang="vi-VN" b="1" dirty="0"/>
              <a:t>Cấu trúc của Đề cương nghiên cứu (Phần 1)</a:t>
            </a:r>
          </a:p>
        </p:txBody>
      </p:sp>
      <p:sp>
        <p:nvSpPr>
          <p:cNvPr id="3" name="Content Placeholder 2">
            <a:extLst>
              <a:ext uri="{FF2B5EF4-FFF2-40B4-BE49-F238E27FC236}">
                <a16:creationId xmlns:a16="http://schemas.microsoft.com/office/drawing/2014/main" id="{F611B2EF-AEC2-AD25-226E-ECCBFD59D615}"/>
              </a:ext>
            </a:extLst>
          </p:cNvPr>
          <p:cNvSpPr>
            <a:spLocks noGrp="1"/>
          </p:cNvSpPr>
          <p:nvPr>
            <p:ph idx="1"/>
          </p:nvPr>
        </p:nvSpPr>
        <p:spPr/>
        <p:txBody>
          <a:bodyPr>
            <a:normAutofit/>
          </a:bodyPr>
          <a:lstStyle/>
          <a:p>
            <a:r>
              <a:rPr lang="vi-VN" b="1" dirty="0"/>
              <a:t>Tên đề tài:</a:t>
            </a:r>
            <a:r>
              <a:rPr lang="vi-VN" dirty="0"/>
              <a:t> Rõ ràng, cụ thể, phản ánh đúng nội dung nghiên cứu.</a:t>
            </a:r>
          </a:p>
          <a:p>
            <a:r>
              <a:rPr lang="vi-VN" b="1" dirty="0"/>
              <a:t>Lý do chọn đề tài:</a:t>
            </a:r>
            <a:r>
              <a:rPr lang="vi-VN" dirty="0"/>
              <a:t> Tính cấp thiết, ý nghĩa lý luận và thực tiễn.</a:t>
            </a:r>
          </a:p>
          <a:p>
            <a:r>
              <a:rPr lang="vi-VN" b="1" dirty="0"/>
              <a:t>Mục tiêu nghiên cứu:</a:t>
            </a:r>
            <a:r>
              <a:rPr lang="vi-VN" dirty="0"/>
              <a:t> Bạn muốn đạt được điều gì? (Sử dụng 5 tiêu chí chính của mục tiêu).</a:t>
            </a:r>
          </a:p>
          <a:p>
            <a:r>
              <a:rPr lang="vi-VN" b="1" dirty="0"/>
              <a:t>Câu hỏi nghiên cứu:</a:t>
            </a:r>
            <a:r>
              <a:rPr lang="vi-VN" dirty="0"/>
              <a:t> Những vấn đề cụ thể cần giải đáp.</a:t>
            </a:r>
          </a:p>
        </p:txBody>
      </p:sp>
      <p:sp>
        <p:nvSpPr>
          <p:cNvPr id="4" name="Footer Placeholder 3">
            <a:extLst>
              <a:ext uri="{FF2B5EF4-FFF2-40B4-BE49-F238E27FC236}">
                <a16:creationId xmlns:a16="http://schemas.microsoft.com/office/drawing/2014/main" id="{58C0FF5C-7FFA-6C84-2A66-F0A797FC56D0}"/>
              </a:ext>
            </a:extLst>
          </p:cNvPr>
          <p:cNvSpPr>
            <a:spLocks noGrp="1"/>
          </p:cNvSpPr>
          <p:nvPr>
            <p:ph type="ftr" sz="quarter" idx="11"/>
          </p:nvPr>
        </p:nvSpPr>
        <p:spPr/>
        <p:txBody>
          <a:bodyPr/>
          <a:lstStyle/>
          <a:p>
            <a:r>
              <a:rPr lang="zh-CN" altLang="en-US" dirty="0"/>
              <a:t>科学研究方法</a:t>
            </a:r>
            <a:endParaRPr lang="en-US" dirty="0"/>
          </a:p>
        </p:txBody>
      </p:sp>
      <p:sp>
        <p:nvSpPr>
          <p:cNvPr id="5" name="Slide Number Placeholder 4">
            <a:extLst>
              <a:ext uri="{FF2B5EF4-FFF2-40B4-BE49-F238E27FC236}">
                <a16:creationId xmlns:a16="http://schemas.microsoft.com/office/drawing/2014/main" id="{555C40AF-5079-326C-4835-C30474B0BA11}"/>
              </a:ext>
            </a:extLst>
          </p:cNvPr>
          <p:cNvSpPr>
            <a:spLocks noGrp="1"/>
          </p:cNvSpPr>
          <p:nvPr>
            <p:ph type="sldNum" sz="quarter" idx="12"/>
          </p:nvPr>
        </p:nvSpPr>
        <p:spPr/>
        <p:txBody>
          <a:bodyPr/>
          <a:lstStyle/>
          <a:p>
            <a:fld id="{A71D4CCC-BB3A-4D93-86F3-16B4E3CF782A}" type="slidenum">
              <a:rPr lang="en-US" smtClean="0"/>
              <a:t>26</a:t>
            </a:fld>
            <a:endParaRPr lang="en-US"/>
          </a:p>
        </p:txBody>
      </p:sp>
    </p:spTree>
    <p:extLst>
      <p:ext uri="{BB962C8B-B14F-4D97-AF65-F5344CB8AC3E}">
        <p14:creationId xmlns:p14="http://schemas.microsoft.com/office/powerpoint/2010/main" val="12546246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2CB12-9DFC-A7BF-2E47-30DE602B3F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485676-E34F-CBC3-FEF6-0E7D23A39CB7}"/>
              </a:ext>
            </a:extLst>
          </p:cNvPr>
          <p:cNvSpPr>
            <a:spLocks noGrp="1"/>
          </p:cNvSpPr>
          <p:nvPr>
            <p:ph type="title"/>
          </p:nvPr>
        </p:nvSpPr>
        <p:spPr/>
        <p:txBody>
          <a:bodyPr>
            <a:normAutofit/>
          </a:bodyPr>
          <a:lstStyle/>
          <a:p>
            <a:r>
              <a:rPr lang="vi-VN" b="1" dirty="0"/>
              <a:t>Cấu trúc của Đề cương nghiên cứu (Phần </a:t>
            </a:r>
            <a:r>
              <a:rPr lang="en-US" b="1" dirty="0"/>
              <a:t>2</a:t>
            </a:r>
            <a:r>
              <a:rPr lang="vi-VN" b="1" dirty="0"/>
              <a:t>)</a:t>
            </a:r>
          </a:p>
        </p:txBody>
      </p:sp>
      <p:sp>
        <p:nvSpPr>
          <p:cNvPr id="3" name="Content Placeholder 2">
            <a:extLst>
              <a:ext uri="{FF2B5EF4-FFF2-40B4-BE49-F238E27FC236}">
                <a16:creationId xmlns:a16="http://schemas.microsoft.com/office/drawing/2014/main" id="{110B494B-D5B0-BE7F-924C-CF4D496810E1}"/>
              </a:ext>
            </a:extLst>
          </p:cNvPr>
          <p:cNvSpPr>
            <a:spLocks noGrp="1"/>
          </p:cNvSpPr>
          <p:nvPr>
            <p:ph idx="1"/>
          </p:nvPr>
        </p:nvSpPr>
        <p:spPr/>
        <p:txBody>
          <a:bodyPr>
            <a:normAutofit/>
          </a:bodyPr>
          <a:lstStyle/>
          <a:p>
            <a:r>
              <a:rPr lang="vi-VN" b="1" dirty="0"/>
              <a:t>Đối tượng và Phạm vi nghiên cứu:</a:t>
            </a:r>
            <a:endParaRPr lang="vi-VN" dirty="0"/>
          </a:p>
          <a:p>
            <a:pPr lvl="1"/>
            <a:r>
              <a:rPr lang="vi-VN" dirty="0"/>
              <a:t>Nghiên cứu cái gì?</a:t>
            </a:r>
          </a:p>
          <a:p>
            <a:pPr lvl="1"/>
            <a:r>
              <a:rPr lang="vi-VN" dirty="0"/>
              <a:t>Giới hạn về thời gian, không gian, nội dung.</a:t>
            </a:r>
          </a:p>
          <a:p>
            <a:r>
              <a:rPr lang="vi-VN" b="1" dirty="0"/>
              <a:t>Giả thuyết nghiên cứu (nếu có):</a:t>
            </a:r>
            <a:r>
              <a:rPr lang="vi-VN" dirty="0"/>
              <a:t> Dự đoán kết quả dựa trên cơ sở khoa học.</a:t>
            </a:r>
          </a:p>
          <a:p>
            <a:r>
              <a:rPr lang="vi-VN" b="1" dirty="0"/>
              <a:t>Tổng quan tài liệu &amp; Cơ sở lý thuyết:</a:t>
            </a:r>
            <a:endParaRPr lang="vi-VN" dirty="0"/>
          </a:p>
          <a:p>
            <a:pPr lvl="1"/>
            <a:r>
              <a:rPr lang="vi-VN" dirty="0"/>
              <a:t>Tóm tắt các nghiên cứu trước đây (Chương 4).</a:t>
            </a:r>
          </a:p>
          <a:p>
            <a:pPr lvl="1"/>
            <a:r>
              <a:rPr lang="vi-VN" dirty="0"/>
              <a:t>Xác định các khái niệm, lý thuyết chủ chốt sử dụng trong bài.</a:t>
            </a:r>
          </a:p>
        </p:txBody>
      </p:sp>
      <p:sp>
        <p:nvSpPr>
          <p:cNvPr id="4" name="Footer Placeholder 3">
            <a:extLst>
              <a:ext uri="{FF2B5EF4-FFF2-40B4-BE49-F238E27FC236}">
                <a16:creationId xmlns:a16="http://schemas.microsoft.com/office/drawing/2014/main" id="{C9FED38D-9FA8-4F4A-B6A8-3F94657E3F7D}"/>
              </a:ext>
            </a:extLst>
          </p:cNvPr>
          <p:cNvSpPr>
            <a:spLocks noGrp="1"/>
          </p:cNvSpPr>
          <p:nvPr>
            <p:ph type="ftr" sz="quarter" idx="11"/>
          </p:nvPr>
        </p:nvSpPr>
        <p:spPr/>
        <p:txBody>
          <a:bodyPr/>
          <a:lstStyle/>
          <a:p>
            <a:r>
              <a:rPr lang="zh-CN" altLang="en-US" dirty="0"/>
              <a:t>科学研究方法</a:t>
            </a:r>
            <a:endParaRPr lang="en-US" dirty="0"/>
          </a:p>
        </p:txBody>
      </p:sp>
      <p:sp>
        <p:nvSpPr>
          <p:cNvPr id="5" name="Slide Number Placeholder 4">
            <a:extLst>
              <a:ext uri="{FF2B5EF4-FFF2-40B4-BE49-F238E27FC236}">
                <a16:creationId xmlns:a16="http://schemas.microsoft.com/office/drawing/2014/main" id="{3FD3439A-C20F-438B-5AF8-6A75E9053537}"/>
              </a:ext>
            </a:extLst>
          </p:cNvPr>
          <p:cNvSpPr>
            <a:spLocks noGrp="1"/>
          </p:cNvSpPr>
          <p:nvPr>
            <p:ph type="sldNum" sz="quarter" idx="12"/>
          </p:nvPr>
        </p:nvSpPr>
        <p:spPr/>
        <p:txBody>
          <a:bodyPr/>
          <a:lstStyle/>
          <a:p>
            <a:fld id="{A71D4CCC-BB3A-4D93-86F3-16B4E3CF782A}" type="slidenum">
              <a:rPr lang="en-US" smtClean="0"/>
              <a:t>27</a:t>
            </a:fld>
            <a:endParaRPr lang="en-US"/>
          </a:p>
        </p:txBody>
      </p:sp>
    </p:spTree>
    <p:extLst>
      <p:ext uri="{BB962C8B-B14F-4D97-AF65-F5344CB8AC3E}">
        <p14:creationId xmlns:p14="http://schemas.microsoft.com/office/powerpoint/2010/main" val="12600068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268C1-2382-1475-179D-5EE4BEA4B4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C38119-384D-073E-3254-35A15487013E}"/>
              </a:ext>
            </a:extLst>
          </p:cNvPr>
          <p:cNvSpPr>
            <a:spLocks noGrp="1"/>
          </p:cNvSpPr>
          <p:nvPr>
            <p:ph type="title"/>
          </p:nvPr>
        </p:nvSpPr>
        <p:spPr/>
        <p:txBody>
          <a:bodyPr>
            <a:normAutofit/>
          </a:bodyPr>
          <a:lstStyle/>
          <a:p>
            <a:r>
              <a:rPr lang="vi-VN" b="1" dirty="0"/>
              <a:t>Phương pháp nghiên cứu &amp; Kế hoạch</a:t>
            </a:r>
          </a:p>
        </p:txBody>
      </p:sp>
      <p:sp>
        <p:nvSpPr>
          <p:cNvPr id="3" name="Content Placeholder 2">
            <a:extLst>
              <a:ext uri="{FF2B5EF4-FFF2-40B4-BE49-F238E27FC236}">
                <a16:creationId xmlns:a16="http://schemas.microsoft.com/office/drawing/2014/main" id="{8F83BD6E-892D-8B08-A651-98055EEA9807}"/>
              </a:ext>
            </a:extLst>
          </p:cNvPr>
          <p:cNvSpPr>
            <a:spLocks noGrp="1"/>
          </p:cNvSpPr>
          <p:nvPr>
            <p:ph idx="1"/>
          </p:nvPr>
        </p:nvSpPr>
        <p:spPr/>
        <p:txBody>
          <a:bodyPr>
            <a:normAutofit/>
          </a:bodyPr>
          <a:lstStyle/>
          <a:p>
            <a:r>
              <a:rPr lang="vi-VN" b="1" dirty="0"/>
              <a:t>Nguồn dữ liệu:</a:t>
            </a:r>
            <a:r>
              <a:rPr lang="vi-VN" dirty="0"/>
              <a:t> Dữ liệu sơ cấp (phỏng vấn, quan sát) hay thứ cấp (tài liệu có sẵn).</a:t>
            </a:r>
          </a:p>
          <a:p>
            <a:r>
              <a:rPr lang="vi-VN" b="1" dirty="0"/>
              <a:t>Công cụ thu thập:</a:t>
            </a:r>
            <a:r>
              <a:rPr lang="vi-VN" dirty="0"/>
              <a:t> Bảng câu hỏi, thang đo (Likert), biên bản phỏng vấn.</a:t>
            </a:r>
          </a:p>
          <a:p>
            <a:r>
              <a:rPr lang="vi-VN" b="1" dirty="0"/>
              <a:t>Phương pháp chọn mẫu:</a:t>
            </a:r>
            <a:r>
              <a:rPr lang="vi-VN" dirty="0"/>
              <a:t> Xác định tổng thể, khung mẫu và đơn vị nghiên cứu.</a:t>
            </a:r>
          </a:p>
          <a:p>
            <a:r>
              <a:rPr lang="vi-VN" b="1" dirty="0"/>
              <a:t>Phương pháp xử lý dữ liệu:</a:t>
            </a:r>
            <a:r>
              <a:rPr lang="vi-VN" dirty="0"/>
              <a:t> Thống kê mô tả (định lượng) hoặc phân tích nội dung (định tính).</a:t>
            </a:r>
          </a:p>
        </p:txBody>
      </p:sp>
      <p:sp>
        <p:nvSpPr>
          <p:cNvPr id="4" name="Footer Placeholder 3">
            <a:extLst>
              <a:ext uri="{FF2B5EF4-FFF2-40B4-BE49-F238E27FC236}">
                <a16:creationId xmlns:a16="http://schemas.microsoft.com/office/drawing/2014/main" id="{BFBC4D9E-0B98-B37B-45B5-0DF9643BE577}"/>
              </a:ext>
            </a:extLst>
          </p:cNvPr>
          <p:cNvSpPr>
            <a:spLocks noGrp="1"/>
          </p:cNvSpPr>
          <p:nvPr>
            <p:ph type="ftr" sz="quarter" idx="11"/>
          </p:nvPr>
        </p:nvSpPr>
        <p:spPr/>
        <p:txBody>
          <a:bodyPr/>
          <a:lstStyle/>
          <a:p>
            <a:r>
              <a:rPr lang="zh-CN" altLang="en-US" dirty="0"/>
              <a:t>科学研究方法</a:t>
            </a:r>
            <a:endParaRPr lang="en-US" dirty="0"/>
          </a:p>
        </p:txBody>
      </p:sp>
      <p:sp>
        <p:nvSpPr>
          <p:cNvPr id="5" name="Slide Number Placeholder 4">
            <a:extLst>
              <a:ext uri="{FF2B5EF4-FFF2-40B4-BE49-F238E27FC236}">
                <a16:creationId xmlns:a16="http://schemas.microsoft.com/office/drawing/2014/main" id="{EDD3F93C-1987-295F-14FE-0182DB391345}"/>
              </a:ext>
            </a:extLst>
          </p:cNvPr>
          <p:cNvSpPr>
            <a:spLocks noGrp="1"/>
          </p:cNvSpPr>
          <p:nvPr>
            <p:ph type="sldNum" sz="quarter" idx="12"/>
          </p:nvPr>
        </p:nvSpPr>
        <p:spPr/>
        <p:txBody>
          <a:bodyPr/>
          <a:lstStyle/>
          <a:p>
            <a:fld id="{A71D4CCC-BB3A-4D93-86F3-16B4E3CF782A}" type="slidenum">
              <a:rPr lang="en-US" smtClean="0"/>
              <a:t>28</a:t>
            </a:fld>
            <a:endParaRPr lang="en-US"/>
          </a:p>
        </p:txBody>
      </p:sp>
    </p:spTree>
    <p:extLst>
      <p:ext uri="{BB962C8B-B14F-4D97-AF65-F5344CB8AC3E}">
        <p14:creationId xmlns:p14="http://schemas.microsoft.com/office/powerpoint/2010/main" val="39215646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4E524-39F6-A128-4D88-70C072A80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454736-DBFF-24A6-08F7-14D06E3437FC}"/>
              </a:ext>
            </a:extLst>
          </p:cNvPr>
          <p:cNvSpPr>
            <a:spLocks noGrp="1"/>
          </p:cNvSpPr>
          <p:nvPr>
            <p:ph type="title"/>
          </p:nvPr>
        </p:nvSpPr>
        <p:spPr/>
        <p:txBody>
          <a:bodyPr>
            <a:normAutofit/>
          </a:bodyPr>
          <a:lstStyle/>
          <a:p>
            <a:r>
              <a:rPr lang="en-US" b="1" dirty="0" err="1"/>
              <a:t>Trích</a:t>
            </a:r>
            <a:r>
              <a:rPr lang="en-US" b="1" dirty="0"/>
              <a:t> </a:t>
            </a:r>
            <a:r>
              <a:rPr lang="en-US" b="1" dirty="0" err="1"/>
              <a:t>dẫn</a:t>
            </a:r>
            <a:r>
              <a:rPr lang="en-US" b="1" dirty="0"/>
              <a:t> </a:t>
            </a:r>
            <a:r>
              <a:rPr lang="en-US" b="1" dirty="0" err="1"/>
              <a:t>và</a:t>
            </a:r>
            <a:r>
              <a:rPr lang="en-US" b="1" dirty="0"/>
              <a:t> Tài </a:t>
            </a:r>
            <a:r>
              <a:rPr lang="en-US" b="1" dirty="0" err="1"/>
              <a:t>liệu</a:t>
            </a:r>
            <a:r>
              <a:rPr lang="en-US" b="1" dirty="0"/>
              <a:t> </a:t>
            </a:r>
            <a:r>
              <a:rPr lang="en-US" b="1" dirty="0" err="1"/>
              <a:t>tham</a:t>
            </a:r>
            <a:r>
              <a:rPr lang="en-US" b="1" dirty="0"/>
              <a:t> </a:t>
            </a:r>
            <a:r>
              <a:rPr lang="en-US" b="1" dirty="0" err="1"/>
              <a:t>khảo</a:t>
            </a:r>
            <a:endParaRPr lang="en-US" b="1" dirty="0"/>
          </a:p>
        </p:txBody>
      </p:sp>
      <p:sp>
        <p:nvSpPr>
          <p:cNvPr id="3" name="Content Placeholder 2">
            <a:extLst>
              <a:ext uri="{FF2B5EF4-FFF2-40B4-BE49-F238E27FC236}">
                <a16:creationId xmlns:a16="http://schemas.microsoft.com/office/drawing/2014/main" id="{716174AE-F433-8619-B85E-7745B242AB3D}"/>
              </a:ext>
            </a:extLst>
          </p:cNvPr>
          <p:cNvSpPr>
            <a:spLocks noGrp="1"/>
          </p:cNvSpPr>
          <p:nvPr>
            <p:ph idx="1"/>
          </p:nvPr>
        </p:nvSpPr>
        <p:spPr/>
        <p:txBody>
          <a:bodyPr>
            <a:normAutofit/>
          </a:bodyPr>
          <a:lstStyle/>
          <a:p>
            <a:r>
              <a:rPr lang="en-US" b="1" dirty="0" err="1"/>
              <a:t>Hình</a:t>
            </a:r>
            <a:r>
              <a:rPr lang="en-US" b="1" dirty="0"/>
              <a:t> </a:t>
            </a:r>
            <a:r>
              <a:rPr lang="en-US" b="1" dirty="0" err="1"/>
              <a:t>thức</a:t>
            </a:r>
            <a:r>
              <a:rPr lang="en-US" b="1" dirty="0"/>
              <a:t> </a:t>
            </a:r>
            <a:r>
              <a:rPr lang="en-US" b="1" dirty="0" err="1"/>
              <a:t>trích</a:t>
            </a:r>
            <a:r>
              <a:rPr lang="en-US" b="1" dirty="0"/>
              <a:t> </a:t>
            </a:r>
            <a:r>
              <a:rPr lang="en-US" b="1" dirty="0" err="1"/>
              <a:t>dẫn</a:t>
            </a:r>
            <a:r>
              <a:rPr lang="en-US" b="1" dirty="0"/>
              <a:t>:</a:t>
            </a:r>
            <a:r>
              <a:rPr lang="en-US" dirty="0"/>
              <a:t> </a:t>
            </a:r>
            <a:r>
              <a:rPr lang="en-US" dirty="0" err="1"/>
              <a:t>Trình</a:t>
            </a:r>
            <a:r>
              <a:rPr lang="en-US" dirty="0"/>
              <a:t> </a:t>
            </a:r>
            <a:r>
              <a:rPr lang="en-US" dirty="0" err="1"/>
              <a:t>bày</a:t>
            </a:r>
            <a:r>
              <a:rPr lang="en-US" dirty="0"/>
              <a:t> </a:t>
            </a:r>
            <a:r>
              <a:rPr lang="en-US" dirty="0" err="1"/>
              <a:t>rõ</a:t>
            </a:r>
            <a:r>
              <a:rPr lang="en-US" dirty="0"/>
              <a:t> </a:t>
            </a:r>
            <a:r>
              <a:rPr lang="en-US" dirty="0" err="1"/>
              <a:t>ràng</a:t>
            </a:r>
            <a:r>
              <a:rPr lang="en-US" dirty="0"/>
              <a:t> </a:t>
            </a:r>
            <a:r>
              <a:rPr lang="en-US" dirty="0" err="1"/>
              <a:t>trong</a:t>
            </a:r>
            <a:r>
              <a:rPr lang="en-US" dirty="0"/>
              <a:t> </a:t>
            </a:r>
            <a:r>
              <a:rPr lang="en-US" dirty="0" err="1"/>
              <a:t>thân</a:t>
            </a:r>
            <a:r>
              <a:rPr lang="en-US" dirty="0"/>
              <a:t> </a:t>
            </a:r>
            <a:r>
              <a:rPr lang="en-US" dirty="0" err="1"/>
              <a:t>bài</a:t>
            </a:r>
            <a:r>
              <a:rPr lang="en-US" dirty="0"/>
              <a:t> (In-text citation).</a:t>
            </a:r>
          </a:p>
          <a:p>
            <a:r>
              <a:rPr lang="en-US" b="1" dirty="0" err="1"/>
              <a:t>Tiêu</a:t>
            </a:r>
            <a:r>
              <a:rPr lang="en-US" b="1" dirty="0"/>
              <a:t> </a:t>
            </a:r>
            <a:r>
              <a:rPr lang="en-US" b="1" dirty="0" err="1"/>
              <a:t>chuẩn</a:t>
            </a:r>
            <a:r>
              <a:rPr lang="en-US" b="1" dirty="0"/>
              <a:t> </a:t>
            </a:r>
            <a:r>
              <a:rPr lang="en-US" b="1" dirty="0" err="1"/>
              <a:t>trình</a:t>
            </a:r>
            <a:r>
              <a:rPr lang="en-US" b="1" dirty="0"/>
              <a:t> </a:t>
            </a:r>
            <a:r>
              <a:rPr lang="en-US" b="1" dirty="0" err="1"/>
              <a:t>bày</a:t>
            </a:r>
            <a:r>
              <a:rPr lang="en-US" b="1" dirty="0"/>
              <a:t>:</a:t>
            </a:r>
            <a:r>
              <a:rPr lang="en-US" dirty="0"/>
              <a:t> </a:t>
            </a:r>
            <a:r>
              <a:rPr lang="en-US" dirty="0" err="1"/>
              <a:t>Sử</a:t>
            </a:r>
            <a:r>
              <a:rPr lang="en-US" dirty="0"/>
              <a:t> </a:t>
            </a:r>
            <a:r>
              <a:rPr lang="en-US" dirty="0" err="1"/>
              <a:t>dụng</a:t>
            </a:r>
            <a:r>
              <a:rPr lang="en-US" dirty="0"/>
              <a:t> </a:t>
            </a:r>
            <a:r>
              <a:rPr lang="en-US" dirty="0" err="1"/>
              <a:t>chuẩn</a:t>
            </a:r>
            <a:r>
              <a:rPr lang="en-US" dirty="0"/>
              <a:t> </a:t>
            </a:r>
            <a:r>
              <a:rPr lang="en-US" b="1" dirty="0"/>
              <a:t>APA</a:t>
            </a:r>
            <a:r>
              <a:rPr lang="en-US" dirty="0"/>
              <a:t> </a:t>
            </a:r>
            <a:r>
              <a:rPr lang="en-US" dirty="0" err="1"/>
              <a:t>hoặc</a:t>
            </a:r>
            <a:r>
              <a:rPr lang="en-US" dirty="0"/>
              <a:t> </a:t>
            </a:r>
            <a:r>
              <a:rPr lang="en-US" b="1" dirty="0"/>
              <a:t>IEEE</a:t>
            </a:r>
            <a:r>
              <a:rPr lang="en-US" dirty="0"/>
              <a:t>.</a:t>
            </a:r>
          </a:p>
          <a:p>
            <a:r>
              <a:rPr lang="en-US" b="1" dirty="0" err="1"/>
              <a:t>Yêu</a:t>
            </a:r>
            <a:r>
              <a:rPr lang="en-US" b="1" dirty="0"/>
              <a:t> </a:t>
            </a:r>
            <a:r>
              <a:rPr lang="en-US" b="1" dirty="0" err="1"/>
              <a:t>cầu</a:t>
            </a:r>
            <a:r>
              <a:rPr lang="en-US" b="1" dirty="0"/>
              <a:t> </a:t>
            </a:r>
            <a:r>
              <a:rPr lang="en-US" b="1" dirty="0" err="1"/>
              <a:t>nguồn</a:t>
            </a:r>
            <a:r>
              <a:rPr lang="en-US" b="1" dirty="0"/>
              <a:t>:</a:t>
            </a:r>
            <a:r>
              <a:rPr lang="en-US" dirty="0"/>
              <a:t> Tài </a:t>
            </a:r>
            <a:r>
              <a:rPr lang="en-US" dirty="0" err="1"/>
              <a:t>liệu</a:t>
            </a:r>
            <a:r>
              <a:rPr lang="en-US" dirty="0"/>
              <a:t> </a:t>
            </a:r>
            <a:r>
              <a:rPr lang="en-US" dirty="0" err="1"/>
              <a:t>phải</a:t>
            </a:r>
            <a:r>
              <a:rPr lang="en-US" dirty="0"/>
              <a:t> </a:t>
            </a:r>
            <a:r>
              <a:rPr lang="en-US" dirty="0" err="1"/>
              <a:t>có</a:t>
            </a:r>
            <a:r>
              <a:rPr lang="en-US" dirty="0"/>
              <a:t> </a:t>
            </a:r>
            <a:r>
              <a:rPr lang="en-US" dirty="0" err="1"/>
              <a:t>tính</a:t>
            </a:r>
            <a:r>
              <a:rPr lang="en-US" dirty="0"/>
              <a:t> khoa </a:t>
            </a:r>
            <a:r>
              <a:rPr lang="en-US" dirty="0" err="1"/>
              <a:t>học</a:t>
            </a:r>
            <a:r>
              <a:rPr lang="en-US" dirty="0"/>
              <a:t>, </a:t>
            </a:r>
            <a:r>
              <a:rPr lang="en-US" dirty="0" err="1"/>
              <a:t>độ</a:t>
            </a:r>
            <a:r>
              <a:rPr lang="en-US" dirty="0"/>
              <a:t> tin </a:t>
            </a:r>
            <a:r>
              <a:rPr lang="en-US" dirty="0" err="1"/>
              <a:t>cậy</a:t>
            </a:r>
            <a:r>
              <a:rPr lang="en-US" dirty="0"/>
              <a:t> </a:t>
            </a:r>
            <a:r>
              <a:rPr lang="en-US" dirty="0" err="1"/>
              <a:t>cao</a:t>
            </a:r>
            <a:r>
              <a:rPr lang="en-US" dirty="0"/>
              <a:t> (</a:t>
            </a:r>
            <a:r>
              <a:rPr lang="en-US" dirty="0" err="1"/>
              <a:t>sách</a:t>
            </a:r>
            <a:r>
              <a:rPr lang="en-US" dirty="0"/>
              <a:t>, </a:t>
            </a:r>
            <a:r>
              <a:rPr lang="en-US" dirty="0" err="1"/>
              <a:t>bài</a:t>
            </a:r>
            <a:r>
              <a:rPr lang="en-US" dirty="0"/>
              <a:t> </a:t>
            </a:r>
            <a:r>
              <a:rPr lang="en-US" dirty="0" err="1"/>
              <a:t>báo</a:t>
            </a:r>
            <a:r>
              <a:rPr lang="en-US" dirty="0"/>
              <a:t> khoa </a:t>
            </a:r>
            <a:r>
              <a:rPr lang="en-US" dirty="0" err="1"/>
              <a:t>học</a:t>
            </a:r>
            <a:r>
              <a:rPr lang="en-US" dirty="0"/>
              <a:t>, </a:t>
            </a:r>
            <a:r>
              <a:rPr lang="en-US" dirty="0" err="1"/>
              <a:t>luận</a:t>
            </a:r>
            <a:r>
              <a:rPr lang="en-US" dirty="0"/>
              <a:t> </a:t>
            </a:r>
            <a:r>
              <a:rPr lang="en-US" dirty="0" err="1"/>
              <a:t>văn</a:t>
            </a:r>
            <a:r>
              <a:rPr lang="en-US" dirty="0"/>
              <a:t>...).</a:t>
            </a:r>
          </a:p>
        </p:txBody>
      </p:sp>
      <p:sp>
        <p:nvSpPr>
          <p:cNvPr id="4" name="Footer Placeholder 3">
            <a:extLst>
              <a:ext uri="{FF2B5EF4-FFF2-40B4-BE49-F238E27FC236}">
                <a16:creationId xmlns:a16="http://schemas.microsoft.com/office/drawing/2014/main" id="{D39B4BA6-C147-C95F-B275-34CEF8C059F9}"/>
              </a:ext>
            </a:extLst>
          </p:cNvPr>
          <p:cNvSpPr>
            <a:spLocks noGrp="1"/>
          </p:cNvSpPr>
          <p:nvPr>
            <p:ph type="ftr" sz="quarter" idx="11"/>
          </p:nvPr>
        </p:nvSpPr>
        <p:spPr/>
        <p:txBody>
          <a:bodyPr/>
          <a:lstStyle/>
          <a:p>
            <a:r>
              <a:rPr lang="zh-CN" altLang="en-US" dirty="0"/>
              <a:t>科学研究方法</a:t>
            </a:r>
            <a:endParaRPr lang="en-US" dirty="0"/>
          </a:p>
        </p:txBody>
      </p:sp>
      <p:sp>
        <p:nvSpPr>
          <p:cNvPr id="5" name="Slide Number Placeholder 4">
            <a:extLst>
              <a:ext uri="{FF2B5EF4-FFF2-40B4-BE49-F238E27FC236}">
                <a16:creationId xmlns:a16="http://schemas.microsoft.com/office/drawing/2014/main" id="{FC775D02-6AA7-4E2A-FC12-71B22905F797}"/>
              </a:ext>
            </a:extLst>
          </p:cNvPr>
          <p:cNvSpPr>
            <a:spLocks noGrp="1"/>
          </p:cNvSpPr>
          <p:nvPr>
            <p:ph type="sldNum" sz="quarter" idx="12"/>
          </p:nvPr>
        </p:nvSpPr>
        <p:spPr/>
        <p:txBody>
          <a:bodyPr/>
          <a:lstStyle/>
          <a:p>
            <a:fld id="{A71D4CCC-BB3A-4D93-86F3-16B4E3CF782A}" type="slidenum">
              <a:rPr lang="en-US" smtClean="0"/>
              <a:t>29</a:t>
            </a:fld>
            <a:endParaRPr lang="en-US"/>
          </a:p>
        </p:txBody>
      </p:sp>
    </p:spTree>
    <p:extLst>
      <p:ext uri="{BB962C8B-B14F-4D97-AF65-F5344CB8AC3E}">
        <p14:creationId xmlns:p14="http://schemas.microsoft.com/office/powerpoint/2010/main" val="12048582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81EEC-143B-16C2-1377-517872B64C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516C96-111E-584F-9D0D-26468CB3B38C}"/>
              </a:ext>
            </a:extLst>
          </p:cNvPr>
          <p:cNvSpPr>
            <a:spLocks noGrp="1"/>
          </p:cNvSpPr>
          <p:nvPr>
            <p:ph type="title"/>
          </p:nvPr>
        </p:nvSpPr>
        <p:spPr/>
        <p:txBody>
          <a:bodyPr>
            <a:normAutofit/>
          </a:bodyPr>
          <a:lstStyle/>
          <a:p>
            <a:r>
              <a:rPr lang="en-US" b="1" dirty="0" err="1"/>
              <a:t>Hình</a:t>
            </a:r>
            <a:r>
              <a:rPr lang="en-US" b="1" dirty="0"/>
              <a:t> </a:t>
            </a:r>
            <a:r>
              <a:rPr lang="en-US" b="1" dirty="0" err="1"/>
              <a:t>thức</a:t>
            </a:r>
            <a:r>
              <a:rPr lang="en-US" b="1" dirty="0"/>
              <a:t> </a:t>
            </a:r>
            <a:r>
              <a:rPr lang="en-US" b="1" dirty="0" err="1"/>
              <a:t>trình</a:t>
            </a:r>
            <a:r>
              <a:rPr lang="en-US" b="1" dirty="0"/>
              <a:t> </a:t>
            </a:r>
            <a:r>
              <a:rPr lang="en-US" b="1" dirty="0" err="1"/>
              <a:t>bày</a:t>
            </a:r>
            <a:r>
              <a:rPr lang="en-US" b="1" dirty="0"/>
              <a:t> (Format)</a:t>
            </a:r>
          </a:p>
        </p:txBody>
      </p:sp>
      <p:sp>
        <p:nvSpPr>
          <p:cNvPr id="3" name="Content Placeholder 2">
            <a:extLst>
              <a:ext uri="{FF2B5EF4-FFF2-40B4-BE49-F238E27FC236}">
                <a16:creationId xmlns:a16="http://schemas.microsoft.com/office/drawing/2014/main" id="{91643F43-6C8E-571B-1B8B-F42B0DA805C1}"/>
              </a:ext>
            </a:extLst>
          </p:cNvPr>
          <p:cNvSpPr>
            <a:spLocks noGrp="1"/>
          </p:cNvSpPr>
          <p:nvPr>
            <p:ph idx="1"/>
          </p:nvPr>
        </p:nvSpPr>
        <p:spPr/>
        <p:txBody>
          <a:bodyPr>
            <a:normAutofit/>
          </a:bodyPr>
          <a:lstStyle/>
          <a:p>
            <a:r>
              <a:rPr lang="en-US" dirty="0"/>
              <a:t>Font </a:t>
            </a:r>
            <a:r>
              <a:rPr lang="en-US" dirty="0" err="1"/>
              <a:t>chữ</a:t>
            </a:r>
            <a:r>
              <a:rPr lang="en-US" dirty="0"/>
              <a:t>: Times New Roman, </a:t>
            </a:r>
            <a:r>
              <a:rPr lang="en-US" dirty="0" err="1"/>
              <a:t>cỡ</a:t>
            </a:r>
            <a:r>
              <a:rPr lang="en-US" dirty="0"/>
              <a:t> 13.</a:t>
            </a:r>
          </a:p>
          <a:p>
            <a:r>
              <a:rPr lang="en-US" dirty="0" err="1"/>
              <a:t>Dãn</a:t>
            </a:r>
            <a:r>
              <a:rPr lang="en-US" dirty="0"/>
              <a:t> </a:t>
            </a:r>
            <a:r>
              <a:rPr lang="en-US" dirty="0" err="1"/>
              <a:t>dòng</a:t>
            </a:r>
            <a:r>
              <a:rPr lang="en-US" dirty="0"/>
              <a:t>: 1.2 - 1.5.</a:t>
            </a:r>
          </a:p>
          <a:p>
            <a:r>
              <a:rPr lang="en-US" dirty="0"/>
              <a:t>Canh </a:t>
            </a:r>
            <a:r>
              <a:rPr lang="en-US" dirty="0" err="1"/>
              <a:t>lề</a:t>
            </a:r>
            <a:r>
              <a:rPr lang="en-US" dirty="0"/>
              <a:t>: Theo </a:t>
            </a:r>
            <a:r>
              <a:rPr lang="en-US" dirty="0" err="1"/>
              <a:t>quy</a:t>
            </a:r>
            <a:r>
              <a:rPr lang="en-US" dirty="0"/>
              <a:t> </a:t>
            </a:r>
            <a:r>
              <a:rPr lang="en-US" dirty="0" err="1"/>
              <a:t>định</a:t>
            </a:r>
            <a:r>
              <a:rPr lang="en-US" dirty="0"/>
              <a:t> </a:t>
            </a:r>
            <a:r>
              <a:rPr lang="en-US" dirty="0" err="1"/>
              <a:t>chuẩn</a:t>
            </a:r>
            <a:r>
              <a:rPr lang="en-US" dirty="0"/>
              <a:t> </a:t>
            </a:r>
            <a:r>
              <a:rPr lang="en-US" dirty="0" err="1"/>
              <a:t>văn</a:t>
            </a:r>
            <a:r>
              <a:rPr lang="en-US" dirty="0"/>
              <a:t> </a:t>
            </a:r>
            <a:r>
              <a:rPr lang="en-US" dirty="0" err="1"/>
              <a:t>bản</a:t>
            </a:r>
            <a:r>
              <a:rPr lang="en-US" dirty="0"/>
              <a:t> </a:t>
            </a:r>
            <a:r>
              <a:rPr lang="en-US" dirty="0" err="1"/>
              <a:t>hành</a:t>
            </a:r>
            <a:r>
              <a:rPr lang="en-US" dirty="0"/>
              <a:t> </a:t>
            </a:r>
            <a:r>
              <a:rPr lang="en-US" dirty="0" err="1"/>
              <a:t>chính</a:t>
            </a:r>
            <a:r>
              <a:rPr lang="en-US" dirty="0"/>
              <a:t>/</a:t>
            </a:r>
            <a:r>
              <a:rPr lang="en-US" dirty="0" err="1"/>
              <a:t>luận</a:t>
            </a:r>
            <a:r>
              <a:rPr lang="en-US" dirty="0"/>
              <a:t> </a:t>
            </a:r>
            <a:r>
              <a:rPr lang="en-US" dirty="0" err="1"/>
              <a:t>văn</a:t>
            </a:r>
            <a:r>
              <a:rPr lang="en-US" dirty="0"/>
              <a:t>.</a:t>
            </a:r>
          </a:p>
          <a:p>
            <a:r>
              <a:rPr lang="en-US" dirty="0" err="1"/>
              <a:t>Độ</a:t>
            </a:r>
            <a:r>
              <a:rPr lang="en-US" dirty="0"/>
              <a:t> </a:t>
            </a:r>
            <a:r>
              <a:rPr lang="en-US" dirty="0" err="1"/>
              <a:t>dài</a:t>
            </a:r>
            <a:r>
              <a:rPr lang="en-US" dirty="0"/>
              <a:t>: </a:t>
            </a:r>
            <a:r>
              <a:rPr lang="en-US" dirty="0" err="1"/>
              <a:t>Tối</a:t>
            </a:r>
            <a:r>
              <a:rPr lang="en-US" dirty="0"/>
              <a:t> </a:t>
            </a:r>
            <a:r>
              <a:rPr lang="en-US" dirty="0" err="1"/>
              <a:t>thiểu</a:t>
            </a:r>
            <a:r>
              <a:rPr lang="en-US" dirty="0"/>
              <a:t> 15 </a:t>
            </a:r>
            <a:r>
              <a:rPr lang="en-US" dirty="0" err="1"/>
              <a:t>trang</a:t>
            </a:r>
            <a:r>
              <a:rPr lang="en-US" dirty="0"/>
              <a:t> </a:t>
            </a:r>
          </a:p>
          <a:p>
            <a:r>
              <a:rPr lang="en-US" dirty="0" err="1"/>
              <a:t>Số</a:t>
            </a:r>
            <a:r>
              <a:rPr lang="en-US" dirty="0"/>
              <a:t> </a:t>
            </a:r>
            <a:r>
              <a:rPr lang="en-US" dirty="0" err="1"/>
              <a:t>lượng</a:t>
            </a:r>
            <a:r>
              <a:rPr lang="en-US" dirty="0"/>
              <a:t> </a:t>
            </a:r>
            <a:r>
              <a:rPr lang="en-US" dirty="0" err="1"/>
              <a:t>tài</a:t>
            </a:r>
            <a:r>
              <a:rPr lang="en-US" dirty="0"/>
              <a:t> </a:t>
            </a:r>
            <a:r>
              <a:rPr lang="en-US" dirty="0" err="1"/>
              <a:t>liệu</a:t>
            </a:r>
            <a:r>
              <a:rPr lang="en-US" dirty="0"/>
              <a:t> </a:t>
            </a:r>
            <a:r>
              <a:rPr lang="en-US" dirty="0" err="1"/>
              <a:t>tham</a:t>
            </a:r>
            <a:r>
              <a:rPr lang="en-US" dirty="0"/>
              <a:t> </a:t>
            </a:r>
            <a:r>
              <a:rPr lang="en-US" dirty="0" err="1"/>
              <a:t>khảo</a:t>
            </a:r>
            <a:r>
              <a:rPr lang="en-US" dirty="0"/>
              <a:t>: </a:t>
            </a:r>
            <a:r>
              <a:rPr lang="en-US" dirty="0" err="1"/>
              <a:t>tối</a:t>
            </a:r>
            <a:r>
              <a:rPr lang="en-US" dirty="0"/>
              <a:t> </a:t>
            </a:r>
            <a:r>
              <a:rPr lang="en-US" dirty="0" err="1"/>
              <a:t>thiểu</a:t>
            </a:r>
            <a:r>
              <a:rPr lang="en-US" dirty="0"/>
              <a:t> 30 </a:t>
            </a:r>
            <a:r>
              <a:rPr lang="en-US" dirty="0" err="1"/>
              <a:t>tài</a:t>
            </a:r>
            <a:r>
              <a:rPr lang="en-US" dirty="0"/>
              <a:t> </a:t>
            </a:r>
            <a:r>
              <a:rPr lang="en-US" dirty="0" err="1"/>
              <a:t>liệu</a:t>
            </a:r>
            <a:endParaRPr lang="en-US" dirty="0"/>
          </a:p>
          <a:p>
            <a:r>
              <a:rPr lang="en-US" dirty="0"/>
              <a:t>TLTK </a:t>
            </a:r>
            <a:r>
              <a:rPr lang="en-US" dirty="0" err="1"/>
              <a:t>phải</a:t>
            </a:r>
            <a:r>
              <a:rPr lang="en-US" dirty="0"/>
              <a:t> </a:t>
            </a:r>
            <a:r>
              <a:rPr lang="en-US" dirty="0" err="1"/>
              <a:t>mới</a:t>
            </a:r>
            <a:r>
              <a:rPr lang="en-US" dirty="0"/>
              <a:t>, </a:t>
            </a:r>
            <a:r>
              <a:rPr lang="en-US" dirty="0" err="1"/>
              <a:t>số</a:t>
            </a:r>
            <a:r>
              <a:rPr lang="en-US" dirty="0"/>
              <a:t> </a:t>
            </a:r>
            <a:r>
              <a:rPr lang="en-US" dirty="0" err="1"/>
              <a:t>lượng</a:t>
            </a:r>
            <a:r>
              <a:rPr lang="en-US" dirty="0"/>
              <a:t> TLTK </a:t>
            </a:r>
            <a:r>
              <a:rPr lang="en-US" dirty="0" err="1"/>
              <a:t>mới</a:t>
            </a:r>
            <a:r>
              <a:rPr lang="en-US" dirty="0"/>
              <a:t> </a:t>
            </a:r>
            <a:r>
              <a:rPr lang="en-US" dirty="0" err="1"/>
              <a:t>trong</a:t>
            </a:r>
            <a:r>
              <a:rPr lang="en-US" dirty="0"/>
              <a:t> 3 </a:t>
            </a:r>
            <a:r>
              <a:rPr lang="en-US" dirty="0" err="1"/>
              <a:t>năm</a:t>
            </a:r>
            <a:r>
              <a:rPr lang="en-US" dirty="0"/>
              <a:t> </a:t>
            </a:r>
            <a:r>
              <a:rPr lang="en-US" dirty="0" err="1"/>
              <a:t>chiếm</a:t>
            </a:r>
            <a:r>
              <a:rPr lang="en-US" dirty="0"/>
              <a:t> </a:t>
            </a:r>
            <a:r>
              <a:rPr lang="en-US" dirty="0" err="1"/>
              <a:t>ít</a:t>
            </a:r>
            <a:r>
              <a:rPr lang="en-US" dirty="0"/>
              <a:t> </a:t>
            </a:r>
            <a:r>
              <a:rPr lang="en-US" dirty="0" err="1"/>
              <a:t>nhất</a:t>
            </a:r>
            <a:r>
              <a:rPr lang="en-US" dirty="0"/>
              <a:t> 50%</a:t>
            </a:r>
          </a:p>
        </p:txBody>
      </p:sp>
      <p:sp>
        <p:nvSpPr>
          <p:cNvPr id="4" name="Footer Placeholder 3">
            <a:extLst>
              <a:ext uri="{FF2B5EF4-FFF2-40B4-BE49-F238E27FC236}">
                <a16:creationId xmlns:a16="http://schemas.microsoft.com/office/drawing/2014/main" id="{5168B1F2-0C2C-C26E-8D14-8161761E996E}"/>
              </a:ext>
            </a:extLst>
          </p:cNvPr>
          <p:cNvSpPr>
            <a:spLocks noGrp="1"/>
          </p:cNvSpPr>
          <p:nvPr>
            <p:ph type="ftr" sz="quarter" idx="11"/>
          </p:nvPr>
        </p:nvSpPr>
        <p:spPr/>
        <p:txBody>
          <a:bodyPr/>
          <a:lstStyle/>
          <a:p>
            <a:r>
              <a:rPr lang="zh-CN" altLang="en-US" dirty="0"/>
              <a:t>科学研究方法</a:t>
            </a:r>
            <a:endParaRPr lang="en-US" dirty="0"/>
          </a:p>
        </p:txBody>
      </p:sp>
      <p:sp>
        <p:nvSpPr>
          <p:cNvPr id="5" name="Slide Number Placeholder 4">
            <a:extLst>
              <a:ext uri="{FF2B5EF4-FFF2-40B4-BE49-F238E27FC236}">
                <a16:creationId xmlns:a16="http://schemas.microsoft.com/office/drawing/2014/main" id="{0D111229-4D35-F78B-302D-AE58386A8E06}"/>
              </a:ext>
            </a:extLst>
          </p:cNvPr>
          <p:cNvSpPr>
            <a:spLocks noGrp="1"/>
          </p:cNvSpPr>
          <p:nvPr>
            <p:ph type="sldNum" sz="quarter" idx="12"/>
          </p:nvPr>
        </p:nvSpPr>
        <p:spPr/>
        <p:txBody>
          <a:bodyPr/>
          <a:lstStyle/>
          <a:p>
            <a:fld id="{A71D4CCC-BB3A-4D93-86F3-16B4E3CF782A}" type="slidenum">
              <a:rPr lang="en-US" smtClean="0"/>
              <a:t>30</a:t>
            </a:fld>
            <a:endParaRPr lang="en-US"/>
          </a:p>
        </p:txBody>
      </p:sp>
    </p:spTree>
    <p:extLst>
      <p:ext uri="{BB962C8B-B14F-4D97-AF65-F5344CB8AC3E}">
        <p14:creationId xmlns:p14="http://schemas.microsoft.com/office/powerpoint/2010/main" val="12257589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EADA5-2D68-E2D5-A25E-D5E4608036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49EE79-AE7F-1666-74BD-C41DCFCE8D71}"/>
              </a:ext>
            </a:extLst>
          </p:cNvPr>
          <p:cNvSpPr>
            <a:spLocks noGrp="1"/>
          </p:cNvSpPr>
          <p:nvPr>
            <p:ph type="title"/>
          </p:nvPr>
        </p:nvSpPr>
        <p:spPr/>
        <p:txBody>
          <a:bodyPr>
            <a:normAutofit/>
          </a:bodyPr>
          <a:lstStyle/>
          <a:p>
            <a:r>
              <a:rPr lang="en-US" b="1" dirty="0" err="1"/>
              <a:t>Ví</a:t>
            </a:r>
            <a:r>
              <a:rPr lang="en-US" b="1" dirty="0"/>
              <a:t> </a:t>
            </a:r>
            <a:r>
              <a:rPr lang="en-US" b="1" dirty="0" err="1"/>
              <a:t>dụ</a:t>
            </a:r>
            <a:r>
              <a:rPr lang="en-US" b="1" dirty="0"/>
              <a:t> </a:t>
            </a:r>
            <a:r>
              <a:rPr lang="en-US" b="1" dirty="0" err="1"/>
              <a:t>đề</a:t>
            </a:r>
            <a:r>
              <a:rPr lang="en-US" b="1" dirty="0"/>
              <a:t> </a:t>
            </a:r>
            <a:r>
              <a:rPr lang="en-US" b="1" dirty="0" err="1"/>
              <a:t>tài</a:t>
            </a:r>
            <a:r>
              <a:rPr lang="en-US" b="1" dirty="0"/>
              <a:t> </a:t>
            </a:r>
            <a:r>
              <a:rPr lang="en-US" b="1" dirty="0" err="1"/>
              <a:t>tham</a:t>
            </a:r>
            <a:r>
              <a:rPr lang="en-US" b="1" dirty="0"/>
              <a:t> </a:t>
            </a:r>
            <a:r>
              <a:rPr lang="en-US" b="1" dirty="0" err="1"/>
              <a:t>khảo</a:t>
            </a:r>
            <a:r>
              <a:rPr lang="en-US" b="1" dirty="0"/>
              <a:t> (</a:t>
            </a:r>
            <a:r>
              <a:rPr lang="en-US" b="1" dirty="0" err="1"/>
              <a:t>Gợi</a:t>
            </a:r>
            <a:r>
              <a:rPr lang="en-US" b="1" dirty="0"/>
              <a:t> ý)</a:t>
            </a:r>
          </a:p>
        </p:txBody>
      </p:sp>
      <p:sp>
        <p:nvSpPr>
          <p:cNvPr id="3" name="Content Placeholder 2">
            <a:extLst>
              <a:ext uri="{FF2B5EF4-FFF2-40B4-BE49-F238E27FC236}">
                <a16:creationId xmlns:a16="http://schemas.microsoft.com/office/drawing/2014/main" id="{AE2A27F8-D61B-0D3B-375F-42E566D34163}"/>
              </a:ext>
            </a:extLst>
          </p:cNvPr>
          <p:cNvSpPr>
            <a:spLocks noGrp="1"/>
          </p:cNvSpPr>
          <p:nvPr>
            <p:ph idx="1"/>
          </p:nvPr>
        </p:nvSpPr>
        <p:spPr/>
        <p:txBody>
          <a:bodyPr>
            <a:normAutofit lnSpcReduction="10000"/>
          </a:bodyPr>
          <a:lstStyle/>
          <a:p>
            <a:r>
              <a:rPr lang="vi-VN" b="1" dirty="0"/>
              <a:t>Hướng Ngôn ngữ:</a:t>
            </a:r>
            <a:endParaRPr lang="vi-VN" dirty="0"/>
          </a:p>
          <a:p>
            <a:pPr lvl="1"/>
            <a:r>
              <a:rPr lang="vi-VN" i="1" dirty="0"/>
              <a:t>“Khảo sát lỗi dùng từ Hán Việt của sinh viên năm 2 ĐH Mở TP.HCM”</a:t>
            </a:r>
            <a:endParaRPr lang="vi-VN" dirty="0"/>
          </a:p>
          <a:p>
            <a:pPr lvl="1"/>
            <a:r>
              <a:rPr lang="vi-VN" i="1" dirty="0"/>
              <a:t>“So sánh khẩu ngữ ‘Ba’ (</a:t>
            </a:r>
            <a:r>
              <a:rPr lang="zh-CN" altLang="en-US" i="1" dirty="0"/>
              <a:t>吧</a:t>
            </a:r>
            <a:r>
              <a:rPr lang="en-US" altLang="zh-CN" i="1" dirty="0"/>
              <a:t>) </a:t>
            </a:r>
            <a:r>
              <a:rPr lang="vi-VN" i="1" dirty="0"/>
              <a:t>trong tiếng Trung và các từ tương đương trong tiếng Việt”</a:t>
            </a:r>
            <a:endParaRPr lang="vi-VN" dirty="0"/>
          </a:p>
          <a:p>
            <a:r>
              <a:rPr lang="vi-VN" b="1" dirty="0"/>
              <a:t>Hướng Văn hóa:</a:t>
            </a:r>
            <a:endParaRPr lang="vi-VN" dirty="0"/>
          </a:p>
          <a:p>
            <a:pPr lvl="1"/>
            <a:r>
              <a:rPr lang="vi-VN" i="1" dirty="0"/>
              <a:t>“Ảnh hưởng của văn hóa trà đạo Trung Quốc đối với giới trẻ TP.HCM”</a:t>
            </a:r>
            <a:endParaRPr lang="vi-VN" dirty="0"/>
          </a:p>
          <a:p>
            <a:pPr lvl="1"/>
            <a:r>
              <a:rPr lang="vi-VN" i="1" dirty="0"/>
              <a:t>“Hình tượng con Rồng trong văn hóa Trung Quốc và Việt Nam”</a:t>
            </a:r>
            <a:endParaRPr lang="vi-VN" dirty="0"/>
          </a:p>
          <a:p>
            <a:r>
              <a:rPr lang="vi-VN" b="1" dirty="0"/>
              <a:t>Hướng Giáo dục:</a:t>
            </a:r>
            <a:endParaRPr lang="vi-VN" dirty="0"/>
          </a:p>
          <a:p>
            <a:pPr lvl="1"/>
            <a:r>
              <a:rPr lang="vi-VN" i="1" dirty="0"/>
              <a:t>“Ứng dụng TikTok trong việc nâng cao kỹ năng Nghe tiếng Trung cho sinh viên”</a:t>
            </a:r>
            <a:endParaRPr lang="vi-VN" dirty="0"/>
          </a:p>
          <a:p>
            <a:pPr lvl="1"/>
            <a:r>
              <a:rPr lang="vi-VN" i="1" dirty="0"/>
              <a:t>“Khó khăn trong việc học viết chữ Hán của người đi làm tại trung tâm X”</a:t>
            </a:r>
            <a:endParaRPr lang="vi-VN" dirty="0"/>
          </a:p>
        </p:txBody>
      </p:sp>
      <p:sp>
        <p:nvSpPr>
          <p:cNvPr id="4" name="Footer Placeholder 3">
            <a:extLst>
              <a:ext uri="{FF2B5EF4-FFF2-40B4-BE49-F238E27FC236}">
                <a16:creationId xmlns:a16="http://schemas.microsoft.com/office/drawing/2014/main" id="{A227383D-1CC1-02E0-6913-A9200FBEB81F}"/>
              </a:ext>
            </a:extLst>
          </p:cNvPr>
          <p:cNvSpPr>
            <a:spLocks noGrp="1"/>
          </p:cNvSpPr>
          <p:nvPr>
            <p:ph type="ftr" sz="quarter" idx="11"/>
          </p:nvPr>
        </p:nvSpPr>
        <p:spPr/>
        <p:txBody>
          <a:bodyPr/>
          <a:lstStyle/>
          <a:p>
            <a:r>
              <a:rPr lang="zh-CN" altLang="en-US" dirty="0"/>
              <a:t>科学研究方法</a:t>
            </a:r>
            <a:endParaRPr lang="en-US" dirty="0"/>
          </a:p>
        </p:txBody>
      </p:sp>
      <p:sp>
        <p:nvSpPr>
          <p:cNvPr id="5" name="Slide Number Placeholder 4">
            <a:extLst>
              <a:ext uri="{FF2B5EF4-FFF2-40B4-BE49-F238E27FC236}">
                <a16:creationId xmlns:a16="http://schemas.microsoft.com/office/drawing/2014/main" id="{1F7C0084-3CB9-E8C6-E022-3A4706782934}"/>
              </a:ext>
            </a:extLst>
          </p:cNvPr>
          <p:cNvSpPr>
            <a:spLocks noGrp="1"/>
          </p:cNvSpPr>
          <p:nvPr>
            <p:ph type="sldNum" sz="quarter" idx="12"/>
          </p:nvPr>
        </p:nvSpPr>
        <p:spPr/>
        <p:txBody>
          <a:bodyPr/>
          <a:lstStyle/>
          <a:p>
            <a:fld id="{A71D4CCC-BB3A-4D93-86F3-16B4E3CF782A}" type="slidenum">
              <a:rPr lang="en-US" smtClean="0"/>
              <a:t>31</a:t>
            </a:fld>
            <a:endParaRPr lang="en-US"/>
          </a:p>
        </p:txBody>
      </p:sp>
    </p:spTree>
    <p:extLst>
      <p:ext uri="{BB962C8B-B14F-4D97-AF65-F5344CB8AC3E}">
        <p14:creationId xmlns:p14="http://schemas.microsoft.com/office/powerpoint/2010/main" val="17670503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75A7B-BB0E-D236-3A3C-D236C7B100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D6D710-AAEB-16C5-3A2A-12A9FF49CCB6}"/>
              </a:ext>
            </a:extLst>
          </p:cNvPr>
          <p:cNvSpPr>
            <a:spLocks noGrp="1"/>
          </p:cNvSpPr>
          <p:nvPr>
            <p:ph type="title"/>
          </p:nvPr>
        </p:nvSpPr>
        <p:spPr/>
        <p:txBody>
          <a:bodyPr/>
          <a:lstStyle/>
          <a:p>
            <a:r>
              <a:rPr lang="en-US" b="1" dirty="0" err="1"/>
              <a:t>Lĩnh</a:t>
            </a:r>
            <a:r>
              <a:rPr lang="en-US" b="1" dirty="0"/>
              <a:t> </a:t>
            </a:r>
            <a:r>
              <a:rPr lang="en-US" b="1" dirty="0" err="1"/>
              <a:t>vực</a:t>
            </a:r>
            <a:r>
              <a:rPr lang="en-US" b="1" dirty="0"/>
              <a:t> </a:t>
            </a:r>
            <a:r>
              <a:rPr lang="en-US" b="1" dirty="0" err="1"/>
              <a:t>Ngôn</a:t>
            </a:r>
            <a:r>
              <a:rPr lang="en-US" b="1" dirty="0"/>
              <a:t> </a:t>
            </a:r>
            <a:r>
              <a:rPr lang="en-US" b="1" dirty="0" err="1"/>
              <a:t>ngữ</a:t>
            </a:r>
            <a:r>
              <a:rPr lang="en-US" b="1" dirty="0"/>
              <a:t> </a:t>
            </a:r>
            <a:r>
              <a:rPr lang="en-US" b="1" dirty="0" err="1"/>
              <a:t>học</a:t>
            </a:r>
            <a:r>
              <a:rPr lang="en-US" b="1" dirty="0"/>
              <a:t> (Linguistics):</a:t>
            </a:r>
          </a:p>
        </p:txBody>
      </p:sp>
      <p:sp>
        <p:nvSpPr>
          <p:cNvPr id="3" name="Content Placeholder 2">
            <a:extLst>
              <a:ext uri="{FF2B5EF4-FFF2-40B4-BE49-F238E27FC236}">
                <a16:creationId xmlns:a16="http://schemas.microsoft.com/office/drawing/2014/main" id="{59B8E85A-550D-4B7C-F95A-9434D724DB17}"/>
              </a:ext>
            </a:extLst>
          </p:cNvPr>
          <p:cNvSpPr>
            <a:spLocks noGrp="1"/>
          </p:cNvSpPr>
          <p:nvPr>
            <p:ph idx="1"/>
          </p:nvPr>
        </p:nvSpPr>
        <p:spPr/>
        <p:txBody>
          <a:bodyPr>
            <a:normAutofit/>
          </a:bodyPr>
          <a:lstStyle/>
          <a:p>
            <a:r>
              <a:rPr lang="en-US" dirty="0" err="1"/>
              <a:t>Phân</a:t>
            </a:r>
            <a:r>
              <a:rPr lang="en-US" dirty="0"/>
              <a:t> </a:t>
            </a:r>
            <a:r>
              <a:rPr lang="en-US" dirty="0" err="1"/>
              <a:t>tích</a:t>
            </a:r>
            <a:r>
              <a:rPr lang="en-US" dirty="0"/>
              <a:t> </a:t>
            </a:r>
            <a:r>
              <a:rPr lang="en-US" dirty="0" err="1"/>
              <a:t>lỗi</a:t>
            </a:r>
            <a:r>
              <a:rPr lang="en-US" dirty="0"/>
              <a:t> </a:t>
            </a:r>
            <a:r>
              <a:rPr lang="en-US" dirty="0" err="1"/>
              <a:t>sai</a:t>
            </a:r>
            <a:r>
              <a:rPr lang="en-US" dirty="0"/>
              <a:t> </a:t>
            </a:r>
            <a:r>
              <a:rPr lang="en-US" dirty="0" err="1"/>
              <a:t>khi</a:t>
            </a:r>
            <a:r>
              <a:rPr lang="en-US" dirty="0"/>
              <a:t> </a:t>
            </a:r>
            <a:r>
              <a:rPr lang="en-US" dirty="0" err="1"/>
              <a:t>sử</a:t>
            </a:r>
            <a:r>
              <a:rPr lang="en-US" dirty="0"/>
              <a:t> </a:t>
            </a:r>
            <a:r>
              <a:rPr lang="en-US" dirty="0" err="1"/>
              <a:t>dụng</a:t>
            </a:r>
            <a:r>
              <a:rPr lang="en-US" dirty="0"/>
              <a:t> </a:t>
            </a:r>
            <a:r>
              <a:rPr lang="en-US" dirty="0" err="1"/>
              <a:t>câu</a:t>
            </a:r>
            <a:r>
              <a:rPr lang="en-US" dirty="0"/>
              <a:t> </a:t>
            </a:r>
            <a:r>
              <a:rPr lang="en-US" dirty="0" err="1"/>
              <a:t>chữ</a:t>
            </a:r>
            <a:r>
              <a:rPr lang="en-US" dirty="0"/>
              <a:t> "</a:t>
            </a:r>
            <a:r>
              <a:rPr lang="en-US" dirty="0" err="1"/>
              <a:t>Bả</a:t>
            </a:r>
            <a:r>
              <a:rPr lang="en-US" dirty="0"/>
              <a:t>" (</a:t>
            </a:r>
            <a:r>
              <a:rPr lang="zh-CN" altLang="en-US" dirty="0"/>
              <a:t>把</a:t>
            </a:r>
            <a:r>
              <a:rPr lang="en-US" altLang="zh-CN" dirty="0"/>
              <a:t>) </a:t>
            </a:r>
            <a:r>
              <a:rPr lang="en-US" dirty="0" err="1"/>
              <a:t>của</a:t>
            </a:r>
            <a:r>
              <a:rPr lang="en-US" dirty="0"/>
              <a:t> </a:t>
            </a:r>
            <a:r>
              <a:rPr lang="en-US" dirty="0" err="1"/>
              <a:t>sinh</a:t>
            </a:r>
            <a:r>
              <a:rPr lang="en-US" dirty="0"/>
              <a:t> </a:t>
            </a:r>
            <a:r>
              <a:rPr lang="en-US" dirty="0" err="1"/>
              <a:t>viên</a:t>
            </a:r>
            <a:r>
              <a:rPr lang="en-US" dirty="0"/>
              <a:t> </a:t>
            </a:r>
            <a:r>
              <a:rPr lang="en-US" dirty="0" err="1"/>
              <a:t>năm</a:t>
            </a:r>
            <a:r>
              <a:rPr lang="en-US" dirty="0"/>
              <a:t> </a:t>
            </a:r>
            <a:r>
              <a:rPr lang="en-US" dirty="0" err="1"/>
              <a:t>nhất</a:t>
            </a:r>
            <a:r>
              <a:rPr lang="en-US" dirty="0"/>
              <a:t>/</a:t>
            </a:r>
            <a:r>
              <a:rPr lang="en-US" dirty="0" err="1"/>
              <a:t>năm</a:t>
            </a:r>
            <a:r>
              <a:rPr lang="en-US" dirty="0"/>
              <a:t> </a:t>
            </a:r>
            <a:r>
              <a:rPr lang="en-US" dirty="0" err="1"/>
              <a:t>hai</a:t>
            </a:r>
            <a:r>
              <a:rPr lang="en-US" dirty="0"/>
              <a:t>.</a:t>
            </a:r>
          </a:p>
          <a:p>
            <a:r>
              <a:rPr lang="en-US" dirty="0" err="1"/>
              <a:t>Nghiên</a:t>
            </a:r>
            <a:r>
              <a:rPr lang="en-US" dirty="0"/>
              <a:t> </a:t>
            </a:r>
            <a:r>
              <a:rPr lang="en-US" dirty="0" err="1"/>
              <a:t>cứu</a:t>
            </a:r>
            <a:r>
              <a:rPr lang="en-US" dirty="0"/>
              <a:t> </a:t>
            </a:r>
            <a:r>
              <a:rPr lang="en-US" dirty="0" err="1"/>
              <a:t>đối</a:t>
            </a:r>
            <a:r>
              <a:rPr lang="en-US" dirty="0"/>
              <a:t> </a:t>
            </a:r>
            <a:r>
              <a:rPr lang="en-US" dirty="0" err="1"/>
              <a:t>chiếu</a:t>
            </a:r>
            <a:r>
              <a:rPr lang="en-US" dirty="0"/>
              <a:t> </a:t>
            </a:r>
            <a:r>
              <a:rPr lang="en-US" dirty="0" err="1"/>
              <a:t>thành</a:t>
            </a:r>
            <a:r>
              <a:rPr lang="en-US" dirty="0"/>
              <a:t> </a:t>
            </a:r>
            <a:r>
              <a:rPr lang="en-US" dirty="0" err="1"/>
              <a:t>ngữ</a:t>
            </a:r>
            <a:r>
              <a:rPr lang="en-US" dirty="0"/>
              <a:t> </a:t>
            </a:r>
            <a:r>
              <a:rPr lang="en-US" dirty="0" err="1"/>
              <a:t>có</a:t>
            </a:r>
            <a:r>
              <a:rPr lang="en-US" dirty="0"/>
              <a:t> </a:t>
            </a:r>
            <a:r>
              <a:rPr lang="en-US" dirty="0" err="1"/>
              <a:t>tên</a:t>
            </a:r>
            <a:r>
              <a:rPr lang="en-US" dirty="0"/>
              <a:t> </a:t>
            </a:r>
            <a:r>
              <a:rPr lang="en-US" dirty="0" err="1"/>
              <a:t>các</a:t>
            </a:r>
            <a:r>
              <a:rPr lang="en-US" dirty="0"/>
              <a:t> con </a:t>
            </a:r>
            <a:r>
              <a:rPr lang="en-US" dirty="0" err="1"/>
              <a:t>vật</a:t>
            </a:r>
            <a:r>
              <a:rPr lang="en-US" dirty="0"/>
              <a:t> </a:t>
            </a:r>
            <a:r>
              <a:rPr lang="en-US" dirty="0" err="1"/>
              <a:t>trong</a:t>
            </a:r>
            <a:r>
              <a:rPr lang="en-US" dirty="0"/>
              <a:t> </a:t>
            </a:r>
            <a:r>
              <a:rPr lang="en-US" dirty="0" err="1"/>
              <a:t>tiếng</a:t>
            </a:r>
            <a:r>
              <a:rPr lang="en-US" dirty="0"/>
              <a:t> Trung </a:t>
            </a:r>
            <a:r>
              <a:rPr lang="en-US" dirty="0" err="1"/>
              <a:t>và</a:t>
            </a:r>
            <a:r>
              <a:rPr lang="en-US" dirty="0"/>
              <a:t> </a:t>
            </a:r>
            <a:r>
              <a:rPr lang="en-US" dirty="0" err="1"/>
              <a:t>tiếng</a:t>
            </a:r>
            <a:r>
              <a:rPr lang="en-US" dirty="0"/>
              <a:t> Việt.</a:t>
            </a:r>
          </a:p>
          <a:p>
            <a:r>
              <a:rPr lang="en-US" dirty="0" err="1"/>
              <a:t>Khảo</a:t>
            </a:r>
            <a:r>
              <a:rPr lang="en-US" dirty="0"/>
              <a:t> </a:t>
            </a:r>
            <a:r>
              <a:rPr lang="en-US" dirty="0" err="1"/>
              <a:t>sát</a:t>
            </a:r>
            <a:r>
              <a:rPr lang="en-US" dirty="0"/>
              <a:t> </a:t>
            </a:r>
            <a:r>
              <a:rPr lang="en-US" dirty="0" err="1"/>
              <a:t>việc</a:t>
            </a:r>
            <a:r>
              <a:rPr lang="en-US" dirty="0"/>
              <a:t> </a:t>
            </a:r>
            <a:r>
              <a:rPr lang="en-US" dirty="0" err="1"/>
              <a:t>sử</a:t>
            </a:r>
            <a:r>
              <a:rPr lang="en-US" dirty="0"/>
              <a:t> </a:t>
            </a:r>
            <a:r>
              <a:rPr lang="en-US" dirty="0" err="1"/>
              <a:t>dụng</a:t>
            </a:r>
            <a:r>
              <a:rPr lang="en-US" dirty="0"/>
              <a:t> </a:t>
            </a:r>
            <a:r>
              <a:rPr lang="en-US" dirty="0" err="1"/>
              <a:t>từ</a:t>
            </a:r>
            <a:r>
              <a:rPr lang="en-US" dirty="0"/>
              <a:t> </a:t>
            </a:r>
            <a:r>
              <a:rPr lang="en-US" dirty="0" err="1"/>
              <a:t>ngữ</a:t>
            </a:r>
            <a:r>
              <a:rPr lang="en-US" dirty="0"/>
              <a:t> </a:t>
            </a:r>
            <a:r>
              <a:rPr lang="en-US" dirty="0" err="1"/>
              <a:t>mạng</a:t>
            </a:r>
            <a:r>
              <a:rPr lang="en-US" dirty="0"/>
              <a:t> (Slang) </a:t>
            </a:r>
            <a:r>
              <a:rPr lang="en-US" dirty="0" err="1"/>
              <a:t>của</a:t>
            </a:r>
            <a:r>
              <a:rPr lang="en-US" dirty="0"/>
              <a:t> </a:t>
            </a:r>
            <a:r>
              <a:rPr lang="en-US" dirty="0" err="1"/>
              <a:t>giới</a:t>
            </a:r>
            <a:r>
              <a:rPr lang="en-US" dirty="0"/>
              <a:t> </a:t>
            </a:r>
            <a:r>
              <a:rPr lang="en-US" dirty="0" err="1"/>
              <a:t>trẻ</a:t>
            </a:r>
            <a:r>
              <a:rPr lang="en-US" dirty="0"/>
              <a:t> Trung Quốc </a:t>
            </a:r>
            <a:r>
              <a:rPr lang="en-US" dirty="0" err="1"/>
              <a:t>hiện</a:t>
            </a:r>
            <a:r>
              <a:rPr lang="en-US" dirty="0"/>
              <a:t> nay.</a:t>
            </a:r>
          </a:p>
          <a:p>
            <a:r>
              <a:rPr lang="en-US" dirty="0" err="1"/>
              <a:t>Phân</a:t>
            </a:r>
            <a:r>
              <a:rPr lang="en-US" dirty="0"/>
              <a:t> </a:t>
            </a:r>
            <a:r>
              <a:rPr lang="en-US" dirty="0" err="1"/>
              <a:t>tích</a:t>
            </a:r>
            <a:r>
              <a:rPr lang="en-US" dirty="0"/>
              <a:t> </a:t>
            </a:r>
            <a:r>
              <a:rPr lang="en-US" dirty="0" err="1"/>
              <a:t>cấu</a:t>
            </a:r>
            <a:r>
              <a:rPr lang="en-US" dirty="0"/>
              <a:t> </a:t>
            </a:r>
            <a:r>
              <a:rPr lang="en-US" dirty="0" err="1"/>
              <a:t>tạo</a:t>
            </a:r>
            <a:r>
              <a:rPr lang="en-US" dirty="0"/>
              <a:t> </a:t>
            </a:r>
            <a:r>
              <a:rPr lang="en-US" dirty="0" err="1"/>
              <a:t>và</a:t>
            </a:r>
            <a:r>
              <a:rPr lang="en-US" dirty="0"/>
              <a:t> ý </a:t>
            </a:r>
            <a:r>
              <a:rPr lang="en-US" dirty="0" err="1"/>
              <a:t>nghĩa</a:t>
            </a:r>
            <a:r>
              <a:rPr lang="en-US" dirty="0"/>
              <a:t> </a:t>
            </a:r>
            <a:r>
              <a:rPr lang="en-US" dirty="0" err="1"/>
              <a:t>của</a:t>
            </a:r>
            <a:r>
              <a:rPr lang="en-US" dirty="0"/>
              <a:t> </a:t>
            </a:r>
            <a:r>
              <a:rPr lang="en-US" dirty="0" err="1"/>
              <a:t>các</a:t>
            </a:r>
            <a:r>
              <a:rPr lang="en-US" dirty="0"/>
              <a:t> </a:t>
            </a:r>
            <a:r>
              <a:rPr lang="en-US" dirty="0" err="1"/>
              <a:t>từ</a:t>
            </a:r>
            <a:r>
              <a:rPr lang="en-US" dirty="0"/>
              <a:t> </a:t>
            </a:r>
            <a:r>
              <a:rPr lang="en-US" dirty="0" err="1"/>
              <a:t>hán</a:t>
            </a:r>
            <a:r>
              <a:rPr lang="en-US" dirty="0"/>
              <a:t> </a:t>
            </a:r>
            <a:r>
              <a:rPr lang="en-US" dirty="0" err="1"/>
              <a:t>việt</a:t>
            </a:r>
            <a:r>
              <a:rPr lang="en-US" dirty="0"/>
              <a:t> </a:t>
            </a:r>
            <a:r>
              <a:rPr lang="en-US" dirty="0" err="1"/>
              <a:t>đồng</a:t>
            </a:r>
            <a:r>
              <a:rPr lang="en-US" dirty="0"/>
              <a:t> </a:t>
            </a:r>
            <a:r>
              <a:rPr lang="en-US" dirty="0" err="1"/>
              <a:t>hình</a:t>
            </a:r>
            <a:r>
              <a:rPr lang="en-US" dirty="0"/>
              <a:t> </a:t>
            </a:r>
            <a:r>
              <a:rPr lang="en-US" dirty="0" err="1"/>
              <a:t>dị</a:t>
            </a:r>
            <a:r>
              <a:rPr lang="en-US" dirty="0"/>
              <a:t> </a:t>
            </a:r>
            <a:r>
              <a:rPr lang="en-US" dirty="0" err="1"/>
              <a:t>nghĩa</a:t>
            </a:r>
            <a:r>
              <a:rPr lang="en-US" dirty="0"/>
              <a:t>.</a:t>
            </a:r>
          </a:p>
        </p:txBody>
      </p:sp>
      <p:sp>
        <p:nvSpPr>
          <p:cNvPr id="4" name="Footer Placeholder 3">
            <a:extLst>
              <a:ext uri="{FF2B5EF4-FFF2-40B4-BE49-F238E27FC236}">
                <a16:creationId xmlns:a16="http://schemas.microsoft.com/office/drawing/2014/main" id="{F6D41D87-9508-B5C2-E1EC-F767BFCA4750}"/>
              </a:ext>
            </a:extLst>
          </p:cNvPr>
          <p:cNvSpPr>
            <a:spLocks noGrp="1"/>
          </p:cNvSpPr>
          <p:nvPr>
            <p:ph type="ftr" sz="quarter" idx="11"/>
          </p:nvPr>
        </p:nvSpPr>
        <p:spPr/>
        <p:txBody>
          <a:bodyPr/>
          <a:lstStyle/>
          <a:p>
            <a:r>
              <a:rPr lang="zh-CN" altLang="en-US" dirty="0"/>
              <a:t>科学研究方法</a:t>
            </a:r>
            <a:endParaRPr lang="en-US" dirty="0"/>
          </a:p>
        </p:txBody>
      </p:sp>
      <p:sp>
        <p:nvSpPr>
          <p:cNvPr id="5" name="Slide Number Placeholder 4">
            <a:extLst>
              <a:ext uri="{FF2B5EF4-FFF2-40B4-BE49-F238E27FC236}">
                <a16:creationId xmlns:a16="http://schemas.microsoft.com/office/drawing/2014/main" id="{4AE53AAE-1D85-7192-D62B-F1F1464BFF31}"/>
              </a:ext>
            </a:extLst>
          </p:cNvPr>
          <p:cNvSpPr>
            <a:spLocks noGrp="1"/>
          </p:cNvSpPr>
          <p:nvPr>
            <p:ph type="sldNum" sz="quarter" idx="12"/>
          </p:nvPr>
        </p:nvSpPr>
        <p:spPr/>
        <p:txBody>
          <a:bodyPr/>
          <a:lstStyle/>
          <a:p>
            <a:fld id="{A71D4CCC-BB3A-4D93-86F3-16B4E3CF782A}" type="slidenum">
              <a:rPr lang="en-US" smtClean="0"/>
              <a:t>32</a:t>
            </a:fld>
            <a:endParaRPr lang="en-US"/>
          </a:p>
        </p:txBody>
      </p:sp>
    </p:spTree>
    <p:extLst>
      <p:ext uri="{BB962C8B-B14F-4D97-AF65-F5344CB8AC3E}">
        <p14:creationId xmlns:p14="http://schemas.microsoft.com/office/powerpoint/2010/main" val="23834339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73A0C-9C1B-3D75-3A4E-42301F9D2C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1142D5-BE8E-59AC-9BAD-F5F6715126D6}"/>
              </a:ext>
            </a:extLst>
          </p:cNvPr>
          <p:cNvSpPr>
            <a:spLocks noGrp="1"/>
          </p:cNvSpPr>
          <p:nvPr>
            <p:ph type="title"/>
          </p:nvPr>
        </p:nvSpPr>
        <p:spPr/>
        <p:txBody>
          <a:bodyPr>
            <a:normAutofit/>
          </a:bodyPr>
          <a:lstStyle/>
          <a:p>
            <a:r>
              <a:rPr lang="en-US" b="1" dirty="0" err="1"/>
              <a:t>Lĩnh</a:t>
            </a:r>
            <a:r>
              <a:rPr lang="en-US" b="1" dirty="0"/>
              <a:t> </a:t>
            </a:r>
            <a:r>
              <a:rPr lang="en-US" b="1" dirty="0" err="1"/>
              <a:t>vực</a:t>
            </a:r>
            <a:r>
              <a:rPr lang="en-US" b="1" dirty="0"/>
              <a:t> </a:t>
            </a:r>
            <a:r>
              <a:rPr lang="en-US" b="1" dirty="0" err="1"/>
              <a:t>Giáo</a:t>
            </a:r>
            <a:r>
              <a:rPr lang="en-US" b="1" dirty="0"/>
              <a:t> </a:t>
            </a:r>
            <a:r>
              <a:rPr lang="en-US" b="1" dirty="0" err="1"/>
              <a:t>dục</a:t>
            </a:r>
            <a:r>
              <a:rPr lang="en-US" b="1" dirty="0"/>
              <a:t> &amp; </a:t>
            </a:r>
            <a:r>
              <a:rPr lang="en-US" b="1" dirty="0" err="1"/>
              <a:t>Giảng</a:t>
            </a:r>
            <a:r>
              <a:rPr lang="en-US" b="1" dirty="0"/>
              <a:t> </a:t>
            </a:r>
            <a:r>
              <a:rPr lang="en-US" b="1" dirty="0" err="1"/>
              <a:t>dạy</a:t>
            </a:r>
            <a:r>
              <a:rPr lang="en-US" b="1" dirty="0"/>
              <a:t> (Education):</a:t>
            </a:r>
          </a:p>
        </p:txBody>
      </p:sp>
      <p:sp>
        <p:nvSpPr>
          <p:cNvPr id="3" name="Content Placeholder 2">
            <a:extLst>
              <a:ext uri="{FF2B5EF4-FFF2-40B4-BE49-F238E27FC236}">
                <a16:creationId xmlns:a16="http://schemas.microsoft.com/office/drawing/2014/main" id="{F390F508-E5F3-9315-37C3-FB0AD628A624}"/>
              </a:ext>
            </a:extLst>
          </p:cNvPr>
          <p:cNvSpPr>
            <a:spLocks noGrp="1"/>
          </p:cNvSpPr>
          <p:nvPr>
            <p:ph idx="1"/>
          </p:nvPr>
        </p:nvSpPr>
        <p:spPr/>
        <p:txBody>
          <a:bodyPr>
            <a:normAutofit/>
          </a:bodyPr>
          <a:lstStyle/>
          <a:p>
            <a:r>
              <a:rPr lang="vi-VN" dirty="0"/>
              <a:t>Khảo sát động cơ học tiếng Trung của sinh viên không chuyên ngữ tại TP.HCM.</a:t>
            </a:r>
          </a:p>
          <a:p>
            <a:r>
              <a:rPr lang="vi-VN" dirty="0"/>
              <a:t>Đánh giá hiệu quả của việc học tiếng Trung qua ứng dụng di động (như HelloChinese, Duolingo).</a:t>
            </a:r>
          </a:p>
          <a:p>
            <a:r>
              <a:rPr lang="vi-VN" dirty="0"/>
              <a:t>Khó khăn trong việc nhớ mặt chữ Hán và các chiến lược ghi nhớ của sinh viên.</a:t>
            </a:r>
          </a:p>
          <a:p>
            <a:r>
              <a:rPr lang="vi-VN" dirty="0"/>
              <a:t>Tác động của việc xem phim Trung Quốc đến kỹ năng giao tiếp tiếng Trung của người học.</a:t>
            </a:r>
          </a:p>
        </p:txBody>
      </p:sp>
      <p:sp>
        <p:nvSpPr>
          <p:cNvPr id="4" name="Footer Placeholder 3">
            <a:extLst>
              <a:ext uri="{FF2B5EF4-FFF2-40B4-BE49-F238E27FC236}">
                <a16:creationId xmlns:a16="http://schemas.microsoft.com/office/drawing/2014/main" id="{1051111B-A8E8-C92C-3C86-61671A161492}"/>
              </a:ext>
            </a:extLst>
          </p:cNvPr>
          <p:cNvSpPr>
            <a:spLocks noGrp="1"/>
          </p:cNvSpPr>
          <p:nvPr>
            <p:ph type="ftr" sz="quarter" idx="11"/>
          </p:nvPr>
        </p:nvSpPr>
        <p:spPr/>
        <p:txBody>
          <a:bodyPr/>
          <a:lstStyle/>
          <a:p>
            <a:r>
              <a:rPr lang="zh-CN" altLang="en-US" dirty="0"/>
              <a:t>科学研究方法</a:t>
            </a:r>
            <a:endParaRPr lang="en-US" dirty="0"/>
          </a:p>
        </p:txBody>
      </p:sp>
      <p:sp>
        <p:nvSpPr>
          <p:cNvPr id="5" name="Slide Number Placeholder 4">
            <a:extLst>
              <a:ext uri="{FF2B5EF4-FFF2-40B4-BE49-F238E27FC236}">
                <a16:creationId xmlns:a16="http://schemas.microsoft.com/office/drawing/2014/main" id="{B952DD95-879F-F96E-8AA4-3441E9CCA62C}"/>
              </a:ext>
            </a:extLst>
          </p:cNvPr>
          <p:cNvSpPr>
            <a:spLocks noGrp="1"/>
          </p:cNvSpPr>
          <p:nvPr>
            <p:ph type="sldNum" sz="quarter" idx="12"/>
          </p:nvPr>
        </p:nvSpPr>
        <p:spPr/>
        <p:txBody>
          <a:bodyPr/>
          <a:lstStyle/>
          <a:p>
            <a:fld id="{A71D4CCC-BB3A-4D93-86F3-16B4E3CF782A}" type="slidenum">
              <a:rPr lang="en-US" smtClean="0"/>
              <a:t>33</a:t>
            </a:fld>
            <a:endParaRPr lang="en-US"/>
          </a:p>
        </p:txBody>
      </p:sp>
    </p:spTree>
    <p:extLst>
      <p:ext uri="{BB962C8B-B14F-4D97-AF65-F5344CB8AC3E}">
        <p14:creationId xmlns:p14="http://schemas.microsoft.com/office/powerpoint/2010/main" val="35002599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A0C34-F169-6E1F-0026-BF4C29304E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AC2594-1C8E-775C-096E-0AD08BDA20CC}"/>
              </a:ext>
            </a:extLst>
          </p:cNvPr>
          <p:cNvSpPr>
            <a:spLocks noGrp="1"/>
          </p:cNvSpPr>
          <p:nvPr>
            <p:ph type="title"/>
          </p:nvPr>
        </p:nvSpPr>
        <p:spPr/>
        <p:txBody>
          <a:bodyPr>
            <a:normAutofit/>
          </a:bodyPr>
          <a:lstStyle/>
          <a:p>
            <a:r>
              <a:rPr lang="en-US" b="1" dirty="0" err="1"/>
              <a:t>Lĩnh</a:t>
            </a:r>
            <a:r>
              <a:rPr lang="en-US" b="1" dirty="0"/>
              <a:t> </a:t>
            </a:r>
            <a:r>
              <a:rPr lang="en-US" b="1" dirty="0" err="1"/>
              <a:t>vực</a:t>
            </a:r>
            <a:r>
              <a:rPr lang="en-US" b="1" dirty="0"/>
              <a:t> Văn </a:t>
            </a:r>
            <a:r>
              <a:rPr lang="en-US" b="1" dirty="0" err="1"/>
              <a:t>hóa</a:t>
            </a:r>
            <a:r>
              <a:rPr lang="en-US" b="1" dirty="0"/>
              <a:t> (Culture):</a:t>
            </a:r>
          </a:p>
        </p:txBody>
      </p:sp>
      <p:sp>
        <p:nvSpPr>
          <p:cNvPr id="3" name="Content Placeholder 2">
            <a:extLst>
              <a:ext uri="{FF2B5EF4-FFF2-40B4-BE49-F238E27FC236}">
                <a16:creationId xmlns:a16="http://schemas.microsoft.com/office/drawing/2014/main" id="{C140AE7B-79B8-FB74-5497-8595A04A2E9B}"/>
              </a:ext>
            </a:extLst>
          </p:cNvPr>
          <p:cNvSpPr>
            <a:spLocks noGrp="1"/>
          </p:cNvSpPr>
          <p:nvPr>
            <p:ph idx="1"/>
          </p:nvPr>
        </p:nvSpPr>
        <p:spPr/>
        <p:txBody>
          <a:bodyPr>
            <a:normAutofit/>
          </a:bodyPr>
          <a:lstStyle/>
          <a:p>
            <a:r>
              <a:rPr lang="vi-VN" dirty="0"/>
              <a:t>So sánh quan niệm về con số may mắn trong văn hóa Việt Nam và Trung Quốc.</a:t>
            </a:r>
          </a:p>
          <a:p>
            <a:r>
              <a:rPr lang="vi-VN" dirty="0"/>
              <a:t>Tìm hiểu ý nghĩa các biểu tượng trong kiến trúc chùa chiền Trung Hoa tại Quận 5.</a:t>
            </a:r>
          </a:p>
          <a:p>
            <a:r>
              <a:rPr lang="vi-VN" dirty="0"/>
              <a:t>Sự biến đổi của văn hóa trà đạo Trung Hoa trong đời sống hiện đại.</a:t>
            </a:r>
          </a:p>
          <a:p>
            <a:r>
              <a:rPr lang="vi-VN" dirty="0"/>
              <a:t>Ảnh hưởng của văn hóa Nho giáo đến phong cách quản lý của các doanh nghiệp Đài Loan tại Việt Nam.</a:t>
            </a:r>
          </a:p>
        </p:txBody>
      </p:sp>
      <p:sp>
        <p:nvSpPr>
          <p:cNvPr id="4" name="Footer Placeholder 3">
            <a:extLst>
              <a:ext uri="{FF2B5EF4-FFF2-40B4-BE49-F238E27FC236}">
                <a16:creationId xmlns:a16="http://schemas.microsoft.com/office/drawing/2014/main" id="{C51A86FA-B2A1-80A4-8E9A-CA6B1F4B2F1E}"/>
              </a:ext>
            </a:extLst>
          </p:cNvPr>
          <p:cNvSpPr>
            <a:spLocks noGrp="1"/>
          </p:cNvSpPr>
          <p:nvPr>
            <p:ph type="ftr" sz="quarter" idx="11"/>
          </p:nvPr>
        </p:nvSpPr>
        <p:spPr/>
        <p:txBody>
          <a:bodyPr/>
          <a:lstStyle/>
          <a:p>
            <a:r>
              <a:rPr lang="zh-CN" altLang="en-US" dirty="0"/>
              <a:t>科学研究方法</a:t>
            </a:r>
            <a:endParaRPr lang="en-US" dirty="0"/>
          </a:p>
        </p:txBody>
      </p:sp>
      <p:sp>
        <p:nvSpPr>
          <p:cNvPr id="5" name="Slide Number Placeholder 4">
            <a:extLst>
              <a:ext uri="{FF2B5EF4-FFF2-40B4-BE49-F238E27FC236}">
                <a16:creationId xmlns:a16="http://schemas.microsoft.com/office/drawing/2014/main" id="{ABFC5733-30AF-B1BF-A499-1BC42CB284E9}"/>
              </a:ext>
            </a:extLst>
          </p:cNvPr>
          <p:cNvSpPr>
            <a:spLocks noGrp="1"/>
          </p:cNvSpPr>
          <p:nvPr>
            <p:ph type="sldNum" sz="quarter" idx="12"/>
          </p:nvPr>
        </p:nvSpPr>
        <p:spPr/>
        <p:txBody>
          <a:bodyPr/>
          <a:lstStyle/>
          <a:p>
            <a:fld id="{A71D4CCC-BB3A-4D93-86F3-16B4E3CF782A}" type="slidenum">
              <a:rPr lang="en-US" smtClean="0"/>
              <a:t>34</a:t>
            </a:fld>
            <a:endParaRPr lang="en-US"/>
          </a:p>
        </p:txBody>
      </p:sp>
    </p:spTree>
    <p:extLst>
      <p:ext uri="{BB962C8B-B14F-4D97-AF65-F5344CB8AC3E}">
        <p14:creationId xmlns:p14="http://schemas.microsoft.com/office/powerpoint/2010/main" val="20259350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92F61-ADBF-264E-7AF2-8530D6C8A8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D3CABA-EC6D-FB28-018B-93FA699BA187}"/>
              </a:ext>
            </a:extLst>
          </p:cNvPr>
          <p:cNvSpPr>
            <a:spLocks noGrp="1"/>
          </p:cNvSpPr>
          <p:nvPr>
            <p:ph type="title"/>
          </p:nvPr>
        </p:nvSpPr>
        <p:spPr/>
        <p:txBody>
          <a:bodyPr>
            <a:normAutofit/>
          </a:bodyPr>
          <a:lstStyle/>
          <a:p>
            <a:r>
              <a:rPr lang="en-US" b="1" dirty="0" err="1"/>
              <a:t>Tiêu</a:t>
            </a:r>
            <a:r>
              <a:rPr lang="en-US" b="1" dirty="0"/>
              <a:t> </a:t>
            </a:r>
            <a:r>
              <a:rPr lang="en-US" b="1" dirty="0" err="1"/>
              <a:t>chí</a:t>
            </a:r>
            <a:r>
              <a:rPr lang="en-US" b="1" dirty="0"/>
              <a:t> </a:t>
            </a:r>
            <a:r>
              <a:rPr lang="en-US" b="1" dirty="0" err="1"/>
              <a:t>đánh</a:t>
            </a:r>
            <a:r>
              <a:rPr lang="en-US" b="1" dirty="0"/>
              <a:t> </a:t>
            </a:r>
            <a:r>
              <a:rPr lang="en-US" b="1" dirty="0" err="1"/>
              <a:t>giá</a:t>
            </a:r>
            <a:r>
              <a:rPr lang="en-US" b="1" dirty="0"/>
              <a:t> </a:t>
            </a:r>
            <a:r>
              <a:rPr lang="en-US" b="1" dirty="0" err="1"/>
              <a:t>bài</a:t>
            </a:r>
            <a:r>
              <a:rPr lang="en-US" b="1" dirty="0"/>
              <a:t> </a:t>
            </a:r>
            <a:r>
              <a:rPr lang="en-US" b="1" dirty="0" err="1"/>
              <a:t>tiểu</a:t>
            </a:r>
            <a:r>
              <a:rPr lang="en-US" b="1" dirty="0"/>
              <a:t> </a:t>
            </a:r>
            <a:r>
              <a:rPr lang="en-US" b="1" dirty="0" err="1"/>
              <a:t>luận</a:t>
            </a:r>
            <a:endParaRPr lang="en-US" b="1" dirty="0"/>
          </a:p>
        </p:txBody>
      </p:sp>
      <p:sp>
        <p:nvSpPr>
          <p:cNvPr id="3" name="Content Placeholder 2">
            <a:extLst>
              <a:ext uri="{FF2B5EF4-FFF2-40B4-BE49-F238E27FC236}">
                <a16:creationId xmlns:a16="http://schemas.microsoft.com/office/drawing/2014/main" id="{787B0AE5-2F50-0691-C6ED-3ECAF0992B9B}"/>
              </a:ext>
            </a:extLst>
          </p:cNvPr>
          <p:cNvSpPr>
            <a:spLocks noGrp="1"/>
          </p:cNvSpPr>
          <p:nvPr>
            <p:ph idx="1"/>
          </p:nvPr>
        </p:nvSpPr>
        <p:spPr/>
        <p:txBody>
          <a:bodyPr>
            <a:normAutofit/>
          </a:bodyPr>
          <a:lstStyle/>
          <a:p>
            <a:r>
              <a:rPr lang="vi-VN" b="1" dirty="0"/>
              <a:t>Sự phù hợp của đề tài:</a:t>
            </a:r>
            <a:r>
              <a:rPr lang="vi-VN" dirty="0"/>
              <a:t> Có thuộc lĩnh vực ngôn ngữ/giáo dục/văn hóa Trung Quốc không?</a:t>
            </a:r>
          </a:p>
          <a:p>
            <a:r>
              <a:rPr lang="vi-VN" b="1" dirty="0"/>
              <a:t>Tính logic:</a:t>
            </a:r>
            <a:r>
              <a:rPr lang="vi-VN" dirty="0"/>
              <a:t> Sự kết nối giữa mục tiêu, câu hỏi và phương pháp nghiên cứu.</a:t>
            </a:r>
          </a:p>
          <a:p>
            <a:r>
              <a:rPr lang="vi-VN" b="1" dirty="0"/>
              <a:t>Tính khả thi:</a:t>
            </a:r>
            <a:r>
              <a:rPr lang="vi-VN" dirty="0"/>
              <a:t> Đề cương có thể triển khai thành nghiên cứu thực tế không?</a:t>
            </a:r>
          </a:p>
          <a:p>
            <a:r>
              <a:rPr lang="vi-VN" b="1" dirty="0"/>
              <a:t>Hình thức trình bày:</a:t>
            </a:r>
            <a:r>
              <a:rPr lang="vi-VN" dirty="0"/>
              <a:t> Đúng quy định, trích dẫn chuẩn xác, ngôn ngữ khoa học.</a:t>
            </a:r>
          </a:p>
        </p:txBody>
      </p:sp>
      <p:sp>
        <p:nvSpPr>
          <p:cNvPr id="4" name="Footer Placeholder 3">
            <a:extLst>
              <a:ext uri="{FF2B5EF4-FFF2-40B4-BE49-F238E27FC236}">
                <a16:creationId xmlns:a16="http://schemas.microsoft.com/office/drawing/2014/main" id="{D904B8F6-82B9-2044-00F2-909780DD526B}"/>
              </a:ext>
            </a:extLst>
          </p:cNvPr>
          <p:cNvSpPr>
            <a:spLocks noGrp="1"/>
          </p:cNvSpPr>
          <p:nvPr>
            <p:ph type="ftr" sz="quarter" idx="11"/>
          </p:nvPr>
        </p:nvSpPr>
        <p:spPr/>
        <p:txBody>
          <a:bodyPr/>
          <a:lstStyle/>
          <a:p>
            <a:r>
              <a:rPr lang="zh-CN" altLang="en-US" dirty="0"/>
              <a:t>科学研究方法</a:t>
            </a:r>
            <a:endParaRPr lang="en-US" dirty="0"/>
          </a:p>
        </p:txBody>
      </p:sp>
      <p:sp>
        <p:nvSpPr>
          <p:cNvPr id="5" name="Slide Number Placeholder 4">
            <a:extLst>
              <a:ext uri="{FF2B5EF4-FFF2-40B4-BE49-F238E27FC236}">
                <a16:creationId xmlns:a16="http://schemas.microsoft.com/office/drawing/2014/main" id="{F6C23685-895B-0D90-27DE-AACD221B3373}"/>
              </a:ext>
            </a:extLst>
          </p:cNvPr>
          <p:cNvSpPr>
            <a:spLocks noGrp="1"/>
          </p:cNvSpPr>
          <p:nvPr>
            <p:ph type="sldNum" sz="quarter" idx="12"/>
          </p:nvPr>
        </p:nvSpPr>
        <p:spPr/>
        <p:txBody>
          <a:bodyPr/>
          <a:lstStyle/>
          <a:p>
            <a:fld id="{A71D4CCC-BB3A-4D93-86F3-16B4E3CF782A}" type="slidenum">
              <a:rPr lang="en-US" smtClean="0"/>
              <a:t>35</a:t>
            </a:fld>
            <a:endParaRPr lang="en-US"/>
          </a:p>
        </p:txBody>
      </p:sp>
    </p:spTree>
    <p:extLst>
      <p:ext uri="{BB962C8B-B14F-4D97-AF65-F5344CB8AC3E}">
        <p14:creationId xmlns:p14="http://schemas.microsoft.com/office/powerpoint/2010/main" val="11869051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2D36A-C5CF-1D8F-2525-D070F1E4E4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E10F6D-1ED2-D423-EE6E-82C80F9039F6}"/>
              </a:ext>
            </a:extLst>
          </p:cNvPr>
          <p:cNvSpPr>
            <a:spLocks noGrp="1"/>
          </p:cNvSpPr>
          <p:nvPr>
            <p:ph type="title"/>
          </p:nvPr>
        </p:nvSpPr>
        <p:spPr/>
        <p:txBody>
          <a:bodyPr>
            <a:normAutofit/>
          </a:bodyPr>
          <a:lstStyle/>
          <a:p>
            <a:r>
              <a:rPr lang="en-US" b="1" dirty="0" err="1"/>
              <a:t>Tiêu</a:t>
            </a:r>
            <a:r>
              <a:rPr lang="en-US" b="1" dirty="0"/>
              <a:t> </a:t>
            </a:r>
            <a:r>
              <a:rPr lang="en-US" b="1" dirty="0" err="1"/>
              <a:t>chí</a:t>
            </a:r>
            <a:r>
              <a:rPr lang="en-US" b="1" dirty="0"/>
              <a:t> </a:t>
            </a:r>
            <a:r>
              <a:rPr lang="en-US" b="1" dirty="0" err="1"/>
              <a:t>chấm</a:t>
            </a:r>
            <a:r>
              <a:rPr lang="en-US" b="1" dirty="0"/>
              <a:t> </a:t>
            </a:r>
            <a:r>
              <a:rPr lang="en-US" b="1" dirty="0" err="1"/>
              <a:t>điểm</a:t>
            </a:r>
            <a:r>
              <a:rPr lang="en-US" b="1" dirty="0"/>
              <a:t> (Rubric)</a:t>
            </a:r>
          </a:p>
        </p:txBody>
      </p:sp>
      <p:sp>
        <p:nvSpPr>
          <p:cNvPr id="3" name="Content Placeholder 2">
            <a:extLst>
              <a:ext uri="{FF2B5EF4-FFF2-40B4-BE49-F238E27FC236}">
                <a16:creationId xmlns:a16="http://schemas.microsoft.com/office/drawing/2014/main" id="{D6787907-A29A-FCF4-0C89-99A8B2A302DF}"/>
              </a:ext>
            </a:extLst>
          </p:cNvPr>
          <p:cNvSpPr>
            <a:spLocks noGrp="1"/>
          </p:cNvSpPr>
          <p:nvPr>
            <p:ph idx="1"/>
          </p:nvPr>
        </p:nvSpPr>
        <p:spPr/>
        <p:txBody>
          <a:bodyPr>
            <a:normAutofit/>
          </a:bodyPr>
          <a:lstStyle/>
          <a:p>
            <a:r>
              <a:rPr lang="vi-VN" b="1" dirty="0"/>
              <a:t>(2.0đ) Xác định vấn đề:</a:t>
            </a:r>
            <a:r>
              <a:rPr lang="vi-VN" dirty="0"/>
              <a:t> Tên đề tài hay, mục tiêu rõ ràng, câu hỏi nghiên cứu logic.</a:t>
            </a:r>
          </a:p>
          <a:p>
            <a:r>
              <a:rPr lang="vi-VN" b="1" dirty="0"/>
              <a:t>(3.0đ) Tổng quan tài liệu:</a:t>
            </a:r>
            <a:r>
              <a:rPr lang="vi-VN" dirty="0"/>
              <a:t> Tìm được tài liệu uy tín, trích dẫn đúng chuẩn, không đạo văn.</a:t>
            </a:r>
          </a:p>
          <a:p>
            <a:r>
              <a:rPr lang="vi-VN" b="1" dirty="0"/>
              <a:t>(3.0đ) Phương pháp nghiên cứu:</a:t>
            </a:r>
            <a:r>
              <a:rPr lang="vi-VN" dirty="0"/>
              <a:t> Chọn đúng phương pháp (Định lượng/Định tính) phù hợp với mục tiêu. Xây dựng được công cụ đo lường dự kiến (ví dụ: phác thảo được bảng hỏi).</a:t>
            </a:r>
          </a:p>
          <a:p>
            <a:r>
              <a:rPr lang="vi-VN" b="1" dirty="0"/>
              <a:t>(2.0đ) Trình bày:</a:t>
            </a:r>
            <a:r>
              <a:rPr lang="vi-VN" dirty="0"/>
              <a:t> Văn phong khoa học, không sai chính tả, trình bày đẹp, đúng format.</a:t>
            </a:r>
          </a:p>
        </p:txBody>
      </p:sp>
      <p:sp>
        <p:nvSpPr>
          <p:cNvPr id="4" name="Footer Placeholder 3">
            <a:extLst>
              <a:ext uri="{FF2B5EF4-FFF2-40B4-BE49-F238E27FC236}">
                <a16:creationId xmlns:a16="http://schemas.microsoft.com/office/drawing/2014/main" id="{8B9D20D2-3A81-8AB3-AC73-1820940EA5B6}"/>
              </a:ext>
            </a:extLst>
          </p:cNvPr>
          <p:cNvSpPr>
            <a:spLocks noGrp="1"/>
          </p:cNvSpPr>
          <p:nvPr>
            <p:ph type="ftr" sz="quarter" idx="11"/>
          </p:nvPr>
        </p:nvSpPr>
        <p:spPr/>
        <p:txBody>
          <a:bodyPr/>
          <a:lstStyle/>
          <a:p>
            <a:r>
              <a:rPr lang="zh-CN" altLang="en-US" dirty="0"/>
              <a:t>科学研究方法</a:t>
            </a:r>
            <a:endParaRPr lang="en-US" dirty="0"/>
          </a:p>
        </p:txBody>
      </p:sp>
      <p:sp>
        <p:nvSpPr>
          <p:cNvPr id="5" name="Slide Number Placeholder 4">
            <a:extLst>
              <a:ext uri="{FF2B5EF4-FFF2-40B4-BE49-F238E27FC236}">
                <a16:creationId xmlns:a16="http://schemas.microsoft.com/office/drawing/2014/main" id="{E3C59D78-58C1-AC31-A2E6-B781ADF7EE1F}"/>
              </a:ext>
            </a:extLst>
          </p:cNvPr>
          <p:cNvSpPr>
            <a:spLocks noGrp="1"/>
          </p:cNvSpPr>
          <p:nvPr>
            <p:ph type="sldNum" sz="quarter" idx="12"/>
          </p:nvPr>
        </p:nvSpPr>
        <p:spPr/>
        <p:txBody>
          <a:bodyPr/>
          <a:lstStyle/>
          <a:p>
            <a:fld id="{A71D4CCC-BB3A-4D93-86F3-16B4E3CF782A}" type="slidenum">
              <a:rPr lang="en-US" smtClean="0"/>
              <a:t>36</a:t>
            </a:fld>
            <a:endParaRPr lang="en-US"/>
          </a:p>
        </p:txBody>
      </p:sp>
    </p:spTree>
    <p:extLst>
      <p:ext uri="{BB962C8B-B14F-4D97-AF65-F5344CB8AC3E}">
        <p14:creationId xmlns:p14="http://schemas.microsoft.com/office/powerpoint/2010/main" val="26137825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3C6CE-464A-D39D-3801-B1C98C26F3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7888A-79DF-E692-0696-7AD2937C375D}"/>
              </a:ext>
            </a:extLst>
          </p:cNvPr>
          <p:cNvSpPr>
            <a:spLocks noGrp="1"/>
          </p:cNvSpPr>
          <p:nvPr>
            <p:ph type="title"/>
          </p:nvPr>
        </p:nvSpPr>
        <p:spPr/>
        <p:txBody>
          <a:bodyPr>
            <a:normAutofit/>
          </a:bodyPr>
          <a:lstStyle/>
          <a:p>
            <a:r>
              <a:rPr lang="vi-VN" b="1" dirty="0"/>
              <a:t>Các lỗi "chết người" cần tránh</a:t>
            </a:r>
            <a:endParaRPr lang="en-US" b="1" dirty="0"/>
          </a:p>
        </p:txBody>
      </p:sp>
      <p:sp>
        <p:nvSpPr>
          <p:cNvPr id="3" name="Content Placeholder 2">
            <a:extLst>
              <a:ext uri="{FF2B5EF4-FFF2-40B4-BE49-F238E27FC236}">
                <a16:creationId xmlns:a16="http://schemas.microsoft.com/office/drawing/2014/main" id="{23A6A41E-2553-2F47-7B5D-CC97978B7FB3}"/>
              </a:ext>
            </a:extLst>
          </p:cNvPr>
          <p:cNvSpPr>
            <a:spLocks noGrp="1"/>
          </p:cNvSpPr>
          <p:nvPr>
            <p:ph idx="1"/>
          </p:nvPr>
        </p:nvSpPr>
        <p:spPr/>
        <p:txBody>
          <a:bodyPr>
            <a:normAutofit/>
          </a:bodyPr>
          <a:lstStyle/>
          <a:p>
            <a:r>
              <a:rPr lang="en-US" b="1" dirty="0" err="1"/>
              <a:t>Đạo</a:t>
            </a:r>
            <a:r>
              <a:rPr lang="en-US" b="1" dirty="0"/>
              <a:t> </a:t>
            </a:r>
            <a:r>
              <a:rPr lang="en-US" b="1" dirty="0" err="1"/>
              <a:t>văn</a:t>
            </a:r>
            <a:r>
              <a:rPr lang="en-US" b="1" dirty="0"/>
              <a:t> (Plagiarism):</a:t>
            </a:r>
            <a:r>
              <a:rPr lang="en-US" dirty="0"/>
              <a:t> Copy </a:t>
            </a:r>
            <a:r>
              <a:rPr lang="en-US" dirty="0" err="1"/>
              <a:t>từ</a:t>
            </a:r>
            <a:r>
              <a:rPr lang="en-US" dirty="0"/>
              <a:t> Internet </a:t>
            </a:r>
            <a:r>
              <a:rPr lang="en-US" dirty="0" err="1"/>
              <a:t>không</a:t>
            </a:r>
            <a:r>
              <a:rPr lang="en-US" dirty="0"/>
              <a:t> </a:t>
            </a:r>
            <a:r>
              <a:rPr lang="en-US" dirty="0" err="1"/>
              <a:t>trích</a:t>
            </a:r>
            <a:r>
              <a:rPr lang="en-US" dirty="0"/>
              <a:t> </a:t>
            </a:r>
            <a:r>
              <a:rPr lang="en-US" dirty="0" err="1"/>
              <a:t>dẫn</a:t>
            </a:r>
            <a:r>
              <a:rPr lang="en-US" dirty="0"/>
              <a:t> -&gt; 0 </a:t>
            </a:r>
            <a:r>
              <a:rPr lang="en-US" dirty="0" err="1"/>
              <a:t>điểm</a:t>
            </a:r>
            <a:r>
              <a:rPr lang="en-US" dirty="0"/>
              <a:t>.</a:t>
            </a:r>
          </a:p>
          <a:p>
            <a:r>
              <a:rPr lang="en-US" b="1" dirty="0" err="1"/>
              <a:t>Lạc</a:t>
            </a:r>
            <a:r>
              <a:rPr lang="en-US" b="1" dirty="0"/>
              <a:t> </a:t>
            </a:r>
            <a:r>
              <a:rPr lang="en-US" b="1" dirty="0" err="1"/>
              <a:t>đề</a:t>
            </a:r>
            <a:r>
              <a:rPr lang="en-US" b="1" dirty="0"/>
              <a:t>:</a:t>
            </a:r>
            <a:r>
              <a:rPr lang="en-US" dirty="0"/>
              <a:t> </a:t>
            </a:r>
            <a:r>
              <a:rPr lang="en-US" dirty="0" err="1"/>
              <a:t>Tên</a:t>
            </a:r>
            <a:r>
              <a:rPr lang="en-US" dirty="0"/>
              <a:t> </a:t>
            </a:r>
            <a:r>
              <a:rPr lang="en-US" dirty="0" err="1"/>
              <a:t>đề</a:t>
            </a:r>
            <a:r>
              <a:rPr lang="en-US" dirty="0"/>
              <a:t> </a:t>
            </a:r>
            <a:r>
              <a:rPr lang="en-US" dirty="0" err="1"/>
              <a:t>tài</a:t>
            </a:r>
            <a:r>
              <a:rPr lang="en-US" dirty="0"/>
              <a:t> </a:t>
            </a:r>
            <a:r>
              <a:rPr lang="en-US" dirty="0" err="1"/>
              <a:t>một</a:t>
            </a:r>
            <a:r>
              <a:rPr lang="en-US" dirty="0"/>
              <a:t> </a:t>
            </a:r>
            <a:r>
              <a:rPr lang="en-US" dirty="0" err="1"/>
              <a:t>đằng</a:t>
            </a:r>
            <a:r>
              <a:rPr lang="en-US" dirty="0"/>
              <a:t>, </a:t>
            </a:r>
            <a:r>
              <a:rPr lang="en-US" dirty="0" err="1"/>
              <a:t>nội</a:t>
            </a:r>
            <a:r>
              <a:rPr lang="en-US" dirty="0"/>
              <a:t> dung </a:t>
            </a:r>
            <a:r>
              <a:rPr lang="en-US" dirty="0" err="1"/>
              <a:t>một</a:t>
            </a:r>
            <a:r>
              <a:rPr lang="en-US" dirty="0"/>
              <a:t> </a:t>
            </a:r>
            <a:r>
              <a:rPr lang="en-US" dirty="0" err="1"/>
              <a:t>nẻo</a:t>
            </a:r>
            <a:r>
              <a:rPr lang="en-US" dirty="0"/>
              <a:t>.</a:t>
            </a:r>
          </a:p>
          <a:p>
            <a:r>
              <a:rPr lang="en-US" b="1" dirty="0"/>
              <a:t>Sai format </a:t>
            </a:r>
            <a:r>
              <a:rPr lang="en-US" b="1" dirty="0" err="1"/>
              <a:t>trích</a:t>
            </a:r>
            <a:r>
              <a:rPr lang="en-US" b="1" dirty="0"/>
              <a:t> </a:t>
            </a:r>
            <a:r>
              <a:rPr lang="en-US" b="1" dirty="0" err="1"/>
              <a:t>dẫn</a:t>
            </a:r>
            <a:r>
              <a:rPr lang="en-US" b="1" dirty="0"/>
              <a:t>:</a:t>
            </a:r>
            <a:r>
              <a:rPr lang="en-US" dirty="0"/>
              <a:t> Tài </a:t>
            </a:r>
            <a:r>
              <a:rPr lang="en-US" dirty="0" err="1"/>
              <a:t>liệu</a:t>
            </a:r>
            <a:r>
              <a:rPr lang="en-US" dirty="0"/>
              <a:t> </a:t>
            </a:r>
            <a:r>
              <a:rPr lang="en-US" dirty="0" err="1"/>
              <a:t>tham</a:t>
            </a:r>
            <a:r>
              <a:rPr lang="en-US" dirty="0"/>
              <a:t> </a:t>
            </a:r>
            <a:r>
              <a:rPr lang="en-US" dirty="0" err="1"/>
              <a:t>khảo</a:t>
            </a:r>
            <a:r>
              <a:rPr lang="en-US" dirty="0"/>
              <a:t> </a:t>
            </a:r>
            <a:r>
              <a:rPr lang="en-US" dirty="0" err="1"/>
              <a:t>lộn</a:t>
            </a:r>
            <a:r>
              <a:rPr lang="en-US" dirty="0"/>
              <a:t> </a:t>
            </a:r>
            <a:r>
              <a:rPr lang="en-US" dirty="0" err="1"/>
              <a:t>xộn</a:t>
            </a:r>
            <a:r>
              <a:rPr lang="en-US" dirty="0"/>
              <a:t>, </a:t>
            </a:r>
            <a:r>
              <a:rPr lang="en-US" dirty="0" err="1"/>
              <a:t>thiếu</a:t>
            </a:r>
            <a:r>
              <a:rPr lang="en-US" dirty="0"/>
              <a:t> </a:t>
            </a:r>
            <a:r>
              <a:rPr lang="en-US" dirty="0" err="1"/>
              <a:t>thông</a:t>
            </a:r>
            <a:r>
              <a:rPr lang="en-US" dirty="0"/>
              <a:t> tin.</a:t>
            </a:r>
          </a:p>
        </p:txBody>
      </p:sp>
      <p:sp>
        <p:nvSpPr>
          <p:cNvPr id="4" name="Footer Placeholder 3">
            <a:extLst>
              <a:ext uri="{FF2B5EF4-FFF2-40B4-BE49-F238E27FC236}">
                <a16:creationId xmlns:a16="http://schemas.microsoft.com/office/drawing/2014/main" id="{29F32FD8-2C25-CD6B-DCB7-83918BC258A2}"/>
              </a:ext>
            </a:extLst>
          </p:cNvPr>
          <p:cNvSpPr>
            <a:spLocks noGrp="1"/>
          </p:cNvSpPr>
          <p:nvPr>
            <p:ph type="ftr" sz="quarter" idx="11"/>
          </p:nvPr>
        </p:nvSpPr>
        <p:spPr/>
        <p:txBody>
          <a:bodyPr/>
          <a:lstStyle/>
          <a:p>
            <a:r>
              <a:rPr lang="zh-CN" altLang="en-US" dirty="0"/>
              <a:t>科学研究方法</a:t>
            </a:r>
            <a:endParaRPr lang="en-US" dirty="0"/>
          </a:p>
        </p:txBody>
      </p:sp>
      <p:sp>
        <p:nvSpPr>
          <p:cNvPr id="5" name="Slide Number Placeholder 4">
            <a:extLst>
              <a:ext uri="{FF2B5EF4-FFF2-40B4-BE49-F238E27FC236}">
                <a16:creationId xmlns:a16="http://schemas.microsoft.com/office/drawing/2014/main" id="{126DD64F-A60E-722D-00DC-101683741218}"/>
              </a:ext>
            </a:extLst>
          </p:cNvPr>
          <p:cNvSpPr>
            <a:spLocks noGrp="1"/>
          </p:cNvSpPr>
          <p:nvPr>
            <p:ph type="sldNum" sz="quarter" idx="12"/>
          </p:nvPr>
        </p:nvSpPr>
        <p:spPr/>
        <p:txBody>
          <a:bodyPr/>
          <a:lstStyle/>
          <a:p>
            <a:fld id="{A71D4CCC-BB3A-4D93-86F3-16B4E3CF782A}" type="slidenum">
              <a:rPr lang="en-US" smtClean="0"/>
              <a:t>37</a:t>
            </a:fld>
            <a:endParaRPr lang="en-US"/>
          </a:p>
        </p:txBody>
      </p:sp>
    </p:spTree>
    <p:extLst>
      <p:ext uri="{BB962C8B-B14F-4D97-AF65-F5344CB8AC3E}">
        <p14:creationId xmlns:p14="http://schemas.microsoft.com/office/powerpoint/2010/main" val="41239187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9B9D5-867D-6F59-364E-566479DC5B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4A42D5-699C-87DF-1624-6785B14828A8}"/>
              </a:ext>
            </a:extLst>
          </p:cNvPr>
          <p:cNvSpPr>
            <a:spLocks noGrp="1"/>
          </p:cNvSpPr>
          <p:nvPr>
            <p:ph type="title"/>
          </p:nvPr>
        </p:nvSpPr>
        <p:spPr/>
        <p:txBody>
          <a:bodyPr>
            <a:normAutofit/>
          </a:bodyPr>
          <a:lstStyle/>
          <a:p>
            <a:r>
              <a:rPr lang="en-US" b="1" dirty="0" err="1"/>
              <a:t>Cách</a:t>
            </a:r>
            <a:r>
              <a:rPr lang="en-US" b="1" dirty="0"/>
              <a:t> </a:t>
            </a:r>
            <a:r>
              <a:rPr lang="en-US" b="1" dirty="0" err="1"/>
              <a:t>nộp</a:t>
            </a:r>
            <a:r>
              <a:rPr lang="en-US" b="1" dirty="0"/>
              <a:t> </a:t>
            </a:r>
            <a:r>
              <a:rPr lang="en-US" b="1" dirty="0" err="1"/>
              <a:t>bài</a:t>
            </a:r>
            <a:endParaRPr lang="en-US" b="1" dirty="0"/>
          </a:p>
        </p:txBody>
      </p:sp>
      <p:sp>
        <p:nvSpPr>
          <p:cNvPr id="3" name="Content Placeholder 2">
            <a:extLst>
              <a:ext uri="{FF2B5EF4-FFF2-40B4-BE49-F238E27FC236}">
                <a16:creationId xmlns:a16="http://schemas.microsoft.com/office/drawing/2014/main" id="{96EB8108-D3E8-4AE1-2D9B-F31CFBA1AE95}"/>
              </a:ext>
            </a:extLst>
          </p:cNvPr>
          <p:cNvSpPr>
            <a:spLocks noGrp="1"/>
          </p:cNvSpPr>
          <p:nvPr>
            <p:ph idx="1"/>
          </p:nvPr>
        </p:nvSpPr>
        <p:spPr/>
        <p:txBody>
          <a:bodyPr>
            <a:normAutofit/>
          </a:bodyPr>
          <a:lstStyle/>
          <a:p>
            <a:r>
              <a:rPr lang="en-US" dirty="0" err="1"/>
              <a:t>Nộp</a:t>
            </a:r>
            <a:r>
              <a:rPr lang="en-US" dirty="0"/>
              <a:t> qua </a:t>
            </a:r>
            <a:r>
              <a:rPr lang="en-US" dirty="0" err="1"/>
              <a:t>hệ</a:t>
            </a:r>
            <a:r>
              <a:rPr lang="en-US" dirty="0"/>
              <a:t> </a:t>
            </a:r>
            <a:r>
              <a:rPr lang="en-US" dirty="0" err="1"/>
              <a:t>thống</a:t>
            </a:r>
            <a:r>
              <a:rPr lang="en-US" dirty="0"/>
              <a:t> LMS (</a:t>
            </a:r>
            <a:r>
              <a:rPr lang="en-US" dirty="0" err="1"/>
              <a:t>Mục</a:t>
            </a:r>
            <a:r>
              <a:rPr lang="en-US" dirty="0"/>
              <a:t> Assignment).</a:t>
            </a:r>
          </a:p>
          <a:p>
            <a:r>
              <a:rPr lang="en-US" dirty="0" err="1"/>
              <a:t>Tên</a:t>
            </a:r>
            <a:r>
              <a:rPr lang="en-US" dirty="0"/>
              <a:t> file: [</a:t>
            </a:r>
            <a:r>
              <a:rPr lang="en-US" dirty="0" err="1"/>
              <a:t>MãSV</a:t>
            </a:r>
            <a:r>
              <a:rPr lang="en-US" dirty="0"/>
              <a:t>]</a:t>
            </a:r>
            <a:r>
              <a:rPr lang="en-US" i="1" dirty="0"/>
              <a:t>[</a:t>
            </a:r>
            <a:r>
              <a:rPr lang="en-US" i="1" dirty="0" err="1"/>
              <a:t>HọTên</a:t>
            </a:r>
            <a:r>
              <a:rPr lang="en-US" i="1" dirty="0"/>
              <a:t>]</a:t>
            </a:r>
            <a:r>
              <a:rPr lang="en-US" dirty="0"/>
              <a:t>[</a:t>
            </a:r>
            <a:r>
              <a:rPr lang="en-US" dirty="0" err="1"/>
              <a:t>TênĐềTài</a:t>
            </a:r>
            <a:r>
              <a:rPr lang="en-US" dirty="0"/>
              <a:t>].</a:t>
            </a:r>
          </a:p>
          <a:p>
            <a:r>
              <a:rPr lang="en-US" dirty="0"/>
              <a:t>Định </a:t>
            </a:r>
            <a:r>
              <a:rPr lang="en-US" dirty="0" err="1"/>
              <a:t>dạng</a:t>
            </a:r>
            <a:r>
              <a:rPr lang="en-US" dirty="0"/>
              <a:t>: PDF </a:t>
            </a:r>
            <a:r>
              <a:rPr lang="en-US" dirty="0" err="1"/>
              <a:t>hoặc</a:t>
            </a:r>
            <a:r>
              <a:rPr lang="en-US" dirty="0"/>
              <a:t> Word (</a:t>
            </a:r>
            <a:r>
              <a:rPr lang="en-US" dirty="0" err="1"/>
              <a:t>Khuyến</a:t>
            </a:r>
            <a:r>
              <a:rPr lang="en-US" dirty="0"/>
              <a:t> </a:t>
            </a:r>
            <a:r>
              <a:rPr lang="en-US" dirty="0" err="1"/>
              <a:t>khích</a:t>
            </a:r>
            <a:r>
              <a:rPr lang="en-US" dirty="0"/>
              <a:t> PDF </a:t>
            </a:r>
            <a:r>
              <a:rPr lang="en-US" dirty="0" err="1"/>
              <a:t>để</a:t>
            </a:r>
            <a:r>
              <a:rPr lang="en-US" dirty="0"/>
              <a:t> </a:t>
            </a:r>
            <a:r>
              <a:rPr lang="en-US" dirty="0" err="1"/>
              <a:t>không</a:t>
            </a:r>
            <a:r>
              <a:rPr lang="en-US" dirty="0"/>
              <a:t> </a:t>
            </a:r>
            <a:r>
              <a:rPr lang="en-US" dirty="0" err="1"/>
              <a:t>lỗi</a:t>
            </a:r>
            <a:r>
              <a:rPr lang="en-US" dirty="0"/>
              <a:t> font).</a:t>
            </a:r>
          </a:p>
          <a:p>
            <a:r>
              <a:rPr lang="en-US" b="1" dirty="0" err="1"/>
              <a:t>Hạn</a:t>
            </a:r>
            <a:r>
              <a:rPr lang="en-US" b="1" dirty="0"/>
              <a:t> </a:t>
            </a:r>
            <a:r>
              <a:rPr lang="en-US" b="1" dirty="0" err="1"/>
              <a:t>chót</a:t>
            </a:r>
            <a:r>
              <a:rPr lang="en-US" b="1" dirty="0"/>
              <a:t>:</a:t>
            </a:r>
            <a:r>
              <a:rPr lang="en-US" dirty="0"/>
              <a:t> [Theo </a:t>
            </a:r>
            <a:r>
              <a:rPr lang="en-US" dirty="0" err="1"/>
              <a:t>lịch</a:t>
            </a:r>
            <a:r>
              <a:rPr lang="en-US" dirty="0"/>
              <a:t> </a:t>
            </a:r>
            <a:r>
              <a:rPr lang="en-US" dirty="0" err="1"/>
              <a:t>đã</a:t>
            </a:r>
            <a:r>
              <a:rPr lang="en-US" dirty="0"/>
              <a:t> </a:t>
            </a:r>
            <a:r>
              <a:rPr lang="en-US" dirty="0" err="1"/>
              <a:t>công</a:t>
            </a:r>
            <a:r>
              <a:rPr lang="en-US" dirty="0"/>
              <a:t> </a:t>
            </a:r>
            <a:r>
              <a:rPr lang="en-US" dirty="0" err="1"/>
              <a:t>bố</a:t>
            </a:r>
            <a:r>
              <a:rPr lang="en-US" dirty="0"/>
              <a:t>].</a:t>
            </a:r>
          </a:p>
          <a:p>
            <a:r>
              <a:rPr lang="en-US" dirty="0" err="1"/>
              <a:t>Nếu</a:t>
            </a:r>
            <a:r>
              <a:rPr lang="en-US" dirty="0"/>
              <a:t> </a:t>
            </a:r>
            <a:r>
              <a:rPr lang="en-US" dirty="0" err="1"/>
              <a:t>đề</a:t>
            </a:r>
            <a:r>
              <a:rPr lang="en-US" dirty="0"/>
              <a:t> </a:t>
            </a:r>
            <a:r>
              <a:rPr lang="en-US" dirty="0" err="1"/>
              <a:t>tài</a:t>
            </a:r>
            <a:r>
              <a:rPr lang="en-US" dirty="0"/>
              <a:t> </a:t>
            </a:r>
            <a:r>
              <a:rPr lang="en-US" dirty="0" err="1"/>
              <a:t>của</a:t>
            </a:r>
            <a:r>
              <a:rPr lang="en-US" dirty="0"/>
              <a:t> </a:t>
            </a:r>
            <a:r>
              <a:rPr lang="en-US" dirty="0" err="1"/>
              <a:t>nhóm</a:t>
            </a:r>
            <a:r>
              <a:rPr lang="en-US" dirty="0"/>
              <a:t>, </a:t>
            </a:r>
            <a:r>
              <a:rPr lang="en-US" dirty="0" err="1"/>
              <a:t>thì</a:t>
            </a:r>
            <a:r>
              <a:rPr lang="en-US" dirty="0"/>
              <a:t> </a:t>
            </a:r>
            <a:r>
              <a:rPr lang="en-US" dirty="0" err="1"/>
              <a:t>chỉ</a:t>
            </a:r>
            <a:r>
              <a:rPr lang="en-US" dirty="0"/>
              <a:t> </a:t>
            </a:r>
            <a:r>
              <a:rPr lang="en-US" dirty="0" err="1"/>
              <a:t>cả</a:t>
            </a:r>
            <a:r>
              <a:rPr lang="en-US" dirty="0"/>
              <a:t> </a:t>
            </a:r>
            <a:r>
              <a:rPr lang="en-US" dirty="0" err="1"/>
              <a:t>nhóm</a:t>
            </a:r>
            <a:r>
              <a:rPr lang="en-US" dirty="0"/>
              <a:t> </a:t>
            </a:r>
            <a:r>
              <a:rPr lang="en-US" dirty="0" err="1"/>
              <a:t>đều</a:t>
            </a:r>
            <a:r>
              <a:rPr lang="en-US" dirty="0"/>
              <a:t> </a:t>
            </a:r>
            <a:r>
              <a:rPr lang="en-US" dirty="0" err="1"/>
              <a:t>phải</a:t>
            </a:r>
            <a:r>
              <a:rPr lang="en-US" dirty="0"/>
              <a:t> </a:t>
            </a:r>
            <a:r>
              <a:rPr lang="en-US" dirty="0" err="1"/>
              <a:t>nộp</a:t>
            </a:r>
            <a:r>
              <a:rPr lang="en-US" dirty="0"/>
              <a:t>.</a:t>
            </a:r>
          </a:p>
          <a:p>
            <a:endParaRPr lang="en-US" dirty="0"/>
          </a:p>
        </p:txBody>
      </p:sp>
      <p:sp>
        <p:nvSpPr>
          <p:cNvPr id="4" name="Footer Placeholder 3">
            <a:extLst>
              <a:ext uri="{FF2B5EF4-FFF2-40B4-BE49-F238E27FC236}">
                <a16:creationId xmlns:a16="http://schemas.microsoft.com/office/drawing/2014/main" id="{00B1D203-7309-7C63-3248-0BEBFCA77223}"/>
              </a:ext>
            </a:extLst>
          </p:cNvPr>
          <p:cNvSpPr>
            <a:spLocks noGrp="1"/>
          </p:cNvSpPr>
          <p:nvPr>
            <p:ph type="ftr" sz="quarter" idx="11"/>
          </p:nvPr>
        </p:nvSpPr>
        <p:spPr/>
        <p:txBody>
          <a:bodyPr/>
          <a:lstStyle/>
          <a:p>
            <a:r>
              <a:rPr lang="zh-CN" altLang="en-US" dirty="0"/>
              <a:t>科学研究方法</a:t>
            </a:r>
            <a:endParaRPr lang="en-US" dirty="0"/>
          </a:p>
        </p:txBody>
      </p:sp>
      <p:sp>
        <p:nvSpPr>
          <p:cNvPr id="5" name="Slide Number Placeholder 4">
            <a:extLst>
              <a:ext uri="{FF2B5EF4-FFF2-40B4-BE49-F238E27FC236}">
                <a16:creationId xmlns:a16="http://schemas.microsoft.com/office/drawing/2014/main" id="{87C3073D-9BFC-C027-1928-F62217D03D68}"/>
              </a:ext>
            </a:extLst>
          </p:cNvPr>
          <p:cNvSpPr>
            <a:spLocks noGrp="1"/>
          </p:cNvSpPr>
          <p:nvPr>
            <p:ph type="sldNum" sz="quarter" idx="12"/>
          </p:nvPr>
        </p:nvSpPr>
        <p:spPr/>
        <p:txBody>
          <a:bodyPr/>
          <a:lstStyle/>
          <a:p>
            <a:fld id="{A71D4CCC-BB3A-4D93-86F3-16B4E3CF782A}" type="slidenum">
              <a:rPr lang="en-US" smtClean="0"/>
              <a:t>38</a:t>
            </a:fld>
            <a:endParaRPr lang="en-US"/>
          </a:p>
        </p:txBody>
      </p:sp>
    </p:spTree>
    <p:extLst>
      <p:ext uri="{BB962C8B-B14F-4D97-AF65-F5344CB8AC3E}">
        <p14:creationId xmlns:p14="http://schemas.microsoft.com/office/powerpoint/2010/main" val="23416281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4F62F-913A-1A25-B92A-4937E2992E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572081-09CF-F97F-D8F4-64E6E783313A}"/>
              </a:ext>
            </a:extLst>
          </p:cNvPr>
          <p:cNvSpPr>
            <a:spLocks noGrp="1"/>
          </p:cNvSpPr>
          <p:nvPr>
            <p:ph type="ctrTitle"/>
          </p:nvPr>
        </p:nvSpPr>
        <p:spPr>
          <a:xfrm>
            <a:off x="517236" y="686887"/>
            <a:ext cx="11111346" cy="2387600"/>
          </a:xfrm>
        </p:spPr>
        <p:txBody>
          <a:bodyPr>
            <a:normAutofit/>
          </a:bodyPr>
          <a:lstStyle/>
          <a:p>
            <a:r>
              <a:rPr lang="en-US" sz="5300" dirty="0" err="1"/>
              <a:t>Phần</a:t>
            </a:r>
            <a:r>
              <a:rPr lang="en-US" sz="5300" dirty="0"/>
              <a:t> 4</a:t>
            </a:r>
            <a:br>
              <a:rPr lang="en-US" dirty="0"/>
            </a:br>
            <a:r>
              <a:rPr lang="en-US" b="1" dirty="0" err="1"/>
              <a:t>Hỏi</a:t>
            </a:r>
            <a:r>
              <a:rPr lang="en-US" b="1" dirty="0"/>
              <a:t> </a:t>
            </a:r>
            <a:r>
              <a:rPr lang="en-US" b="1" dirty="0" err="1"/>
              <a:t>đáp</a:t>
            </a:r>
            <a:r>
              <a:rPr lang="en-US" b="1" dirty="0"/>
              <a:t> (Q&amp;A)</a:t>
            </a:r>
            <a:endParaRPr lang="en-US" dirty="0"/>
          </a:p>
        </p:txBody>
      </p:sp>
      <p:sp>
        <p:nvSpPr>
          <p:cNvPr id="4" name="Slide Number Placeholder 3">
            <a:extLst>
              <a:ext uri="{FF2B5EF4-FFF2-40B4-BE49-F238E27FC236}">
                <a16:creationId xmlns:a16="http://schemas.microsoft.com/office/drawing/2014/main" id="{5AE7E348-4B7C-DDC1-EB03-A69619DA6F0E}"/>
              </a:ext>
            </a:extLst>
          </p:cNvPr>
          <p:cNvSpPr>
            <a:spLocks noGrp="1"/>
          </p:cNvSpPr>
          <p:nvPr>
            <p:ph type="sldNum" sz="quarter" idx="12"/>
          </p:nvPr>
        </p:nvSpPr>
        <p:spPr/>
        <p:txBody>
          <a:bodyPr/>
          <a:lstStyle/>
          <a:p>
            <a:fld id="{A71D4CCC-BB3A-4D93-86F3-16B4E3CF782A}" type="slidenum">
              <a:rPr lang="en-US" smtClean="0"/>
              <a:t>39</a:t>
            </a:fld>
            <a:endParaRPr lang="en-US"/>
          </a:p>
        </p:txBody>
      </p:sp>
      <p:sp>
        <p:nvSpPr>
          <p:cNvPr id="5" name="Footer Placeholder 4">
            <a:extLst>
              <a:ext uri="{FF2B5EF4-FFF2-40B4-BE49-F238E27FC236}">
                <a16:creationId xmlns:a16="http://schemas.microsoft.com/office/drawing/2014/main" id="{8ECC75AF-5A36-72BD-26C5-90104E49C319}"/>
              </a:ext>
            </a:extLst>
          </p:cNvPr>
          <p:cNvSpPr>
            <a:spLocks noGrp="1"/>
          </p:cNvSpPr>
          <p:nvPr>
            <p:ph type="ftr" sz="quarter" idx="11"/>
          </p:nvPr>
        </p:nvSpPr>
        <p:spPr/>
        <p:txBody>
          <a:bodyPr/>
          <a:lstStyle/>
          <a:p>
            <a:r>
              <a:rPr lang="zh-CN" altLang="en-US" dirty="0"/>
              <a:t>科学研究方法</a:t>
            </a:r>
            <a:endParaRPr lang="en-US" dirty="0"/>
          </a:p>
        </p:txBody>
      </p:sp>
      <p:sp>
        <p:nvSpPr>
          <p:cNvPr id="7" name="Subtitle 6">
            <a:extLst>
              <a:ext uri="{FF2B5EF4-FFF2-40B4-BE49-F238E27FC236}">
                <a16:creationId xmlns:a16="http://schemas.microsoft.com/office/drawing/2014/main" id="{39163D48-5FF7-B62E-DDD7-449E6A9AB2F9}"/>
              </a:ext>
            </a:extLst>
          </p:cNvPr>
          <p:cNvSpPr>
            <a:spLocks noGrp="1"/>
          </p:cNvSpPr>
          <p:nvPr>
            <p:ph type="subTitle" idx="1"/>
          </p:nvPr>
        </p:nvSpPr>
        <p:spPr/>
        <p:txBody>
          <a:bodyPr/>
          <a:lstStyle/>
          <a:p>
            <a:endParaRPr lang="en-US"/>
          </a:p>
        </p:txBody>
      </p:sp>
      <p:pic>
        <p:nvPicPr>
          <p:cNvPr id="3" name="Picture 2" descr="How to improve the Q&amp;A Session at Your Next Event">
            <a:extLst>
              <a:ext uri="{FF2B5EF4-FFF2-40B4-BE49-F238E27FC236}">
                <a16:creationId xmlns:a16="http://schemas.microsoft.com/office/drawing/2014/main" id="{77BFAAEF-E060-2E80-9986-94B0078FDDF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2038" b="14118"/>
          <a:stretch>
            <a:fillRect/>
          </a:stretch>
        </p:blipFill>
        <p:spPr bwMode="auto">
          <a:xfrm>
            <a:off x="3370607" y="3555746"/>
            <a:ext cx="4782793" cy="2442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98955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FA223-C990-4837-B48D-24A16C300ECD}"/>
              </a:ext>
            </a:extLst>
          </p:cNvPr>
          <p:cNvSpPr>
            <a:spLocks noGrp="1"/>
          </p:cNvSpPr>
          <p:nvPr>
            <p:ph type="title"/>
          </p:nvPr>
        </p:nvSpPr>
        <p:spPr/>
        <p:txBody>
          <a:bodyPr/>
          <a:lstStyle/>
          <a:p>
            <a:r>
              <a:rPr lang="en-US" b="1" dirty="0" err="1"/>
              <a:t>Hỏi</a:t>
            </a:r>
            <a:r>
              <a:rPr lang="en-US" b="1" dirty="0"/>
              <a:t> - </a:t>
            </a:r>
            <a:r>
              <a:rPr lang="en-US" b="1" dirty="0" err="1"/>
              <a:t>Đáp</a:t>
            </a:r>
            <a:r>
              <a:rPr lang="en-US" b="1" dirty="0"/>
              <a:t> (Q&amp;A) – </a:t>
            </a:r>
            <a:r>
              <a:rPr lang="en-US" b="1" dirty="0" err="1"/>
              <a:t>Về</a:t>
            </a:r>
            <a:r>
              <a:rPr lang="en-US" b="1" dirty="0"/>
              <a:t> </a:t>
            </a:r>
            <a:r>
              <a:rPr lang="en-US" b="1" dirty="0" err="1"/>
              <a:t>đề</a:t>
            </a:r>
            <a:r>
              <a:rPr lang="en-US" b="1" dirty="0"/>
              <a:t> </a:t>
            </a:r>
            <a:r>
              <a:rPr lang="en-US" b="1" dirty="0" err="1"/>
              <a:t>tài</a:t>
            </a:r>
            <a:endParaRPr lang="en-US" dirty="0"/>
          </a:p>
        </p:txBody>
      </p:sp>
      <p:sp>
        <p:nvSpPr>
          <p:cNvPr id="3" name="Content Placeholder 2">
            <a:extLst>
              <a:ext uri="{FF2B5EF4-FFF2-40B4-BE49-F238E27FC236}">
                <a16:creationId xmlns:a16="http://schemas.microsoft.com/office/drawing/2014/main" id="{57FAF2B0-C8EC-B790-B4B2-E4A088F7E3AC}"/>
              </a:ext>
            </a:extLst>
          </p:cNvPr>
          <p:cNvSpPr>
            <a:spLocks noGrp="1"/>
          </p:cNvSpPr>
          <p:nvPr>
            <p:ph idx="1"/>
          </p:nvPr>
        </p:nvSpPr>
        <p:spPr/>
        <p:txBody>
          <a:bodyPr>
            <a:normAutofit/>
          </a:bodyPr>
          <a:lstStyle/>
          <a:p>
            <a:r>
              <a:rPr lang="vi-VN" b="1" dirty="0"/>
              <a:t>Hỏi:</a:t>
            </a:r>
            <a:r>
              <a:rPr lang="vi-VN" dirty="0"/>
              <a:t> </a:t>
            </a:r>
            <a:r>
              <a:rPr lang="vi-VN" i="1" dirty="0"/>
              <a:t>Em có được đổi đề tài khác với bài tập quá trình không?</a:t>
            </a:r>
            <a:endParaRPr lang="vi-VN" dirty="0"/>
          </a:p>
          <a:p>
            <a:pPr lvl="1"/>
            <a:r>
              <a:rPr lang="vi-VN" b="1" dirty="0"/>
              <a:t>Đáp:</a:t>
            </a:r>
            <a:r>
              <a:rPr lang="vi-VN" dirty="0"/>
              <a:t> Được phép. Tuy nhiên, nên tận dụng đề tài đã làm trong các bài tập tuần để đỡ tốn thời gian làm lại từ đầu.</a:t>
            </a:r>
          </a:p>
          <a:p>
            <a:r>
              <a:rPr lang="vi-VN" b="1" dirty="0"/>
              <a:t>Hỏi:</a:t>
            </a:r>
            <a:r>
              <a:rPr lang="vi-VN" dirty="0"/>
              <a:t> </a:t>
            </a:r>
            <a:r>
              <a:rPr lang="vi-VN" i="1" dirty="0"/>
              <a:t>Đề tài của em phạm vi rộng (cả Việt Nam) có được không?</a:t>
            </a:r>
            <a:endParaRPr lang="vi-VN" dirty="0"/>
          </a:p>
          <a:p>
            <a:pPr lvl="1"/>
            <a:r>
              <a:rPr lang="vi-VN" b="1" dirty="0"/>
              <a:t>Đáp:</a:t>
            </a:r>
            <a:r>
              <a:rPr lang="vi-VN" dirty="0"/>
              <a:t> Không nên. Đây là bài tiểu luận môn học, nên thu hẹp phạm vi (ví dụ: tại 1 trường ĐH, tại 1 trung tâm, hoặc 1 nhóm đối tượng cụ thể) để đảm bảo tính khả thi.</a:t>
            </a:r>
          </a:p>
        </p:txBody>
      </p:sp>
      <p:sp>
        <p:nvSpPr>
          <p:cNvPr id="4" name="Footer Placeholder 3">
            <a:extLst>
              <a:ext uri="{FF2B5EF4-FFF2-40B4-BE49-F238E27FC236}">
                <a16:creationId xmlns:a16="http://schemas.microsoft.com/office/drawing/2014/main" id="{01D97856-8902-BAA4-A68B-357D932B381F}"/>
              </a:ext>
            </a:extLst>
          </p:cNvPr>
          <p:cNvSpPr>
            <a:spLocks noGrp="1"/>
          </p:cNvSpPr>
          <p:nvPr>
            <p:ph type="ftr" sz="quarter" idx="11"/>
          </p:nvPr>
        </p:nvSpPr>
        <p:spPr/>
        <p:txBody>
          <a:bodyPr/>
          <a:lstStyle/>
          <a:p>
            <a:r>
              <a:rPr lang="zh-CN" altLang="en-US" dirty="0"/>
              <a:t>科学研究方法</a:t>
            </a:r>
            <a:endParaRPr lang="en-US" dirty="0"/>
          </a:p>
        </p:txBody>
      </p:sp>
      <p:sp>
        <p:nvSpPr>
          <p:cNvPr id="5" name="Slide Number Placeholder 4">
            <a:extLst>
              <a:ext uri="{FF2B5EF4-FFF2-40B4-BE49-F238E27FC236}">
                <a16:creationId xmlns:a16="http://schemas.microsoft.com/office/drawing/2014/main" id="{4F6B1A7E-C553-19C3-33C8-8E8A4B7A6EA7}"/>
              </a:ext>
            </a:extLst>
          </p:cNvPr>
          <p:cNvSpPr>
            <a:spLocks noGrp="1"/>
          </p:cNvSpPr>
          <p:nvPr>
            <p:ph type="sldNum" sz="quarter" idx="12"/>
          </p:nvPr>
        </p:nvSpPr>
        <p:spPr/>
        <p:txBody>
          <a:bodyPr/>
          <a:lstStyle/>
          <a:p>
            <a:fld id="{A71D4CCC-BB3A-4D93-86F3-16B4E3CF782A}" type="slidenum">
              <a:rPr lang="en-US" smtClean="0"/>
              <a:t>40</a:t>
            </a:fld>
            <a:endParaRPr lang="en-US"/>
          </a:p>
        </p:txBody>
      </p:sp>
    </p:spTree>
    <p:extLst>
      <p:ext uri="{BB962C8B-B14F-4D97-AF65-F5344CB8AC3E}">
        <p14:creationId xmlns:p14="http://schemas.microsoft.com/office/powerpoint/2010/main" val="34554944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CC941-D166-E5B7-316E-C744217FC1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147B19-6AB9-1ED6-C255-71829609B717}"/>
              </a:ext>
            </a:extLst>
          </p:cNvPr>
          <p:cNvSpPr>
            <a:spLocks noGrp="1"/>
          </p:cNvSpPr>
          <p:nvPr>
            <p:ph type="title"/>
          </p:nvPr>
        </p:nvSpPr>
        <p:spPr/>
        <p:txBody>
          <a:bodyPr/>
          <a:lstStyle/>
          <a:p>
            <a:r>
              <a:rPr lang="en-US" b="1" dirty="0" err="1"/>
              <a:t>Hỏi</a:t>
            </a:r>
            <a:r>
              <a:rPr lang="en-US" b="1" dirty="0"/>
              <a:t> - </a:t>
            </a:r>
            <a:r>
              <a:rPr lang="en-US" b="1" dirty="0" err="1"/>
              <a:t>Đáp</a:t>
            </a:r>
            <a:r>
              <a:rPr lang="en-US" b="1" dirty="0"/>
              <a:t> Q&amp;A - </a:t>
            </a:r>
            <a:r>
              <a:rPr lang="en-US" b="1" dirty="0" err="1"/>
              <a:t>Về</a:t>
            </a:r>
            <a:r>
              <a:rPr lang="en-US" b="1" dirty="0"/>
              <a:t> </a:t>
            </a:r>
            <a:r>
              <a:rPr lang="en-US" b="1" dirty="0" err="1"/>
              <a:t>Nội</a:t>
            </a:r>
            <a:r>
              <a:rPr lang="en-US" b="1" dirty="0"/>
              <a:t> dung &amp; Phương </a:t>
            </a:r>
            <a:r>
              <a:rPr lang="en-US" b="1" dirty="0" err="1"/>
              <a:t>pháp</a:t>
            </a:r>
            <a:endParaRPr lang="en-US" dirty="0"/>
          </a:p>
        </p:txBody>
      </p:sp>
      <p:sp>
        <p:nvSpPr>
          <p:cNvPr id="3" name="Content Placeholder 2">
            <a:extLst>
              <a:ext uri="{FF2B5EF4-FFF2-40B4-BE49-F238E27FC236}">
                <a16:creationId xmlns:a16="http://schemas.microsoft.com/office/drawing/2014/main" id="{42DFD863-74B0-C957-CC9A-6027972CAE57}"/>
              </a:ext>
            </a:extLst>
          </p:cNvPr>
          <p:cNvSpPr>
            <a:spLocks noGrp="1"/>
          </p:cNvSpPr>
          <p:nvPr>
            <p:ph idx="1"/>
          </p:nvPr>
        </p:nvSpPr>
        <p:spPr/>
        <p:txBody>
          <a:bodyPr>
            <a:normAutofit/>
          </a:bodyPr>
          <a:lstStyle/>
          <a:p>
            <a:r>
              <a:rPr lang="vi-VN" b="1" dirty="0"/>
              <a:t>Hỏi:</a:t>
            </a:r>
            <a:r>
              <a:rPr lang="vi-VN" dirty="0"/>
              <a:t> </a:t>
            </a:r>
            <a:r>
              <a:rPr lang="vi-VN" i="1" dirty="0"/>
              <a:t>Em có cần đi phát phiếu khảo sát thật để lấy số liệu không?</a:t>
            </a:r>
            <a:endParaRPr lang="vi-VN" dirty="0"/>
          </a:p>
          <a:p>
            <a:pPr lvl="1"/>
            <a:r>
              <a:rPr lang="vi-VN" b="1" dirty="0"/>
              <a:t>Đáp:</a:t>
            </a:r>
            <a:r>
              <a:rPr lang="vi-VN" dirty="0"/>
              <a:t> </a:t>
            </a:r>
            <a:r>
              <a:rPr lang="vi-VN" b="1" dirty="0"/>
              <a:t>KHÔNG BẮT BUỘC</a:t>
            </a:r>
            <a:r>
              <a:rPr lang="vi-VN" dirty="0"/>
              <a:t>. Yêu cầu của bài là "Đề cương nghiên cứu" (Kế hoạch). Bạn chỉ cần mô tả cách bạn </a:t>
            </a:r>
            <a:r>
              <a:rPr lang="vi-VN" i="1" dirty="0"/>
              <a:t>dự định</a:t>
            </a:r>
            <a:r>
              <a:rPr lang="vi-VN" dirty="0"/>
              <a:t> lấy số liệu. Tuy nhiên, nếu bạn có số liệu thử nghiệm (Pilot test) thì sẽ được điểm cộng.</a:t>
            </a:r>
          </a:p>
          <a:p>
            <a:r>
              <a:rPr lang="vi-VN" b="1" dirty="0"/>
              <a:t>Hỏi:</a:t>
            </a:r>
            <a:r>
              <a:rPr lang="vi-VN" dirty="0"/>
              <a:t> </a:t>
            </a:r>
            <a:r>
              <a:rPr lang="vi-VN" i="1" dirty="0"/>
              <a:t>Em viết bài bằng tiếng Việt hay tiếng Trung?</a:t>
            </a:r>
            <a:endParaRPr lang="vi-VN" dirty="0"/>
          </a:p>
          <a:p>
            <a:pPr lvl="1"/>
            <a:r>
              <a:rPr lang="vi-VN" b="1" dirty="0"/>
              <a:t>Đáp:</a:t>
            </a:r>
            <a:r>
              <a:rPr lang="vi-VN" dirty="0"/>
              <a:t> Viết bằng </a:t>
            </a:r>
            <a:r>
              <a:rPr lang="vi-VN" b="1" dirty="0"/>
              <a:t>Tiếng Việt</a:t>
            </a:r>
            <a:r>
              <a:rPr lang="vi-VN" dirty="0"/>
              <a:t>. Các thuật ngữ chuyên ngành hoặc ví dụ tiếng Trung cần có chú thích/phiên âm rõ ràng. (Trừ khi có quy định riêng của Khoa yêu cầu viết bằng tiếng Trung).</a:t>
            </a:r>
          </a:p>
        </p:txBody>
      </p:sp>
      <p:sp>
        <p:nvSpPr>
          <p:cNvPr id="4" name="Footer Placeholder 3">
            <a:extLst>
              <a:ext uri="{FF2B5EF4-FFF2-40B4-BE49-F238E27FC236}">
                <a16:creationId xmlns:a16="http://schemas.microsoft.com/office/drawing/2014/main" id="{159A1713-BB5D-328E-F8C8-A3FA6772759C}"/>
              </a:ext>
            </a:extLst>
          </p:cNvPr>
          <p:cNvSpPr>
            <a:spLocks noGrp="1"/>
          </p:cNvSpPr>
          <p:nvPr>
            <p:ph type="ftr" sz="quarter" idx="11"/>
          </p:nvPr>
        </p:nvSpPr>
        <p:spPr/>
        <p:txBody>
          <a:bodyPr/>
          <a:lstStyle/>
          <a:p>
            <a:r>
              <a:rPr lang="zh-CN" altLang="en-US" dirty="0"/>
              <a:t>科学研究方法</a:t>
            </a:r>
            <a:endParaRPr lang="en-US" dirty="0"/>
          </a:p>
        </p:txBody>
      </p:sp>
      <p:sp>
        <p:nvSpPr>
          <p:cNvPr id="5" name="Slide Number Placeholder 4">
            <a:extLst>
              <a:ext uri="{FF2B5EF4-FFF2-40B4-BE49-F238E27FC236}">
                <a16:creationId xmlns:a16="http://schemas.microsoft.com/office/drawing/2014/main" id="{64101CC4-3ABF-58FB-EC3A-48AF75BD729C}"/>
              </a:ext>
            </a:extLst>
          </p:cNvPr>
          <p:cNvSpPr>
            <a:spLocks noGrp="1"/>
          </p:cNvSpPr>
          <p:nvPr>
            <p:ph type="sldNum" sz="quarter" idx="12"/>
          </p:nvPr>
        </p:nvSpPr>
        <p:spPr/>
        <p:txBody>
          <a:bodyPr/>
          <a:lstStyle/>
          <a:p>
            <a:fld id="{A71D4CCC-BB3A-4D93-86F3-16B4E3CF782A}" type="slidenum">
              <a:rPr lang="en-US" smtClean="0"/>
              <a:t>41</a:t>
            </a:fld>
            <a:endParaRPr lang="en-US"/>
          </a:p>
        </p:txBody>
      </p:sp>
    </p:spTree>
    <p:extLst>
      <p:ext uri="{BB962C8B-B14F-4D97-AF65-F5344CB8AC3E}">
        <p14:creationId xmlns:p14="http://schemas.microsoft.com/office/powerpoint/2010/main" val="39748734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4655C-1B0E-A3EE-EB3E-BA964CDBBC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DF9648-4627-C1DD-6DFF-39241A0DC7F0}"/>
              </a:ext>
            </a:extLst>
          </p:cNvPr>
          <p:cNvSpPr>
            <a:spLocks noGrp="1"/>
          </p:cNvSpPr>
          <p:nvPr>
            <p:ph type="title"/>
          </p:nvPr>
        </p:nvSpPr>
        <p:spPr/>
        <p:txBody>
          <a:bodyPr/>
          <a:lstStyle/>
          <a:p>
            <a:r>
              <a:rPr lang="en-US" b="1" dirty="0" err="1"/>
              <a:t>Hỏi</a:t>
            </a:r>
            <a:r>
              <a:rPr lang="en-US" b="1" dirty="0"/>
              <a:t> - </a:t>
            </a:r>
            <a:r>
              <a:rPr lang="en-US" b="1" dirty="0" err="1"/>
              <a:t>Đáp</a:t>
            </a:r>
            <a:r>
              <a:rPr lang="en-US" b="1" dirty="0"/>
              <a:t> Q&amp;A - </a:t>
            </a:r>
            <a:r>
              <a:rPr lang="en-US" b="1" dirty="0" err="1"/>
              <a:t>Về</a:t>
            </a:r>
            <a:r>
              <a:rPr lang="en-US" b="1" dirty="0"/>
              <a:t> Tài </a:t>
            </a:r>
            <a:r>
              <a:rPr lang="en-US" b="1" dirty="0" err="1"/>
              <a:t>liệu</a:t>
            </a:r>
            <a:r>
              <a:rPr lang="en-US" b="1" dirty="0"/>
              <a:t> &amp; </a:t>
            </a:r>
            <a:r>
              <a:rPr lang="en-US" b="1" dirty="0" err="1"/>
              <a:t>Đạo</a:t>
            </a:r>
            <a:r>
              <a:rPr lang="en-US" b="1" dirty="0"/>
              <a:t> </a:t>
            </a:r>
            <a:r>
              <a:rPr lang="en-US" b="1" dirty="0" err="1"/>
              <a:t>văn</a:t>
            </a:r>
            <a:endParaRPr lang="en-US" dirty="0"/>
          </a:p>
        </p:txBody>
      </p:sp>
      <p:sp>
        <p:nvSpPr>
          <p:cNvPr id="3" name="Content Placeholder 2">
            <a:extLst>
              <a:ext uri="{FF2B5EF4-FFF2-40B4-BE49-F238E27FC236}">
                <a16:creationId xmlns:a16="http://schemas.microsoft.com/office/drawing/2014/main" id="{0CA04776-35E1-C2FA-9B51-47D59CE7159F}"/>
              </a:ext>
            </a:extLst>
          </p:cNvPr>
          <p:cNvSpPr>
            <a:spLocks noGrp="1"/>
          </p:cNvSpPr>
          <p:nvPr>
            <p:ph idx="1"/>
          </p:nvPr>
        </p:nvSpPr>
        <p:spPr/>
        <p:txBody>
          <a:bodyPr>
            <a:normAutofit/>
          </a:bodyPr>
          <a:lstStyle/>
          <a:p>
            <a:r>
              <a:rPr lang="vi-VN" b="1" dirty="0"/>
              <a:t>Hỏi:</a:t>
            </a:r>
            <a:r>
              <a:rPr lang="vi-VN" dirty="0"/>
              <a:t> </a:t>
            </a:r>
            <a:r>
              <a:rPr lang="vi-VN" i="1" dirty="0"/>
              <a:t>Em lấy tài liệu trên Baidu/Wikipedia được không?</a:t>
            </a:r>
            <a:endParaRPr lang="vi-VN" dirty="0"/>
          </a:p>
          <a:p>
            <a:pPr lvl="1"/>
            <a:r>
              <a:rPr lang="vi-VN" b="1" dirty="0"/>
              <a:t>Đáp:</a:t>
            </a:r>
            <a:r>
              <a:rPr lang="vi-VN" dirty="0"/>
              <a:t> Hạn chế. Nên dùng Google Scholar, CNKI (nếu biết tiếng Trung), sách giáo trình, bài báo khoa học. Wikipedia chỉ để tham khảo khái niệm, không dùng làm tài liệu trích dẫn chính thức.</a:t>
            </a:r>
          </a:p>
          <a:p>
            <a:r>
              <a:rPr lang="vi-VN" b="1" dirty="0"/>
              <a:t>Hỏi:</a:t>
            </a:r>
            <a:r>
              <a:rPr lang="vi-VN" dirty="0"/>
              <a:t> </a:t>
            </a:r>
            <a:r>
              <a:rPr lang="vi-VN" i="1" dirty="0"/>
              <a:t>Thế nào là đạo văn?</a:t>
            </a:r>
            <a:endParaRPr lang="vi-VN" dirty="0"/>
          </a:p>
          <a:p>
            <a:pPr lvl="1"/>
            <a:r>
              <a:rPr lang="vi-VN" b="1" dirty="0"/>
              <a:t>Đáp:</a:t>
            </a:r>
            <a:r>
              <a:rPr lang="vi-VN" dirty="0"/>
              <a:t> Sao chép nguyên văn quá 30% (hoặc theo quy định trường) mà không trích dẫn. Copy bài của khóa trước. Copy bài trên mạng rồi đổi tên. -&gt; </a:t>
            </a:r>
            <a:r>
              <a:rPr lang="vi-VN" b="1" dirty="0"/>
              <a:t>Hậu quả: 0 điểm.</a:t>
            </a:r>
            <a:endParaRPr lang="vi-VN" dirty="0"/>
          </a:p>
        </p:txBody>
      </p:sp>
      <p:sp>
        <p:nvSpPr>
          <p:cNvPr id="4" name="Footer Placeholder 3">
            <a:extLst>
              <a:ext uri="{FF2B5EF4-FFF2-40B4-BE49-F238E27FC236}">
                <a16:creationId xmlns:a16="http://schemas.microsoft.com/office/drawing/2014/main" id="{E88AE859-0CC3-9734-241F-D9134450CAD7}"/>
              </a:ext>
            </a:extLst>
          </p:cNvPr>
          <p:cNvSpPr>
            <a:spLocks noGrp="1"/>
          </p:cNvSpPr>
          <p:nvPr>
            <p:ph type="ftr" sz="quarter" idx="11"/>
          </p:nvPr>
        </p:nvSpPr>
        <p:spPr/>
        <p:txBody>
          <a:bodyPr/>
          <a:lstStyle/>
          <a:p>
            <a:r>
              <a:rPr lang="zh-CN" altLang="en-US" dirty="0"/>
              <a:t>科学研究方法</a:t>
            </a:r>
            <a:endParaRPr lang="en-US" dirty="0"/>
          </a:p>
        </p:txBody>
      </p:sp>
      <p:sp>
        <p:nvSpPr>
          <p:cNvPr id="5" name="Slide Number Placeholder 4">
            <a:extLst>
              <a:ext uri="{FF2B5EF4-FFF2-40B4-BE49-F238E27FC236}">
                <a16:creationId xmlns:a16="http://schemas.microsoft.com/office/drawing/2014/main" id="{97EF2443-10EC-E058-4B2E-3FFF0B326B7E}"/>
              </a:ext>
            </a:extLst>
          </p:cNvPr>
          <p:cNvSpPr>
            <a:spLocks noGrp="1"/>
          </p:cNvSpPr>
          <p:nvPr>
            <p:ph type="sldNum" sz="quarter" idx="12"/>
          </p:nvPr>
        </p:nvSpPr>
        <p:spPr/>
        <p:txBody>
          <a:bodyPr/>
          <a:lstStyle/>
          <a:p>
            <a:fld id="{A71D4CCC-BB3A-4D93-86F3-16B4E3CF782A}" type="slidenum">
              <a:rPr lang="en-US" smtClean="0"/>
              <a:t>42</a:t>
            </a:fld>
            <a:endParaRPr lang="en-US"/>
          </a:p>
        </p:txBody>
      </p:sp>
    </p:spTree>
    <p:extLst>
      <p:ext uri="{BB962C8B-B14F-4D97-AF65-F5344CB8AC3E}">
        <p14:creationId xmlns:p14="http://schemas.microsoft.com/office/powerpoint/2010/main" val="6067166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746FA-58B5-1FF1-283F-499062736105}"/>
              </a:ext>
            </a:extLst>
          </p:cNvPr>
          <p:cNvSpPr>
            <a:spLocks noGrp="1"/>
          </p:cNvSpPr>
          <p:nvPr>
            <p:ph type="title"/>
          </p:nvPr>
        </p:nvSpPr>
        <p:spPr/>
        <p:txBody>
          <a:bodyPr/>
          <a:lstStyle/>
          <a:p>
            <a:r>
              <a:rPr lang="en-US" b="1" dirty="0" err="1"/>
              <a:t>Lời</a:t>
            </a:r>
            <a:r>
              <a:rPr lang="en-US" b="1" dirty="0"/>
              <a:t> </a:t>
            </a:r>
            <a:r>
              <a:rPr lang="en-US" b="1" dirty="0" err="1"/>
              <a:t>khuyên</a:t>
            </a:r>
            <a:r>
              <a:rPr lang="en-US" b="1" dirty="0"/>
              <a:t> </a:t>
            </a:r>
            <a:r>
              <a:rPr lang="en-US" b="1" dirty="0" err="1"/>
              <a:t>của</a:t>
            </a:r>
            <a:r>
              <a:rPr lang="en-US" b="1" dirty="0"/>
              <a:t> </a:t>
            </a:r>
            <a:r>
              <a:rPr lang="en-US" b="1" dirty="0" err="1"/>
              <a:t>giảng</a:t>
            </a:r>
            <a:r>
              <a:rPr lang="en-US" b="1" dirty="0"/>
              <a:t> </a:t>
            </a:r>
            <a:r>
              <a:rPr lang="en-US" b="1" dirty="0" err="1"/>
              <a:t>viên</a:t>
            </a:r>
            <a:endParaRPr lang="en-US" dirty="0"/>
          </a:p>
        </p:txBody>
      </p:sp>
      <p:sp>
        <p:nvSpPr>
          <p:cNvPr id="4" name="Footer Placeholder 3">
            <a:extLst>
              <a:ext uri="{FF2B5EF4-FFF2-40B4-BE49-F238E27FC236}">
                <a16:creationId xmlns:a16="http://schemas.microsoft.com/office/drawing/2014/main" id="{1AB88967-5431-89E5-8D76-C7B77E87C83C}"/>
              </a:ext>
            </a:extLst>
          </p:cNvPr>
          <p:cNvSpPr>
            <a:spLocks noGrp="1"/>
          </p:cNvSpPr>
          <p:nvPr>
            <p:ph type="ftr" sz="quarter" idx="11"/>
          </p:nvPr>
        </p:nvSpPr>
        <p:spPr/>
        <p:txBody>
          <a:bodyPr/>
          <a:lstStyle/>
          <a:p>
            <a:r>
              <a:rPr lang="zh-CN" altLang="en-US" dirty="0"/>
              <a:t>科学研究方法</a:t>
            </a:r>
            <a:endParaRPr lang="en-US" dirty="0"/>
          </a:p>
        </p:txBody>
      </p:sp>
      <p:sp>
        <p:nvSpPr>
          <p:cNvPr id="5" name="Slide Number Placeholder 4">
            <a:extLst>
              <a:ext uri="{FF2B5EF4-FFF2-40B4-BE49-F238E27FC236}">
                <a16:creationId xmlns:a16="http://schemas.microsoft.com/office/drawing/2014/main" id="{CE7C86BF-E306-1B0E-EEA9-1C912F5C34F6}"/>
              </a:ext>
            </a:extLst>
          </p:cNvPr>
          <p:cNvSpPr>
            <a:spLocks noGrp="1"/>
          </p:cNvSpPr>
          <p:nvPr>
            <p:ph type="sldNum" sz="quarter" idx="12"/>
          </p:nvPr>
        </p:nvSpPr>
        <p:spPr/>
        <p:txBody>
          <a:bodyPr/>
          <a:lstStyle/>
          <a:p>
            <a:fld id="{A71D4CCC-BB3A-4D93-86F3-16B4E3CF782A}" type="slidenum">
              <a:rPr lang="en-US" smtClean="0"/>
              <a:t>43</a:t>
            </a:fld>
            <a:endParaRPr lang="en-US"/>
          </a:p>
        </p:txBody>
      </p:sp>
      <p:pic>
        <p:nvPicPr>
          <p:cNvPr id="6" name="Picture 5">
            <a:extLst>
              <a:ext uri="{FF2B5EF4-FFF2-40B4-BE49-F238E27FC236}">
                <a16:creationId xmlns:a16="http://schemas.microsoft.com/office/drawing/2014/main" id="{72F50DD8-3140-C563-CBCE-352EF96FB3B7}"/>
              </a:ext>
            </a:extLst>
          </p:cNvPr>
          <p:cNvPicPr>
            <a:picLocks noChangeAspect="1"/>
          </p:cNvPicPr>
          <p:nvPr/>
        </p:nvPicPr>
        <p:blipFill>
          <a:blip r:embed="rId2">
            <a:extLst>
              <a:ext uri="{28A0092B-C50C-407E-A947-70E740481C1C}">
                <a14:useLocalDpi xmlns:a14="http://schemas.microsoft.com/office/drawing/2010/main" val="0"/>
              </a:ext>
            </a:extLst>
          </a:blip>
          <a:srcRect r="84922"/>
          <a:stretch>
            <a:fillRect/>
          </a:stretch>
        </p:blipFill>
        <p:spPr>
          <a:xfrm>
            <a:off x="10719780" y="5059680"/>
            <a:ext cx="1231628" cy="1060166"/>
          </a:xfrm>
          <a:prstGeom prst="rect">
            <a:avLst/>
          </a:prstGeom>
        </p:spPr>
      </p:pic>
      <p:sp>
        <p:nvSpPr>
          <p:cNvPr id="3" name="Content Placeholder 2">
            <a:extLst>
              <a:ext uri="{FF2B5EF4-FFF2-40B4-BE49-F238E27FC236}">
                <a16:creationId xmlns:a16="http://schemas.microsoft.com/office/drawing/2014/main" id="{59C32FCA-B0A9-E317-E38D-AEEF017EB1BD}"/>
              </a:ext>
            </a:extLst>
          </p:cNvPr>
          <p:cNvSpPr>
            <a:spLocks noGrp="1"/>
          </p:cNvSpPr>
          <p:nvPr>
            <p:ph idx="1"/>
          </p:nvPr>
        </p:nvSpPr>
        <p:spPr/>
        <p:txBody>
          <a:bodyPr/>
          <a:lstStyle/>
          <a:p>
            <a:r>
              <a:rPr lang="vi-VN" dirty="0"/>
              <a:t>Hãy chọn đề tài vừa sức, thực tế.</a:t>
            </a:r>
          </a:p>
          <a:p>
            <a:r>
              <a:rPr lang="vi-VN" dirty="0"/>
              <a:t>Dành thời gian đọc tài liệu tham khảo kỹ lưỡng.</a:t>
            </a:r>
          </a:p>
          <a:p>
            <a:r>
              <a:rPr lang="vi-VN" dirty="0"/>
              <a:t>Viết đề cương là bước tập dượt cho Khóa luận tốt nghiệp sau này.</a:t>
            </a:r>
          </a:p>
        </p:txBody>
      </p:sp>
    </p:spTree>
    <p:extLst>
      <p:ext uri="{BB962C8B-B14F-4D97-AF65-F5344CB8AC3E}">
        <p14:creationId xmlns:p14="http://schemas.microsoft.com/office/powerpoint/2010/main" val="4154949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A56AA-E768-E3CE-9E7F-AEF0472132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D5772D-BB35-6173-CD31-16C61E31746C}"/>
              </a:ext>
            </a:extLst>
          </p:cNvPr>
          <p:cNvSpPr>
            <a:spLocks noGrp="1"/>
          </p:cNvSpPr>
          <p:nvPr>
            <p:ph type="title"/>
          </p:nvPr>
        </p:nvSpPr>
        <p:spPr/>
        <p:txBody>
          <a:bodyPr/>
          <a:lstStyle/>
          <a:p>
            <a:r>
              <a:rPr lang="en-US" b="1" dirty="0"/>
              <a:t>Tips </a:t>
            </a:r>
            <a:r>
              <a:rPr lang="en-US" b="1" dirty="0" err="1"/>
              <a:t>để</a:t>
            </a:r>
            <a:r>
              <a:rPr lang="en-US" b="1" dirty="0"/>
              <a:t> </a:t>
            </a:r>
            <a:r>
              <a:rPr lang="en-US" b="1" dirty="0" err="1"/>
              <a:t>đạt</a:t>
            </a:r>
            <a:r>
              <a:rPr lang="en-US" b="1" dirty="0"/>
              <a:t> </a:t>
            </a:r>
            <a:r>
              <a:rPr lang="en-US" b="1" dirty="0" err="1"/>
              <a:t>điểm</a:t>
            </a:r>
            <a:r>
              <a:rPr lang="en-US" b="1" dirty="0"/>
              <a:t> A</a:t>
            </a:r>
            <a:endParaRPr lang="en-US" dirty="0"/>
          </a:p>
        </p:txBody>
      </p:sp>
      <p:sp>
        <p:nvSpPr>
          <p:cNvPr id="4" name="Footer Placeholder 3">
            <a:extLst>
              <a:ext uri="{FF2B5EF4-FFF2-40B4-BE49-F238E27FC236}">
                <a16:creationId xmlns:a16="http://schemas.microsoft.com/office/drawing/2014/main" id="{41BE1136-A7C2-2E2B-C5CB-35F4892E8AFA}"/>
              </a:ext>
            </a:extLst>
          </p:cNvPr>
          <p:cNvSpPr>
            <a:spLocks noGrp="1"/>
          </p:cNvSpPr>
          <p:nvPr>
            <p:ph type="ftr" sz="quarter" idx="11"/>
          </p:nvPr>
        </p:nvSpPr>
        <p:spPr/>
        <p:txBody>
          <a:bodyPr/>
          <a:lstStyle/>
          <a:p>
            <a:r>
              <a:rPr lang="zh-CN" altLang="en-US" dirty="0"/>
              <a:t>科学研究方法</a:t>
            </a:r>
            <a:endParaRPr lang="en-US" dirty="0"/>
          </a:p>
        </p:txBody>
      </p:sp>
      <p:sp>
        <p:nvSpPr>
          <p:cNvPr id="5" name="Slide Number Placeholder 4">
            <a:extLst>
              <a:ext uri="{FF2B5EF4-FFF2-40B4-BE49-F238E27FC236}">
                <a16:creationId xmlns:a16="http://schemas.microsoft.com/office/drawing/2014/main" id="{6046997E-49BC-BAC9-8EA5-D32A0DCB9E9E}"/>
              </a:ext>
            </a:extLst>
          </p:cNvPr>
          <p:cNvSpPr>
            <a:spLocks noGrp="1"/>
          </p:cNvSpPr>
          <p:nvPr>
            <p:ph type="sldNum" sz="quarter" idx="12"/>
          </p:nvPr>
        </p:nvSpPr>
        <p:spPr/>
        <p:txBody>
          <a:bodyPr/>
          <a:lstStyle/>
          <a:p>
            <a:fld id="{A71D4CCC-BB3A-4D93-86F3-16B4E3CF782A}" type="slidenum">
              <a:rPr lang="en-US" smtClean="0"/>
              <a:t>44</a:t>
            </a:fld>
            <a:endParaRPr lang="en-US"/>
          </a:p>
        </p:txBody>
      </p:sp>
      <p:pic>
        <p:nvPicPr>
          <p:cNvPr id="6" name="Picture 5">
            <a:extLst>
              <a:ext uri="{FF2B5EF4-FFF2-40B4-BE49-F238E27FC236}">
                <a16:creationId xmlns:a16="http://schemas.microsoft.com/office/drawing/2014/main" id="{46245A10-A117-E947-A741-05DD71D973CD}"/>
              </a:ext>
            </a:extLst>
          </p:cNvPr>
          <p:cNvPicPr>
            <a:picLocks noChangeAspect="1"/>
          </p:cNvPicPr>
          <p:nvPr/>
        </p:nvPicPr>
        <p:blipFill>
          <a:blip r:embed="rId2">
            <a:extLst>
              <a:ext uri="{28A0092B-C50C-407E-A947-70E740481C1C}">
                <a14:useLocalDpi xmlns:a14="http://schemas.microsoft.com/office/drawing/2010/main" val="0"/>
              </a:ext>
            </a:extLst>
          </a:blip>
          <a:srcRect r="84922"/>
          <a:stretch>
            <a:fillRect/>
          </a:stretch>
        </p:blipFill>
        <p:spPr>
          <a:xfrm>
            <a:off x="10719780" y="5059680"/>
            <a:ext cx="1231628" cy="1060166"/>
          </a:xfrm>
          <a:prstGeom prst="rect">
            <a:avLst/>
          </a:prstGeom>
        </p:spPr>
      </p:pic>
      <p:sp>
        <p:nvSpPr>
          <p:cNvPr id="3" name="Content Placeholder 2">
            <a:extLst>
              <a:ext uri="{FF2B5EF4-FFF2-40B4-BE49-F238E27FC236}">
                <a16:creationId xmlns:a16="http://schemas.microsoft.com/office/drawing/2014/main" id="{8AFF235A-7171-7C7F-5F8D-6D44D572868B}"/>
              </a:ext>
            </a:extLst>
          </p:cNvPr>
          <p:cNvSpPr>
            <a:spLocks noGrp="1"/>
          </p:cNvSpPr>
          <p:nvPr>
            <p:ph idx="1"/>
          </p:nvPr>
        </p:nvSpPr>
        <p:spPr/>
        <p:txBody>
          <a:bodyPr/>
          <a:lstStyle/>
          <a:p>
            <a:r>
              <a:rPr lang="en-US" b="1" dirty="0" err="1"/>
              <a:t>Tính</a:t>
            </a:r>
            <a:r>
              <a:rPr lang="en-US" b="1" dirty="0"/>
              <a:t> logic:</a:t>
            </a:r>
            <a:r>
              <a:rPr lang="en-US" dirty="0"/>
              <a:t> </a:t>
            </a:r>
            <a:r>
              <a:rPr lang="en-US" dirty="0" err="1"/>
              <a:t>Câu</a:t>
            </a:r>
            <a:r>
              <a:rPr lang="en-US" dirty="0"/>
              <a:t> </a:t>
            </a:r>
            <a:r>
              <a:rPr lang="en-US" dirty="0" err="1"/>
              <a:t>hỏi</a:t>
            </a:r>
            <a:r>
              <a:rPr lang="en-US" dirty="0"/>
              <a:t> </a:t>
            </a:r>
            <a:r>
              <a:rPr lang="en-US" dirty="0" err="1"/>
              <a:t>nghiên</a:t>
            </a:r>
            <a:r>
              <a:rPr lang="en-US" dirty="0"/>
              <a:t> </a:t>
            </a:r>
            <a:r>
              <a:rPr lang="en-US" dirty="0" err="1"/>
              <a:t>cứu</a:t>
            </a:r>
            <a:r>
              <a:rPr lang="en-US" dirty="0"/>
              <a:t> </a:t>
            </a:r>
            <a:r>
              <a:rPr lang="en-US" dirty="0" err="1"/>
              <a:t>là</a:t>
            </a:r>
            <a:r>
              <a:rPr lang="en-US" dirty="0"/>
              <a:t> A </a:t>
            </a:r>
            <a:r>
              <a:rPr lang="en-US" dirty="0" err="1"/>
              <a:t>thì</a:t>
            </a:r>
            <a:r>
              <a:rPr lang="en-US" dirty="0"/>
              <a:t> </a:t>
            </a:r>
            <a:r>
              <a:rPr lang="en-US" dirty="0" err="1"/>
              <a:t>Mục</a:t>
            </a:r>
            <a:r>
              <a:rPr lang="en-US" dirty="0"/>
              <a:t> </a:t>
            </a:r>
            <a:r>
              <a:rPr lang="en-US" dirty="0" err="1"/>
              <a:t>tiêu</a:t>
            </a:r>
            <a:r>
              <a:rPr lang="en-US" dirty="0"/>
              <a:t> </a:t>
            </a:r>
            <a:r>
              <a:rPr lang="en-US" dirty="0" err="1"/>
              <a:t>phải</a:t>
            </a:r>
            <a:r>
              <a:rPr lang="en-US" dirty="0"/>
              <a:t> </a:t>
            </a:r>
            <a:r>
              <a:rPr lang="en-US" dirty="0" err="1"/>
              <a:t>là</a:t>
            </a:r>
            <a:r>
              <a:rPr lang="en-US" dirty="0"/>
              <a:t> </a:t>
            </a:r>
            <a:r>
              <a:rPr lang="en-US" dirty="0" err="1"/>
              <a:t>giải</a:t>
            </a:r>
            <a:r>
              <a:rPr lang="en-US" dirty="0"/>
              <a:t> </a:t>
            </a:r>
            <a:r>
              <a:rPr lang="en-US" dirty="0" err="1"/>
              <a:t>quyết</a:t>
            </a:r>
            <a:r>
              <a:rPr lang="en-US" dirty="0"/>
              <a:t> A, </a:t>
            </a:r>
            <a:r>
              <a:rPr lang="en-US" dirty="0" err="1"/>
              <a:t>và</a:t>
            </a:r>
            <a:r>
              <a:rPr lang="en-US" dirty="0"/>
              <a:t> </a:t>
            </a:r>
            <a:r>
              <a:rPr lang="en-US" dirty="0" err="1"/>
              <a:t>Kết</a:t>
            </a:r>
            <a:r>
              <a:rPr lang="en-US" dirty="0"/>
              <a:t> </a:t>
            </a:r>
            <a:r>
              <a:rPr lang="en-US" dirty="0" err="1"/>
              <a:t>luận</a:t>
            </a:r>
            <a:r>
              <a:rPr lang="en-US" dirty="0"/>
              <a:t> </a:t>
            </a:r>
            <a:r>
              <a:rPr lang="en-US" dirty="0" err="1"/>
              <a:t>phải</a:t>
            </a:r>
            <a:r>
              <a:rPr lang="en-US" dirty="0"/>
              <a:t> </a:t>
            </a:r>
            <a:r>
              <a:rPr lang="en-US" dirty="0" err="1"/>
              <a:t>trả</a:t>
            </a:r>
            <a:r>
              <a:rPr lang="en-US" dirty="0"/>
              <a:t> </a:t>
            </a:r>
            <a:r>
              <a:rPr lang="en-US" dirty="0" err="1"/>
              <a:t>lời</a:t>
            </a:r>
            <a:r>
              <a:rPr lang="en-US" dirty="0"/>
              <a:t> </a:t>
            </a:r>
            <a:r>
              <a:rPr lang="en-US" dirty="0" err="1"/>
              <a:t>cho</a:t>
            </a:r>
            <a:r>
              <a:rPr lang="en-US" dirty="0"/>
              <a:t> A. </a:t>
            </a:r>
            <a:r>
              <a:rPr lang="en-US" dirty="0" err="1"/>
              <a:t>Đừng</a:t>
            </a:r>
            <a:r>
              <a:rPr lang="en-US" dirty="0"/>
              <a:t> "</a:t>
            </a:r>
            <a:r>
              <a:rPr lang="en-US" dirty="0" err="1"/>
              <a:t>Râu</a:t>
            </a:r>
            <a:r>
              <a:rPr lang="en-US" dirty="0"/>
              <a:t> </a:t>
            </a:r>
            <a:r>
              <a:rPr lang="en-US" dirty="0" err="1"/>
              <a:t>ông</a:t>
            </a:r>
            <a:r>
              <a:rPr lang="en-US" dirty="0"/>
              <a:t> </a:t>
            </a:r>
            <a:r>
              <a:rPr lang="en-US" dirty="0" err="1"/>
              <a:t>nọ</a:t>
            </a:r>
            <a:r>
              <a:rPr lang="en-US" dirty="0"/>
              <a:t> </a:t>
            </a:r>
            <a:r>
              <a:rPr lang="en-US" dirty="0" err="1"/>
              <a:t>cắm</a:t>
            </a:r>
            <a:r>
              <a:rPr lang="en-US" dirty="0"/>
              <a:t> </a:t>
            </a:r>
            <a:r>
              <a:rPr lang="en-US" dirty="0" err="1"/>
              <a:t>cằm</a:t>
            </a:r>
            <a:r>
              <a:rPr lang="en-US" dirty="0"/>
              <a:t> </a:t>
            </a:r>
            <a:r>
              <a:rPr lang="en-US" dirty="0" err="1"/>
              <a:t>bà</a:t>
            </a:r>
            <a:r>
              <a:rPr lang="en-US" dirty="0"/>
              <a:t> kia".</a:t>
            </a:r>
          </a:p>
          <a:p>
            <a:r>
              <a:rPr lang="en-US" b="1" dirty="0" err="1"/>
              <a:t>Trích</a:t>
            </a:r>
            <a:r>
              <a:rPr lang="en-US" b="1" dirty="0"/>
              <a:t> </a:t>
            </a:r>
            <a:r>
              <a:rPr lang="en-US" b="1" dirty="0" err="1"/>
              <a:t>dẫn</a:t>
            </a:r>
            <a:r>
              <a:rPr lang="en-US" b="1" dirty="0"/>
              <a:t> </a:t>
            </a:r>
            <a:r>
              <a:rPr lang="en-US" b="1" dirty="0" err="1"/>
              <a:t>đẹp</a:t>
            </a:r>
            <a:r>
              <a:rPr lang="en-US" b="1" dirty="0"/>
              <a:t>:</a:t>
            </a:r>
            <a:r>
              <a:rPr lang="en-US" dirty="0"/>
              <a:t> </a:t>
            </a:r>
            <a:r>
              <a:rPr lang="en-US" dirty="0" err="1"/>
              <a:t>Một</a:t>
            </a:r>
            <a:r>
              <a:rPr lang="en-US" dirty="0"/>
              <a:t> </a:t>
            </a:r>
            <a:r>
              <a:rPr lang="en-US" dirty="0" err="1"/>
              <a:t>bài</a:t>
            </a:r>
            <a:r>
              <a:rPr lang="en-US" dirty="0"/>
              <a:t> </a:t>
            </a:r>
            <a:r>
              <a:rPr lang="en-US" dirty="0" err="1"/>
              <a:t>làm</a:t>
            </a:r>
            <a:r>
              <a:rPr lang="en-US" dirty="0"/>
              <a:t> </a:t>
            </a:r>
            <a:r>
              <a:rPr lang="en-US" dirty="0" err="1"/>
              <a:t>có</a:t>
            </a:r>
            <a:r>
              <a:rPr lang="en-US" dirty="0"/>
              <a:t> </a:t>
            </a:r>
            <a:r>
              <a:rPr lang="en-US" dirty="0" err="1"/>
              <a:t>danh</a:t>
            </a:r>
            <a:r>
              <a:rPr lang="en-US" dirty="0"/>
              <a:t> </a:t>
            </a:r>
            <a:r>
              <a:rPr lang="en-US" dirty="0" err="1"/>
              <a:t>mục</a:t>
            </a:r>
            <a:r>
              <a:rPr lang="en-US" dirty="0"/>
              <a:t> </a:t>
            </a:r>
            <a:r>
              <a:rPr lang="en-US" dirty="0" err="1"/>
              <a:t>tham</a:t>
            </a:r>
            <a:r>
              <a:rPr lang="en-US" dirty="0"/>
              <a:t> </a:t>
            </a:r>
            <a:r>
              <a:rPr lang="en-US" dirty="0" err="1"/>
              <a:t>khảo</a:t>
            </a:r>
            <a:r>
              <a:rPr lang="en-US" dirty="0"/>
              <a:t> </a:t>
            </a:r>
            <a:r>
              <a:rPr lang="en-US" dirty="0" err="1"/>
              <a:t>phong</a:t>
            </a:r>
            <a:r>
              <a:rPr lang="en-US" dirty="0"/>
              <a:t> </a:t>
            </a:r>
            <a:r>
              <a:rPr lang="en-US" dirty="0" err="1"/>
              <a:t>phú</a:t>
            </a:r>
            <a:r>
              <a:rPr lang="en-US" dirty="0"/>
              <a:t>, </a:t>
            </a:r>
            <a:r>
              <a:rPr lang="en-US" dirty="0" err="1"/>
              <a:t>trích</a:t>
            </a:r>
            <a:r>
              <a:rPr lang="en-US" dirty="0"/>
              <a:t> </a:t>
            </a:r>
            <a:r>
              <a:rPr lang="en-US" dirty="0" err="1"/>
              <a:t>dẫn</a:t>
            </a:r>
            <a:r>
              <a:rPr lang="en-US" dirty="0"/>
              <a:t> </a:t>
            </a:r>
            <a:r>
              <a:rPr lang="en-US" dirty="0" err="1"/>
              <a:t>chuẩn</a:t>
            </a:r>
            <a:r>
              <a:rPr lang="en-US" dirty="0"/>
              <a:t> APA/IEEE </a:t>
            </a:r>
            <a:r>
              <a:rPr lang="en-US" dirty="0" err="1"/>
              <a:t>luôn</a:t>
            </a:r>
            <a:r>
              <a:rPr lang="en-US" dirty="0"/>
              <a:t> </a:t>
            </a:r>
            <a:r>
              <a:rPr lang="en-US" dirty="0" err="1"/>
              <a:t>tạo</a:t>
            </a:r>
            <a:r>
              <a:rPr lang="en-US" dirty="0"/>
              <a:t> </a:t>
            </a:r>
            <a:r>
              <a:rPr lang="en-US" dirty="0" err="1"/>
              <a:t>thiện</a:t>
            </a:r>
            <a:r>
              <a:rPr lang="en-US" dirty="0"/>
              <a:t> </a:t>
            </a:r>
            <a:r>
              <a:rPr lang="en-US" dirty="0" err="1"/>
              <a:t>cảm</a:t>
            </a:r>
            <a:r>
              <a:rPr lang="en-US" dirty="0"/>
              <a:t> </a:t>
            </a:r>
            <a:r>
              <a:rPr lang="en-US" dirty="0" err="1"/>
              <a:t>lớn</a:t>
            </a:r>
            <a:r>
              <a:rPr lang="en-US" dirty="0"/>
              <a:t> </a:t>
            </a:r>
            <a:r>
              <a:rPr lang="en-US" dirty="0" err="1"/>
              <a:t>cho</a:t>
            </a:r>
            <a:r>
              <a:rPr lang="en-US" dirty="0"/>
              <a:t> </a:t>
            </a:r>
            <a:r>
              <a:rPr lang="en-US" dirty="0" err="1"/>
              <a:t>giảng</a:t>
            </a:r>
            <a:r>
              <a:rPr lang="en-US" dirty="0"/>
              <a:t> </a:t>
            </a:r>
            <a:r>
              <a:rPr lang="en-US" dirty="0" err="1"/>
              <a:t>viên</a:t>
            </a:r>
            <a:r>
              <a:rPr lang="en-US" dirty="0"/>
              <a:t>.</a:t>
            </a:r>
          </a:p>
          <a:p>
            <a:r>
              <a:rPr lang="en-US" b="1" dirty="0" err="1"/>
              <a:t>Hình</a:t>
            </a:r>
            <a:r>
              <a:rPr lang="en-US" b="1" dirty="0"/>
              <a:t> </a:t>
            </a:r>
            <a:r>
              <a:rPr lang="en-US" b="1" dirty="0" err="1"/>
              <a:t>thức</a:t>
            </a:r>
            <a:r>
              <a:rPr lang="en-US" b="1" dirty="0"/>
              <a:t> </a:t>
            </a:r>
            <a:r>
              <a:rPr lang="en-US" b="1" dirty="0" err="1"/>
              <a:t>chỉn</a:t>
            </a:r>
            <a:r>
              <a:rPr lang="en-US" b="1" dirty="0"/>
              <a:t> chu:</a:t>
            </a:r>
            <a:r>
              <a:rPr lang="en-US" dirty="0"/>
              <a:t> </a:t>
            </a:r>
            <a:r>
              <a:rPr lang="en-US" dirty="0" err="1"/>
              <a:t>Mục</a:t>
            </a:r>
            <a:r>
              <a:rPr lang="en-US" dirty="0"/>
              <a:t> </a:t>
            </a:r>
            <a:r>
              <a:rPr lang="en-US" dirty="0" err="1"/>
              <a:t>lục</a:t>
            </a:r>
            <a:r>
              <a:rPr lang="en-US" dirty="0"/>
              <a:t> </a:t>
            </a:r>
            <a:r>
              <a:rPr lang="en-US" dirty="0" err="1"/>
              <a:t>tự</a:t>
            </a:r>
            <a:r>
              <a:rPr lang="en-US" dirty="0"/>
              <a:t> </a:t>
            </a:r>
            <a:r>
              <a:rPr lang="en-US" dirty="0" err="1"/>
              <a:t>động</a:t>
            </a:r>
            <a:r>
              <a:rPr lang="en-US" dirty="0"/>
              <a:t>, </a:t>
            </a:r>
            <a:r>
              <a:rPr lang="en-US" dirty="0" err="1"/>
              <a:t>canh</a:t>
            </a:r>
            <a:r>
              <a:rPr lang="en-US" dirty="0"/>
              <a:t> </a:t>
            </a:r>
            <a:r>
              <a:rPr lang="en-US" dirty="0" err="1"/>
              <a:t>lề</a:t>
            </a:r>
            <a:r>
              <a:rPr lang="en-US" dirty="0"/>
              <a:t> </a:t>
            </a:r>
            <a:r>
              <a:rPr lang="en-US" dirty="0" err="1"/>
              <a:t>thẳng</a:t>
            </a:r>
            <a:r>
              <a:rPr lang="en-US" dirty="0"/>
              <a:t> </a:t>
            </a:r>
            <a:r>
              <a:rPr lang="en-US" dirty="0" err="1"/>
              <a:t>thớm</a:t>
            </a:r>
            <a:r>
              <a:rPr lang="en-US" dirty="0"/>
              <a:t>, </a:t>
            </a:r>
            <a:r>
              <a:rPr lang="en-US" dirty="0" err="1"/>
              <a:t>không</a:t>
            </a:r>
            <a:r>
              <a:rPr lang="en-US" dirty="0"/>
              <a:t> </a:t>
            </a:r>
            <a:r>
              <a:rPr lang="en-US" dirty="0" err="1"/>
              <a:t>lỗi</a:t>
            </a:r>
            <a:r>
              <a:rPr lang="en-US" dirty="0"/>
              <a:t> font.</a:t>
            </a:r>
          </a:p>
        </p:txBody>
      </p:sp>
    </p:spTree>
    <p:extLst>
      <p:ext uri="{BB962C8B-B14F-4D97-AF65-F5344CB8AC3E}">
        <p14:creationId xmlns:p14="http://schemas.microsoft.com/office/powerpoint/2010/main" val="14552918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EDEB0-3701-5FF7-D126-30C80424D6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CC9B2E-87E3-1A67-4CA1-2891E7305E2E}"/>
              </a:ext>
            </a:extLst>
          </p:cNvPr>
          <p:cNvSpPr>
            <a:spLocks noGrp="1"/>
          </p:cNvSpPr>
          <p:nvPr>
            <p:ph type="title"/>
          </p:nvPr>
        </p:nvSpPr>
        <p:spPr/>
        <p:txBody>
          <a:bodyPr/>
          <a:lstStyle/>
          <a:p>
            <a:r>
              <a:rPr lang="vi-VN" b="1" dirty="0"/>
              <a:t>Lời cảm ơn &amp; Tạm biệt</a:t>
            </a:r>
            <a:endParaRPr lang="en-US" dirty="0"/>
          </a:p>
        </p:txBody>
      </p:sp>
      <p:sp>
        <p:nvSpPr>
          <p:cNvPr id="3" name="Content Placeholder 2">
            <a:extLst>
              <a:ext uri="{FF2B5EF4-FFF2-40B4-BE49-F238E27FC236}">
                <a16:creationId xmlns:a16="http://schemas.microsoft.com/office/drawing/2014/main" id="{67A1BC15-0C21-CF61-F970-EDEFC0C9875D}"/>
              </a:ext>
            </a:extLst>
          </p:cNvPr>
          <p:cNvSpPr>
            <a:spLocks noGrp="1"/>
          </p:cNvSpPr>
          <p:nvPr>
            <p:ph idx="1"/>
          </p:nvPr>
        </p:nvSpPr>
        <p:spPr/>
        <p:txBody>
          <a:bodyPr>
            <a:normAutofit/>
          </a:bodyPr>
          <a:lstStyle/>
          <a:p>
            <a:r>
              <a:rPr lang="vi-VN" dirty="0"/>
              <a:t>Cảm ơn các bạn đã đồng hành trong môn học.</a:t>
            </a:r>
          </a:p>
          <a:p>
            <a:r>
              <a:rPr lang="vi-VN" dirty="0"/>
              <a:t>Chúc các bạn hoàn thành bài cuối kỳ xuất sắc.</a:t>
            </a:r>
          </a:p>
          <a:p>
            <a:r>
              <a:rPr lang="vi-VN" dirty="0"/>
              <a:t>Thông tin liên hệ hỗ trợ (Email/Zalo) trong giai đoạn làm bài cuối kỳ.</a:t>
            </a:r>
          </a:p>
        </p:txBody>
      </p:sp>
      <p:sp>
        <p:nvSpPr>
          <p:cNvPr id="4" name="Footer Placeholder 3">
            <a:extLst>
              <a:ext uri="{FF2B5EF4-FFF2-40B4-BE49-F238E27FC236}">
                <a16:creationId xmlns:a16="http://schemas.microsoft.com/office/drawing/2014/main" id="{4704BD99-4358-DAB8-A2E4-2085718189F8}"/>
              </a:ext>
            </a:extLst>
          </p:cNvPr>
          <p:cNvSpPr>
            <a:spLocks noGrp="1"/>
          </p:cNvSpPr>
          <p:nvPr>
            <p:ph type="ftr" sz="quarter" idx="11"/>
          </p:nvPr>
        </p:nvSpPr>
        <p:spPr/>
        <p:txBody>
          <a:bodyPr/>
          <a:lstStyle/>
          <a:p>
            <a:r>
              <a:rPr lang="zh-CN" altLang="en-US" dirty="0"/>
              <a:t>科学研究方法</a:t>
            </a:r>
            <a:endParaRPr lang="en-US" dirty="0"/>
          </a:p>
        </p:txBody>
      </p:sp>
      <p:sp>
        <p:nvSpPr>
          <p:cNvPr id="5" name="Slide Number Placeholder 4">
            <a:extLst>
              <a:ext uri="{FF2B5EF4-FFF2-40B4-BE49-F238E27FC236}">
                <a16:creationId xmlns:a16="http://schemas.microsoft.com/office/drawing/2014/main" id="{98DECAB8-590C-6D3E-A106-78C1C50E668F}"/>
              </a:ext>
            </a:extLst>
          </p:cNvPr>
          <p:cNvSpPr>
            <a:spLocks noGrp="1"/>
          </p:cNvSpPr>
          <p:nvPr>
            <p:ph type="sldNum" sz="quarter" idx="12"/>
          </p:nvPr>
        </p:nvSpPr>
        <p:spPr/>
        <p:txBody>
          <a:bodyPr/>
          <a:lstStyle/>
          <a:p>
            <a:fld id="{A71D4CCC-BB3A-4D93-86F3-16B4E3CF782A}" type="slidenum">
              <a:rPr lang="en-US" smtClean="0"/>
              <a:t>45</a:t>
            </a:fld>
            <a:endParaRPr lang="en-US"/>
          </a:p>
        </p:txBody>
      </p:sp>
    </p:spTree>
    <p:extLst>
      <p:ext uri="{BB962C8B-B14F-4D97-AF65-F5344CB8AC3E}">
        <p14:creationId xmlns:p14="http://schemas.microsoft.com/office/powerpoint/2010/main" val="2177193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chemeClr val="bg1">
              <a:lumMod val="50000"/>
            </a:schemeClr>
          </a:solidFill>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3000" dirty="0" err="1" smtClean="0">
            <a:latin typeface="Candara" panose="020E0502030303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7093</TotalTime>
  <Words>3326</Words>
  <Application>Microsoft Office PowerPoint</Application>
  <PresentationFormat>Widescreen</PresentationFormat>
  <Paragraphs>306</Paragraphs>
  <Slides>45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BR Omega</vt:lpstr>
      <vt:lpstr>Inter</vt:lpstr>
      <vt:lpstr>Arial</vt:lpstr>
      <vt:lpstr>Calibri</vt:lpstr>
      <vt:lpstr>Candara</vt:lpstr>
      <vt:lpstr>Courier New</vt:lpstr>
      <vt:lpstr>Office Theme</vt:lpstr>
      <vt:lpstr>VIDEO CONFERENCE 2 – 31.Jan.2026 PHƯƠNG PHÁP NGHIÊN CỨU KHOA HỌC</vt:lpstr>
      <vt:lpstr>PHỤ TRÁCH HỌC PHẦN</vt:lpstr>
      <vt:lpstr>Nội dung chính</vt:lpstr>
      <vt:lpstr>Kiểm tra tiến độ học tập</vt:lpstr>
      <vt:lpstr>Phần 1 CHƯƠNG 7</vt:lpstr>
      <vt:lpstr>Giới thiệu Chương 7</vt:lpstr>
      <vt:lpstr>7.1. Khái niệm về Chọn mẫu</vt:lpstr>
      <vt:lpstr>Các phương pháp chọn mẫu phổ biến</vt:lpstr>
      <vt:lpstr>7.2. Xử lý dữ liệu (Data Processing)</vt:lpstr>
      <vt:lpstr>Phân tích thống kê mô tả (Descriptive Statistics)</vt:lpstr>
      <vt:lpstr> 7.3. Phân tích định tính (Qualitative Analysis)</vt:lpstr>
      <vt:lpstr>Khi nào dùng nghiên cứu định tính?</vt:lpstr>
      <vt:lpstr>Tổng kết Chương 7</vt:lpstr>
      <vt:lpstr>Phần 2 ÔN TẬP TOÀN KHÓA</vt:lpstr>
      <vt:lpstr>Tổng quát</vt:lpstr>
      <vt:lpstr>Ôn tập Chương 1 &amp; 2 (Xác định vấn đề)</vt:lpstr>
      <vt:lpstr>Ôn tập Chương 3 (Đề cương &amp; Đạo đức)</vt:lpstr>
      <vt:lpstr>Ôn tập Chương 4 &amp; 5 (Lý thuyết &amp; Trích dẫn)</vt:lpstr>
      <vt:lpstr>Ôn tập Chương 6 (Phương pháp nghiên cứu)</vt:lpstr>
      <vt:lpstr>Mối liên hệ giữa các chương</vt:lpstr>
      <vt:lpstr>Phần 3 HƯỚNG DẪN BÀI CUỐI KỲ</vt:lpstr>
      <vt:lpstr>Tổng quan Bài cuối kỳ</vt:lpstr>
      <vt:lpstr>Giới thiệu bài đánh giá cuối kỳ</vt:lpstr>
      <vt:lpstr>Yêu cầu về Đề tài</vt:lpstr>
      <vt:lpstr>Cấu trúc bài Tiểu luận (Đề cương nghiên cứu)</vt:lpstr>
      <vt:lpstr>Cấu trúc của Đề cương nghiên cứu (Phần 1)</vt:lpstr>
      <vt:lpstr>Cấu trúc của Đề cương nghiên cứu (Phần 2)</vt:lpstr>
      <vt:lpstr>Phương pháp nghiên cứu &amp; Kế hoạch</vt:lpstr>
      <vt:lpstr>Trích dẫn và Tài liệu tham khảo</vt:lpstr>
      <vt:lpstr>Hình thức trình bày (Format)</vt:lpstr>
      <vt:lpstr>Ví dụ đề tài tham khảo (Gợi ý)</vt:lpstr>
      <vt:lpstr>Lĩnh vực Ngôn ngữ học (Linguistics):</vt:lpstr>
      <vt:lpstr>Lĩnh vực Giáo dục &amp; Giảng dạy (Education):</vt:lpstr>
      <vt:lpstr>Lĩnh vực Văn hóa (Culture):</vt:lpstr>
      <vt:lpstr>Tiêu chí đánh giá bài tiểu luận</vt:lpstr>
      <vt:lpstr>Tiêu chí chấm điểm (Rubric)</vt:lpstr>
      <vt:lpstr>Các lỗi "chết người" cần tránh</vt:lpstr>
      <vt:lpstr>Cách nộp bài</vt:lpstr>
      <vt:lpstr>Phần 4 Hỏi đáp (Q&amp;A)</vt:lpstr>
      <vt:lpstr>Hỏi - Đáp (Q&amp;A) – Về đề tài</vt:lpstr>
      <vt:lpstr>Hỏi - Đáp Q&amp;A - Về Nội dung &amp; Phương pháp</vt:lpstr>
      <vt:lpstr>Hỏi - Đáp Q&amp;A - Về Tài liệu &amp; Đạo văn</vt:lpstr>
      <vt:lpstr>Lời khuyên của giảng viên</vt:lpstr>
      <vt:lpstr>Tips để đạt điểm A</vt:lpstr>
      <vt:lpstr>Lời cảm ơn &amp; Tạm biệt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Lập trình C  GIỚI THIỆU NGÔN NGỮ LẬP TRÌNH C</dc:title>
  <dc:creator>Binh Nguyen</dc:creator>
  <cp:lastModifiedBy>Hao Lee</cp:lastModifiedBy>
  <cp:revision>185</cp:revision>
  <dcterms:created xsi:type="dcterms:W3CDTF">2020-10-20T08:42:30Z</dcterms:created>
  <dcterms:modified xsi:type="dcterms:W3CDTF">2026-01-31T11:38:46Z</dcterms:modified>
</cp:coreProperties>
</file>