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86" r:id="rId3"/>
    <p:sldId id="281" r:id="rId4"/>
    <p:sldId id="285" r:id="rId5"/>
    <p:sldId id="288" r:id="rId6"/>
    <p:sldId id="287" r:id="rId7"/>
    <p:sldId id="289" r:id="rId8"/>
    <p:sldId id="283" r:id="rId9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70" autoAdjust="0"/>
  </p:normalViewPr>
  <p:slideViewPr>
    <p:cSldViewPr>
      <p:cViewPr varScale="1">
        <p:scale>
          <a:sx n="60" d="100"/>
          <a:sy n="60" d="100"/>
        </p:scale>
        <p:origin x="37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B135B5-ED3D-43F2-AEFC-9635F298410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E5EA5F-E678-4EBB-AB88-99211146B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10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E5EA5F-E678-4EBB-AB88-99211146B6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60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800" b="1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08516" y="1984375"/>
            <a:ext cx="171450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9688" y="1978486"/>
            <a:ext cx="16968622" cy="52851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emf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lnhieu@hcmute.edu.vn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rcid.org/0000-0002-1133-1433" TargetMode="External"/><Relationship Id="rId5" Type="http://schemas.openxmlformats.org/officeDocument/2006/relationships/hyperlink" Target="https://www.researchgate.net/profile/Hieu-Le-24" TargetMode="Externa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emf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lnhieu@hcmute.edu.vn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rcid.org/0000-0002-1133-1433" TargetMode="External"/><Relationship Id="rId5" Type="http://schemas.openxmlformats.org/officeDocument/2006/relationships/hyperlink" Target="https://www.researchgate.net/profile/Hieu-Le-24" TargetMode="Externa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emf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lnhieu@hcmute.edu.vn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rcid.org/0000-0002-1133-1433" TargetMode="External"/><Relationship Id="rId5" Type="http://schemas.openxmlformats.org/officeDocument/2006/relationships/hyperlink" Target="https://www.researchgate.net/profile/Hieu-Le-24" TargetMode="Externa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D4E2E48-4209-588C-F56D-6E719ACB0F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6" r="40512"/>
          <a:stretch/>
        </p:blipFill>
        <p:spPr>
          <a:xfrm>
            <a:off x="11811000" y="0"/>
            <a:ext cx="6504623" cy="1035181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85810" y="7145091"/>
            <a:ext cx="776795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ctr">
              <a:spcBef>
                <a:spcPts val="100"/>
              </a:spcBef>
            </a:pPr>
            <a:r>
              <a:rPr lang="en-US" sz="3600" spc="-85" dirty="0">
                <a:solidFill>
                  <a:srgbClr val="404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Mr. Lê </a:t>
            </a:r>
            <a:r>
              <a:rPr lang="en-US" sz="3600" spc="-85" dirty="0" err="1">
                <a:solidFill>
                  <a:srgbClr val="404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Ngọc</a:t>
            </a:r>
            <a:r>
              <a:rPr lang="en-US" sz="3600" spc="-85" dirty="0">
                <a:solidFill>
                  <a:srgbClr val="404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600" spc="-85" dirty="0" err="1">
                <a:solidFill>
                  <a:srgbClr val="40404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Hiếu</a:t>
            </a:r>
            <a:endParaRPr lang="en-US" sz="3200" i="1" spc="-5" dirty="0">
              <a:solidFill>
                <a:srgbClr val="404040"/>
              </a:solidFill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85CE16-9852-EF3C-0527-511BD274B5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487" y="1310079"/>
            <a:ext cx="4038600" cy="163379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F5C583F-9ED5-3125-C70A-BD9C9B550D0C}"/>
              </a:ext>
            </a:extLst>
          </p:cNvPr>
          <p:cNvSpPr txBox="1"/>
          <p:nvPr/>
        </p:nvSpPr>
        <p:spPr>
          <a:xfrm>
            <a:off x="-15240" y="4544116"/>
            <a:ext cx="11811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spc="210" dirty="0">
                <a:latin typeface="Arial" panose="020B0604020202020204" pitchFamily="34" charset="0"/>
                <a:cs typeface="Arial" panose="020B0604020202020204" pitchFamily="34" charset="0"/>
              </a:rPr>
              <a:t>GIỚI THIỆU VỀ</a:t>
            </a:r>
            <a:endParaRPr lang="en-US" sz="4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41F6ED-99B9-4743-CDB7-6D74DA4749F0}"/>
              </a:ext>
            </a:extLst>
          </p:cNvPr>
          <p:cNvSpPr txBox="1"/>
          <p:nvPr/>
        </p:nvSpPr>
        <p:spPr>
          <a:xfrm>
            <a:off x="21272" y="5365848"/>
            <a:ext cx="1177448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spc="210" dirty="0">
                <a:latin typeface="Arial" panose="020B0604020202020204" pitchFamily="34" charset="0"/>
                <a:cs typeface="Arial" panose="020B0604020202020204" pitchFamily="34" charset="0"/>
              </a:rPr>
              <a:t>GIẢNG VIÊN</a:t>
            </a:r>
            <a:endParaRPr lang="en-US" sz="6600" dirty="0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A7197068-76CE-8354-9D05-38B3D1B6C272}"/>
              </a:ext>
            </a:extLst>
          </p:cNvPr>
          <p:cNvSpPr txBox="1"/>
          <p:nvPr/>
        </p:nvSpPr>
        <p:spPr>
          <a:xfrm>
            <a:off x="2316290" y="8656320"/>
            <a:ext cx="77679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ctr">
              <a:spcBef>
                <a:spcPts val="100"/>
              </a:spcBef>
            </a:pPr>
            <a:r>
              <a:rPr lang="en-US" sz="2000" spc="-85" dirty="0">
                <a:solidFill>
                  <a:srgbClr val="40404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Thành </a:t>
            </a:r>
            <a:r>
              <a:rPr lang="en-US" sz="2000" spc="-85" dirty="0" err="1">
                <a:solidFill>
                  <a:srgbClr val="40404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phố</a:t>
            </a:r>
            <a:r>
              <a:rPr lang="en-US" sz="2000" spc="-85" dirty="0">
                <a:solidFill>
                  <a:srgbClr val="40404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2000" spc="-85" dirty="0" err="1">
                <a:solidFill>
                  <a:srgbClr val="40404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Hồ</a:t>
            </a:r>
            <a:r>
              <a:rPr lang="en-US" sz="2000" spc="-85" dirty="0">
                <a:solidFill>
                  <a:srgbClr val="40404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Chí Minh</a:t>
            </a:r>
            <a:r>
              <a:rPr lang="en-US" sz="2000" spc="-85">
                <a:solidFill>
                  <a:srgbClr val="40404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 2025</a:t>
            </a:r>
            <a:endParaRPr lang="en-US" spc="-5" dirty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034"/>
    </mc:Choice>
    <mc:Fallback xmlns="">
      <p:transition spd="slow" advTm="3103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6945079-137D-712D-EBD2-CC5C4A33F4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84790"/>
            <a:ext cx="18288000" cy="112565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27E63E-369B-6DC8-8039-4934E9881CED}"/>
              </a:ext>
            </a:extLst>
          </p:cNvPr>
          <p:cNvSpPr txBox="1"/>
          <p:nvPr/>
        </p:nvSpPr>
        <p:spPr>
          <a:xfrm>
            <a:off x="8077200" y="1615440"/>
            <a:ext cx="81534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4000" b="1" spc="-100" dirty="0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TS. Lê </a:t>
            </a:r>
            <a:r>
              <a:rPr lang="en-US" sz="4000" b="1" spc="-100" dirty="0" err="1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Ngọc</a:t>
            </a:r>
            <a:r>
              <a:rPr lang="en-US" sz="4000" b="1" spc="-100" dirty="0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4000" b="1" spc="-100" dirty="0" err="1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Hiếu</a:t>
            </a:r>
            <a:endParaRPr lang="en-US" sz="4000" spc="-100" dirty="0">
              <a:solidFill>
                <a:srgbClr val="0070C0"/>
              </a:solidFill>
              <a:latin typeface="BR Omega" pitchFamily="2" charset="77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Vai </a:t>
            </a:r>
            <a:r>
              <a:rPr lang="en-US" sz="3600" b="1" spc="-100" dirty="0" err="1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trò</a:t>
            </a: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3600" b="1" spc="-100" dirty="0" err="1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công</a:t>
            </a: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3600" b="1" spc="-100" dirty="0" err="1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việc</a:t>
            </a: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: </a:t>
            </a:r>
            <a:r>
              <a:rPr lang="vi-VN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Quản lý dự án cấp cao / Nghiên cứu viên / Giảng viên</a:t>
            </a:r>
            <a:endParaRPr lang="en-US" sz="3600" spc="-100" dirty="0">
              <a:solidFill>
                <a:srgbClr val="FF0000"/>
              </a:solidFill>
              <a:latin typeface="BR Omega" pitchFamily="2" charset="77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3600" b="1" spc="-100" dirty="0" err="1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Lĩnh</a:t>
            </a: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3600" b="1" spc="-100" dirty="0" err="1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vực</a:t>
            </a: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3600" b="1" spc="-100" dirty="0" err="1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công</a:t>
            </a: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3600" b="1" spc="-100" dirty="0" err="1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việc</a:t>
            </a: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: </a:t>
            </a:r>
            <a:r>
              <a:rPr lang="en-US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ERP + HRM / </a:t>
            </a:r>
            <a:r>
              <a:rPr lang="en-US" sz="3600" spc="-100" dirty="0" err="1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Bảo</a:t>
            </a:r>
            <a:r>
              <a:rPr lang="en-US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3600" spc="-100" dirty="0" err="1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hiểm</a:t>
            </a:r>
            <a:r>
              <a:rPr lang="en-US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 + </a:t>
            </a:r>
            <a:r>
              <a:rPr lang="en-US" sz="3600" spc="-100" dirty="0" err="1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Tài</a:t>
            </a:r>
            <a:r>
              <a:rPr lang="en-US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3600" spc="-100" dirty="0" err="1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chính</a:t>
            </a:r>
            <a:r>
              <a:rPr lang="en-US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 / </a:t>
            </a:r>
            <a:r>
              <a:rPr lang="en-US" sz="3600" spc="-100" dirty="0" err="1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Giáo</a:t>
            </a:r>
            <a:r>
              <a:rPr lang="en-US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3600" spc="-100" dirty="0" err="1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dục</a:t>
            </a:r>
            <a:r>
              <a:rPr lang="en-US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 / Y </a:t>
            </a:r>
            <a:r>
              <a:rPr lang="en-US" sz="3600" spc="-100" dirty="0" err="1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học</a:t>
            </a:r>
            <a:r>
              <a:rPr lang="en-US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 / </a:t>
            </a:r>
            <a:r>
              <a:rPr lang="en-US" sz="3600" spc="-100" dirty="0" err="1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Tiền</a:t>
            </a:r>
            <a:r>
              <a:rPr lang="en-US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3600" spc="-100" dirty="0" err="1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điện</a:t>
            </a:r>
            <a:r>
              <a:rPr lang="en-US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3600" spc="-100" dirty="0" err="1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tử</a:t>
            </a:r>
            <a:r>
              <a:rPr lang="en-US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 / AI + ML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3600" b="1" spc="-100" dirty="0" err="1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Kinh</a:t>
            </a: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3600" b="1" spc="-100" dirty="0" err="1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nghiệm</a:t>
            </a: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: </a:t>
            </a:r>
            <a:r>
              <a:rPr lang="en-US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+15 </a:t>
            </a:r>
            <a:r>
              <a:rPr lang="en-US" sz="3600" spc="-100" dirty="0" err="1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năm</a:t>
            </a:r>
            <a:endParaRPr lang="en-US" sz="3600" spc="-100" dirty="0">
              <a:solidFill>
                <a:srgbClr val="FF0000"/>
              </a:solidFill>
              <a:latin typeface="BR Omega" pitchFamily="2" charset="77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3600" b="1" spc="-100" dirty="0" err="1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Đang</a:t>
            </a: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3600" b="1" spc="-100" dirty="0" err="1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làm</a:t>
            </a: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3600" b="1" spc="-100" dirty="0" err="1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việc</a:t>
            </a: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3600" b="1" spc="-100" dirty="0" err="1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tại</a:t>
            </a: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: </a:t>
            </a:r>
            <a:endParaRPr lang="en-US" sz="3600" spc="-100" dirty="0">
              <a:solidFill>
                <a:srgbClr val="FF0000"/>
              </a:solidFill>
              <a:latin typeface="BR Omega" pitchFamily="2" charset="77"/>
              <a:cs typeface="Arial" panose="020B060402020202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E9970C4-F971-65FC-A7E7-4CEE0C43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729" y="1710839"/>
            <a:ext cx="4038600" cy="53864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CBC715C-70C9-BFF4-A01C-8FB8EAB6189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120" t="34804" r="10360" b="35992"/>
          <a:stretch/>
        </p:blipFill>
        <p:spPr>
          <a:xfrm>
            <a:off x="9067800" y="6444302"/>
            <a:ext cx="2759411" cy="7884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EC8717-2F40-DD1F-646A-10A32A4C39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2" y="7616903"/>
            <a:ext cx="758890" cy="10044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F47406-6F9A-6C5A-E425-DE5AF7C0D4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7724907"/>
            <a:ext cx="1676947" cy="912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3A6A11-CCDC-B66F-202B-2BB1561748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400" y="7658545"/>
            <a:ext cx="1379393" cy="10044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25E45A-14DD-090B-1D70-DFBBDEF936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5246" y="7671284"/>
            <a:ext cx="1362265" cy="86689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0BF64F0-D0B9-9522-D856-A968BE1335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844" r="79275" b="1"/>
          <a:stretch/>
        </p:blipFill>
        <p:spPr bwMode="auto">
          <a:xfrm>
            <a:off x="16078200" y="7541388"/>
            <a:ext cx="1142998" cy="100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D01BF5-9861-2081-6BD6-C6F974E052E7}"/>
              </a:ext>
            </a:extLst>
          </p:cNvPr>
          <p:cNvSpPr txBox="1"/>
          <p:nvPr/>
        </p:nvSpPr>
        <p:spPr>
          <a:xfrm>
            <a:off x="8686800" y="27536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 err="1"/>
              <a:t>Phiên</a:t>
            </a:r>
            <a:r>
              <a:rPr lang="en-US" dirty="0"/>
              <a:t> 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tiếng</a:t>
            </a:r>
            <a:r>
              <a:rPr lang="en-US" dirty="0"/>
              <a:t> </a:t>
            </a:r>
            <a:r>
              <a:rPr lang="en-US" dirty="0" err="1"/>
              <a:t>Việt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27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7999" cy="10286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55AADBF-0A56-DB8A-0FCA-171FD9B79A09}"/>
              </a:ext>
            </a:extLst>
          </p:cNvPr>
          <p:cNvSpPr txBox="1">
            <a:spLocks/>
          </p:cNvSpPr>
          <p:nvPr/>
        </p:nvSpPr>
        <p:spPr>
          <a:xfrm>
            <a:off x="6060440" y="998313"/>
            <a:ext cx="754278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25400">
              <a:spcBef>
                <a:spcPts val="100"/>
              </a:spcBef>
            </a:pPr>
            <a:r>
              <a:rPr lang="en-US" sz="3600" kern="0" dirty="0" err="1"/>
              <a:t>Giảng</a:t>
            </a:r>
            <a:r>
              <a:rPr lang="en-US" sz="3600" kern="0" dirty="0"/>
              <a:t> </a:t>
            </a:r>
            <a:r>
              <a:rPr lang="en-US" sz="3600" kern="0" dirty="0" err="1"/>
              <a:t>viên</a:t>
            </a:r>
            <a:r>
              <a:rPr lang="en-US" sz="3600" kern="0" dirty="0"/>
              <a:t> </a:t>
            </a:r>
            <a:r>
              <a:rPr lang="en-US" sz="3600" kern="0" dirty="0" err="1"/>
              <a:t>phụ</a:t>
            </a:r>
            <a:r>
              <a:rPr lang="en-US" sz="3600" kern="0" dirty="0"/>
              <a:t> </a:t>
            </a:r>
            <a:r>
              <a:rPr lang="en-US" sz="3600" kern="0" dirty="0" err="1"/>
              <a:t>trách</a:t>
            </a:r>
            <a:r>
              <a:rPr lang="en-US" sz="3600" kern="0" dirty="0"/>
              <a:t> </a:t>
            </a:r>
            <a:r>
              <a:rPr lang="en-US" sz="3600" kern="0" dirty="0" err="1"/>
              <a:t>môn</a:t>
            </a:r>
            <a:r>
              <a:rPr lang="en-US" sz="3600" kern="0" dirty="0"/>
              <a:t> </a:t>
            </a:r>
            <a:r>
              <a:rPr lang="en-US" sz="3600" kern="0" dirty="0" err="1"/>
              <a:t>học</a:t>
            </a:r>
            <a:endParaRPr lang="en-US" sz="3600" kern="0" dirty="0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E261488-D5C4-CF05-BC68-BB88F88998F3}"/>
              </a:ext>
            </a:extLst>
          </p:cNvPr>
          <p:cNvSpPr txBox="1"/>
          <p:nvPr/>
        </p:nvSpPr>
        <p:spPr>
          <a:xfrm>
            <a:off x="6095999" y="1929431"/>
            <a:ext cx="10058401" cy="2801408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lang="en-US" sz="2800" spc="-10" dirty="0" err="1">
                <a:latin typeface="Calibri"/>
                <a:cs typeface="Calibri"/>
              </a:rPr>
              <a:t>Họ</a:t>
            </a:r>
            <a:r>
              <a:rPr lang="en-US" sz="2800" spc="-10" dirty="0">
                <a:latin typeface="Calibri"/>
                <a:cs typeface="Calibri"/>
              </a:rPr>
              <a:t> Tên GV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lang="en-US" sz="2800" spc="-10" dirty="0">
                <a:latin typeface="Calibri"/>
                <a:cs typeface="Calibri"/>
              </a:rPr>
              <a:t>		</a:t>
            </a:r>
            <a:r>
              <a:rPr lang="en-US" sz="2800" b="1" spc="-55" dirty="0">
                <a:latin typeface="Calibri"/>
                <a:cs typeface="Calibri"/>
              </a:rPr>
              <a:t>Lê </a:t>
            </a:r>
            <a:r>
              <a:rPr lang="en-US" sz="2800" b="1" spc="-55" dirty="0" err="1">
                <a:latin typeface="Calibri"/>
                <a:cs typeface="Calibri"/>
              </a:rPr>
              <a:t>Ngọc</a:t>
            </a:r>
            <a:r>
              <a:rPr lang="en-US" sz="2800" b="1" spc="-55" dirty="0">
                <a:latin typeface="Calibri"/>
                <a:cs typeface="Calibri"/>
              </a:rPr>
              <a:t> </a:t>
            </a:r>
            <a:r>
              <a:rPr lang="en-US" sz="2800" b="1" spc="-55" dirty="0" err="1">
                <a:latin typeface="Calibri"/>
                <a:cs typeface="Calibri"/>
              </a:rPr>
              <a:t>Hiếu</a:t>
            </a:r>
            <a:r>
              <a:rPr sz="2800" spc="-15" dirty="0">
                <a:latin typeface="Calibri"/>
                <a:cs typeface="Calibri"/>
              </a:rPr>
              <a:t>,</a:t>
            </a:r>
            <a:endParaRPr lang="en-US" sz="2800" spc="-1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lang="en-US" sz="2800" spc="-15" dirty="0" err="1">
                <a:latin typeface="Calibri"/>
                <a:cs typeface="Calibri"/>
              </a:rPr>
              <a:t>Học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15" dirty="0" err="1">
                <a:latin typeface="Calibri"/>
                <a:cs typeface="Calibri"/>
              </a:rPr>
              <a:t>vị</a:t>
            </a:r>
            <a:r>
              <a:rPr lang="en-US" sz="2800" spc="-15" dirty="0">
                <a:latin typeface="Calibri"/>
                <a:cs typeface="Calibri"/>
              </a:rPr>
              <a:t>, </a:t>
            </a:r>
            <a:r>
              <a:rPr lang="en-US" sz="2800" spc="-15" dirty="0" err="1">
                <a:latin typeface="Calibri"/>
                <a:cs typeface="Calibri"/>
              </a:rPr>
              <a:t>học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15" dirty="0" err="1">
                <a:latin typeface="Calibri"/>
                <a:cs typeface="Calibri"/>
              </a:rPr>
              <a:t>hàm</a:t>
            </a:r>
            <a:r>
              <a:rPr lang="en-US" sz="2800" spc="-15" dirty="0">
                <a:latin typeface="Calibri"/>
                <a:cs typeface="Calibri"/>
              </a:rPr>
              <a:t>: 	</a:t>
            </a:r>
            <a:r>
              <a:rPr lang="en-US" sz="2800" b="1" spc="-15" dirty="0">
                <a:latin typeface="Calibri"/>
                <a:cs typeface="Calibri"/>
              </a:rPr>
              <a:t>TS</a:t>
            </a:r>
            <a:endParaRPr sz="2800" b="1" dirty="0">
              <a:latin typeface="Calibri"/>
              <a:cs typeface="Calibri"/>
            </a:endParaRPr>
          </a:p>
          <a:p>
            <a:pPr marL="12700" marR="822325">
              <a:lnSpc>
                <a:spcPts val="3020"/>
              </a:lnSpc>
              <a:spcBef>
                <a:spcPts val="645"/>
              </a:spcBef>
            </a:pPr>
            <a:r>
              <a:rPr lang="en-US" sz="2800" spc="-15" dirty="0" err="1">
                <a:latin typeface="Calibri"/>
                <a:cs typeface="Calibri"/>
              </a:rPr>
              <a:t>Chức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15" dirty="0" err="1">
                <a:latin typeface="Calibri"/>
                <a:cs typeface="Calibri"/>
              </a:rPr>
              <a:t>vụ</a:t>
            </a:r>
            <a:r>
              <a:rPr sz="2800" spc="-15" dirty="0">
                <a:latin typeface="Calibri"/>
                <a:cs typeface="Calibri"/>
              </a:rPr>
              <a:t>: </a:t>
            </a:r>
            <a:r>
              <a:rPr lang="en-US" sz="2800" spc="-15" dirty="0">
                <a:latin typeface="Calibri"/>
                <a:cs typeface="Calibri"/>
              </a:rPr>
              <a:t>		</a:t>
            </a:r>
            <a:r>
              <a:rPr lang="en-US" sz="2800" spc="-10" dirty="0" err="1">
                <a:latin typeface="Calibri"/>
                <a:cs typeface="Calibri"/>
              </a:rPr>
              <a:t>Giảng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lang="en-US" sz="2800" spc="-10" dirty="0" err="1">
                <a:latin typeface="Calibri"/>
                <a:cs typeface="Calibri"/>
              </a:rPr>
              <a:t>viên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lang="en-US" sz="2800" spc="-10" dirty="0" err="1">
                <a:latin typeface="Calibri"/>
                <a:cs typeface="Calibri"/>
              </a:rPr>
              <a:t>thỉnh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lang="en-US" sz="2800" spc="-10" dirty="0" err="1">
                <a:latin typeface="Calibri"/>
                <a:cs typeface="Calibri"/>
              </a:rPr>
              <a:t>giảng</a:t>
            </a:r>
            <a:endParaRPr lang="en-US" sz="2800" spc="-10" dirty="0">
              <a:latin typeface="Calibri"/>
              <a:cs typeface="Calibri"/>
            </a:endParaRPr>
          </a:p>
          <a:p>
            <a:pPr marL="12700" marR="1111250">
              <a:lnSpc>
                <a:spcPts val="3020"/>
              </a:lnSpc>
              <a:spcBef>
                <a:spcPts val="610"/>
              </a:spcBef>
            </a:pPr>
            <a:r>
              <a:rPr lang="en-US" sz="2800" spc="-10" dirty="0">
                <a:latin typeface="Calibri"/>
                <a:cs typeface="Calibri"/>
              </a:rPr>
              <a:t>Khoa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lang="en-US" sz="2800" spc="-10" dirty="0">
                <a:latin typeface="Calibri"/>
                <a:cs typeface="Calibri"/>
              </a:rPr>
              <a:t>			</a:t>
            </a:r>
            <a:r>
              <a:rPr lang="en-US" sz="2800" spc="-15" dirty="0">
                <a:latin typeface="Calibri"/>
                <a:cs typeface="Calibri"/>
              </a:rPr>
              <a:t>Khoa </a:t>
            </a:r>
            <a:r>
              <a:rPr lang="en-US" sz="2800" spc="-15" dirty="0" err="1">
                <a:latin typeface="Calibri"/>
                <a:cs typeface="Calibri"/>
              </a:rPr>
              <a:t>Kinh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15" dirty="0" err="1">
                <a:latin typeface="Calibri"/>
                <a:cs typeface="Calibri"/>
              </a:rPr>
              <a:t>Tế</a:t>
            </a:r>
            <a:endParaRPr lang="en-US" sz="2800" spc="-15" dirty="0">
              <a:latin typeface="Calibri"/>
              <a:cs typeface="Calibri"/>
            </a:endParaRPr>
          </a:p>
          <a:p>
            <a:pPr marL="12700" marR="1111250">
              <a:lnSpc>
                <a:spcPts val="3020"/>
              </a:lnSpc>
              <a:spcBef>
                <a:spcPts val="610"/>
              </a:spcBef>
            </a:pPr>
            <a:r>
              <a:rPr lang="en-US" sz="2800" spc="-15" dirty="0" err="1">
                <a:latin typeface="Calibri"/>
                <a:cs typeface="Calibri"/>
              </a:rPr>
              <a:t>Trường</a:t>
            </a:r>
            <a:r>
              <a:rPr lang="en-US" sz="2800" spc="-15" dirty="0">
                <a:latin typeface="Calibri"/>
                <a:cs typeface="Calibri"/>
              </a:rPr>
              <a:t>:		</a:t>
            </a:r>
            <a:r>
              <a:rPr lang="en-US" sz="2800" spc="-15" dirty="0" err="1">
                <a:latin typeface="Calibri"/>
                <a:cs typeface="Calibri"/>
              </a:rPr>
              <a:t>Trường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15" dirty="0" err="1">
                <a:latin typeface="Calibri"/>
                <a:cs typeface="Calibri"/>
              </a:rPr>
              <a:t>đại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15" dirty="0" err="1">
                <a:latin typeface="Calibri"/>
                <a:cs typeface="Calibri"/>
              </a:rPr>
              <a:t>học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15" dirty="0" err="1">
                <a:latin typeface="Calibri"/>
                <a:cs typeface="Calibri"/>
              </a:rPr>
              <a:t>Sư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15" dirty="0" err="1">
                <a:latin typeface="Calibri"/>
                <a:cs typeface="Calibri"/>
              </a:rPr>
              <a:t>phạm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15" dirty="0" err="1">
                <a:latin typeface="Calibri"/>
                <a:cs typeface="Calibri"/>
              </a:rPr>
              <a:t>Kỹ</a:t>
            </a:r>
            <a:r>
              <a:rPr lang="en-US" sz="2800" spc="-15" dirty="0">
                <a:latin typeface="Calibri"/>
                <a:cs typeface="Calibri"/>
              </a:rPr>
              <a:t> </a:t>
            </a:r>
            <a:r>
              <a:rPr lang="en-US" sz="2800" spc="-15" dirty="0" err="1">
                <a:latin typeface="Calibri"/>
                <a:cs typeface="Calibri"/>
              </a:rPr>
              <a:t>thuật</a:t>
            </a:r>
            <a:r>
              <a:rPr lang="en-US" sz="2800" spc="-15" dirty="0">
                <a:latin typeface="Calibri"/>
                <a:cs typeface="Calibri"/>
              </a:rPr>
              <a:t> TP.HCM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2800" spc="-10" dirty="0">
                <a:latin typeface="Calibri"/>
                <a:cs typeface="Calibri"/>
              </a:rPr>
              <a:t>Email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lang="en-US" sz="2800" spc="-10" dirty="0" err="1">
                <a:latin typeface="Calibri"/>
                <a:cs typeface="Calibri"/>
              </a:rPr>
              <a:t>liên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lang="en-US" sz="2800" spc="-10" dirty="0" err="1">
                <a:latin typeface="Calibri"/>
                <a:cs typeface="Calibri"/>
              </a:rPr>
              <a:t>hệ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	</a:t>
            </a:r>
            <a:r>
              <a:rPr lang="en-US" sz="2800" spc="-20" dirty="0">
                <a:latin typeface="Calibri"/>
                <a:cs typeface="Calibri"/>
                <a:hlinkClick r:id="rId3"/>
              </a:rPr>
              <a:t>lnhieu@hcmute.edu.vn</a:t>
            </a:r>
            <a:r>
              <a:rPr lang="en-US" sz="2800" spc="-20" dirty="0">
                <a:latin typeface="Calibri"/>
                <a:cs typeface="Calibri"/>
              </a:rPr>
              <a:t> 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6249652-7D03-6C55-4252-D25A67CCE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866052"/>
            <a:ext cx="3124200" cy="41668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8D2AD0A5-F3B2-A965-9A39-D58E485AD9AF}"/>
              </a:ext>
            </a:extLst>
          </p:cNvPr>
          <p:cNvSpPr txBox="1"/>
          <p:nvPr/>
        </p:nvSpPr>
        <p:spPr>
          <a:xfrm>
            <a:off x="1371600" y="6217284"/>
            <a:ext cx="15849600" cy="32111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</a:pPr>
            <a:r>
              <a:rPr lang="en-US" sz="3200" spc="-5" dirty="0">
                <a:latin typeface="Calibri"/>
                <a:cs typeface="Calibri"/>
              </a:rPr>
              <a:t>Mr. </a:t>
            </a:r>
            <a:r>
              <a:rPr lang="vi-VN" sz="3200" i="1" spc="-5" dirty="0">
                <a:latin typeface="Calibri"/>
                <a:cs typeface="Calibri"/>
              </a:rPr>
              <a:t>Lê Ngọc Hiếu </a:t>
            </a:r>
            <a:r>
              <a:rPr lang="vi-VN" sz="3200" spc="-5" dirty="0">
                <a:latin typeface="Calibri"/>
                <a:cs typeface="Calibri"/>
              </a:rPr>
              <a:t>đã làm việc trong ngành CNTT với vai trò là </a:t>
            </a:r>
            <a:r>
              <a:rPr lang="vi-VN" sz="3200" i="1" spc="-5" dirty="0">
                <a:latin typeface="Calibri"/>
                <a:cs typeface="Calibri"/>
              </a:rPr>
              <a:t>Kiến trúc sư hệ thống CNTT</a:t>
            </a:r>
            <a:r>
              <a:rPr lang="vi-VN" sz="3200" spc="-5" dirty="0">
                <a:latin typeface="Calibri"/>
                <a:cs typeface="Calibri"/>
              </a:rPr>
              <a:t> từ năm 2010. Hiện tại, anh đang làm giảng viên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spc="-5" dirty="0" err="1">
                <a:latin typeface="Calibri"/>
                <a:cs typeface="Calibri"/>
              </a:rPr>
              <a:t>chuyên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spc="-5" dirty="0" err="1">
                <a:latin typeface="Calibri"/>
                <a:cs typeface="Calibri"/>
              </a:rPr>
              <a:t>ngành</a:t>
            </a:r>
            <a:r>
              <a:rPr lang="vi-VN" sz="3200" spc="-5" dirty="0">
                <a:latin typeface="Calibri"/>
                <a:cs typeface="Calibri"/>
              </a:rPr>
              <a:t> CNTT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spc="-5" dirty="0" err="1">
                <a:latin typeface="Calibri"/>
                <a:cs typeface="Calibri"/>
              </a:rPr>
              <a:t>và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spc="-5" dirty="0" err="1">
                <a:latin typeface="Calibri"/>
                <a:cs typeface="Calibri"/>
              </a:rPr>
              <a:t>ngôn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spc="-5" dirty="0" err="1">
                <a:latin typeface="Calibri"/>
                <a:cs typeface="Calibri"/>
              </a:rPr>
              <a:t>ngữ</a:t>
            </a:r>
            <a:r>
              <a:rPr lang="en-US" sz="3200" spc="-5" dirty="0">
                <a:latin typeface="Calibri"/>
                <a:cs typeface="Calibri"/>
              </a:rPr>
              <a:t> Trung </a:t>
            </a:r>
            <a:r>
              <a:rPr lang="en-US" sz="3200" spc="-5" dirty="0" err="1">
                <a:latin typeface="Calibri"/>
                <a:cs typeface="Calibri"/>
              </a:rPr>
              <a:t>Quốc</a:t>
            </a:r>
            <a:r>
              <a:rPr lang="vi-VN" sz="3200" spc="-5" dirty="0">
                <a:latin typeface="Calibri"/>
                <a:cs typeface="Calibri"/>
              </a:rPr>
              <a:t> tại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spc="-5" dirty="0" err="1">
                <a:latin typeface="Calibri"/>
                <a:cs typeface="Calibri"/>
              </a:rPr>
              <a:t>một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spc="-5" dirty="0" err="1">
                <a:latin typeface="Calibri"/>
                <a:cs typeface="Calibri"/>
              </a:rPr>
              <a:t>số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spc="-5" dirty="0" err="1">
                <a:latin typeface="Calibri"/>
                <a:cs typeface="Calibri"/>
              </a:rPr>
              <a:t>trường</a:t>
            </a:r>
            <a:r>
              <a:rPr lang="vi-VN" sz="3200" spc="-5" dirty="0">
                <a:latin typeface="Calibri"/>
                <a:cs typeface="Calibri"/>
              </a:rPr>
              <a:t> Đại học </a:t>
            </a:r>
            <a:r>
              <a:rPr lang="en-US" sz="3200" spc="-5" dirty="0">
                <a:latin typeface="Calibri"/>
                <a:cs typeface="Calibri"/>
              </a:rPr>
              <a:t>ở </a:t>
            </a:r>
            <a:r>
              <a:rPr lang="vi-VN" sz="3200" spc="-5" dirty="0">
                <a:latin typeface="Calibri"/>
                <a:cs typeface="Calibri"/>
              </a:rPr>
              <a:t>TP.HCM (Việt Nam). Chuyên ngành chính của anh là điện toán đám mây và hiệu quả đám mây để phục vụ tốt hơn; các chuyên ngành phụ là giáo dục, giáo dục trong lĩnh vực CNTT, Giảng dạy ngoại ngữ (tiếng Trung và tiếng Anh), </a:t>
            </a:r>
            <a:r>
              <a:rPr lang="en-US" sz="3200" spc="-5" dirty="0" err="1">
                <a:latin typeface="Calibri"/>
                <a:cs typeface="Calibri"/>
              </a:rPr>
              <a:t>Quản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spc="-5" dirty="0" err="1">
                <a:latin typeface="Calibri"/>
                <a:cs typeface="Calibri"/>
              </a:rPr>
              <a:t>lý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vi-VN" sz="3200" spc="-5" dirty="0">
                <a:latin typeface="Calibri"/>
                <a:cs typeface="Calibri"/>
              </a:rPr>
              <a:t>và Kinh tế.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  <a:p>
            <a:pPr marL="12700" marR="1217930">
              <a:lnSpc>
                <a:spcPts val="2160"/>
              </a:lnSpc>
            </a:pPr>
            <a:r>
              <a:rPr lang="en-US" sz="2000" i="1" dirty="0">
                <a:latin typeface="Calibri"/>
                <a:cs typeface="Calibri"/>
              </a:rPr>
              <a:t>Thông tin chi </a:t>
            </a:r>
            <a:r>
              <a:rPr lang="en-US" sz="2000" i="1" dirty="0" err="1">
                <a:latin typeface="Calibri"/>
                <a:cs typeface="Calibri"/>
              </a:rPr>
              <a:t>tiết</a:t>
            </a:r>
            <a:r>
              <a:rPr lang="en-US" sz="2000" i="1" dirty="0">
                <a:latin typeface="Calibri"/>
                <a:cs typeface="Calibri"/>
              </a:rPr>
              <a:t> </a:t>
            </a:r>
            <a:r>
              <a:rPr sz="2000" i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https://www.researchgate.net/profile/Hieu-Le-24 </a:t>
            </a:r>
            <a:r>
              <a:rPr sz="2000" i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endParaRPr lang="en-US" sz="2000" i="1" spc="-10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L="12700" marR="1217930">
              <a:lnSpc>
                <a:spcPts val="2160"/>
              </a:lnSpc>
            </a:pPr>
            <a:r>
              <a:rPr lang="en-US" sz="2000" i="1" spc="-5" dirty="0" err="1">
                <a:latin typeface="Calibri"/>
                <a:cs typeface="Calibri"/>
              </a:rPr>
              <a:t>hoặc</a:t>
            </a:r>
            <a:r>
              <a:rPr lang="en-US" sz="2000" i="1" spc="-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i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https://orcid.org/0000-0002-1133-1433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14590-6C0A-011A-D18A-BE282EF67B0E}"/>
              </a:ext>
            </a:extLst>
          </p:cNvPr>
          <p:cNvSpPr txBox="1"/>
          <p:nvPr/>
        </p:nvSpPr>
        <p:spPr>
          <a:xfrm>
            <a:off x="8686800" y="27536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 err="1"/>
              <a:t>Phiên</a:t>
            </a:r>
            <a:r>
              <a:rPr lang="en-US" dirty="0"/>
              <a:t> 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tiếng</a:t>
            </a:r>
            <a:r>
              <a:rPr lang="en-US" dirty="0"/>
              <a:t> </a:t>
            </a:r>
            <a:r>
              <a:rPr lang="en-US" dirty="0" err="1"/>
              <a:t>Việt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94"/>
    </mc:Choice>
    <mc:Fallback xmlns="">
      <p:transition spd="slow" advTm="1419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6945079-137D-712D-EBD2-CC5C4A33F4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84790"/>
            <a:ext cx="18288000" cy="112565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27E63E-369B-6DC8-8039-4934E9881CED}"/>
              </a:ext>
            </a:extLst>
          </p:cNvPr>
          <p:cNvSpPr txBox="1"/>
          <p:nvPr/>
        </p:nvSpPr>
        <p:spPr>
          <a:xfrm>
            <a:off x="8077200" y="1615440"/>
            <a:ext cx="8153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-100" dirty="0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Lê </a:t>
            </a:r>
            <a:r>
              <a:rPr lang="en-US" sz="3600" b="1" spc="-100" dirty="0" err="1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Ngọc</a:t>
            </a:r>
            <a:r>
              <a:rPr lang="en-US" sz="3600" b="1" spc="-100" dirty="0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 </a:t>
            </a:r>
            <a:r>
              <a:rPr lang="en-US" sz="3600" b="1" spc="-100" dirty="0" err="1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Hiếu</a:t>
            </a:r>
            <a:r>
              <a:rPr lang="en-US" sz="3600" b="1" spc="-100" dirty="0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, PhD. </a:t>
            </a:r>
            <a:r>
              <a:rPr lang="en-US" sz="3600" spc="-100" dirty="0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 (</a:t>
            </a:r>
            <a:r>
              <a:rPr lang="zh-CN" altLang="en-US" sz="3600" spc="-100" dirty="0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黎玉孝博士</a:t>
            </a:r>
            <a:r>
              <a:rPr lang="en-US" altLang="zh-CN" sz="3600" spc="-100" dirty="0">
                <a:solidFill>
                  <a:srgbClr val="0070C0"/>
                </a:solidFill>
                <a:latin typeface="BR Omega" pitchFamily="2" charset="77"/>
                <a:cs typeface="Arial" panose="020B0604020202020204" pitchFamily="34" charset="0"/>
              </a:rPr>
              <a:t>)</a:t>
            </a:r>
            <a:endParaRPr lang="en-US" sz="3600" spc="-100" dirty="0">
              <a:solidFill>
                <a:srgbClr val="0070C0"/>
              </a:solidFill>
              <a:latin typeface="BR Omega" pitchFamily="2" charset="77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Working roles: </a:t>
            </a:r>
            <a:r>
              <a:rPr lang="en-US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Senior Project Manager / Academic Researcher / Lecturer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Domain: </a:t>
            </a:r>
            <a:r>
              <a:rPr lang="en-US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ERP + HRM / Insurance + Financial / Education / Medicine / Crypto / AI + ML 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YOE: </a:t>
            </a:r>
            <a:r>
              <a:rPr lang="en-US" sz="3600" spc="-100" dirty="0">
                <a:solidFill>
                  <a:srgbClr val="FF0000"/>
                </a:solidFill>
                <a:latin typeface="BR Omega" pitchFamily="2" charset="77"/>
                <a:cs typeface="Arial" panose="020B0604020202020204" pitchFamily="34" charset="0"/>
              </a:rPr>
              <a:t>+15 years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3600" b="1" spc="-100" dirty="0">
                <a:solidFill>
                  <a:srgbClr val="002060"/>
                </a:solidFill>
                <a:latin typeface="BR Omega" pitchFamily="2" charset="77"/>
                <a:cs typeface="Arial" panose="020B0604020202020204" pitchFamily="34" charset="0"/>
              </a:rPr>
              <a:t>Working at: </a:t>
            </a:r>
            <a:endParaRPr lang="en-US" sz="3600" spc="-100" dirty="0">
              <a:solidFill>
                <a:srgbClr val="FF0000"/>
              </a:solidFill>
              <a:latin typeface="BR Omega" pitchFamily="2" charset="77"/>
              <a:cs typeface="Arial" panose="020B060402020202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E9970C4-F971-65FC-A7E7-4CEE0C43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729" y="1710839"/>
            <a:ext cx="4038600" cy="53864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CBC715C-70C9-BFF4-A01C-8FB8EAB6189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120" t="34804" r="10360" b="35992"/>
          <a:stretch/>
        </p:blipFill>
        <p:spPr>
          <a:xfrm>
            <a:off x="9067800" y="5829300"/>
            <a:ext cx="2759411" cy="7884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EC8717-2F40-DD1F-646A-10A32A4C39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2" y="7001901"/>
            <a:ext cx="758890" cy="10044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F47406-6F9A-6C5A-E425-DE5AF7C0D4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7109905"/>
            <a:ext cx="1676947" cy="912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3A6A11-CCDC-B66F-202B-2BB1561748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400" y="7043543"/>
            <a:ext cx="1379393" cy="10044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25E45A-14DD-090B-1D70-DFBBDEF936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5246" y="7056282"/>
            <a:ext cx="1362265" cy="86689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0BF64F0-D0B9-9522-D856-A968BE1335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844" r="79275" b="1"/>
          <a:stretch/>
        </p:blipFill>
        <p:spPr bwMode="auto">
          <a:xfrm>
            <a:off x="16078200" y="6926386"/>
            <a:ext cx="1142998" cy="100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2F7778-DE99-C556-D9B6-59C5B272E7E9}"/>
              </a:ext>
            </a:extLst>
          </p:cNvPr>
          <p:cNvSpPr txBox="1"/>
          <p:nvPr/>
        </p:nvSpPr>
        <p:spPr>
          <a:xfrm>
            <a:off x="8686800" y="27536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English version</a:t>
            </a:r>
          </a:p>
        </p:txBody>
      </p:sp>
    </p:spTree>
    <p:extLst>
      <p:ext uri="{BB962C8B-B14F-4D97-AF65-F5344CB8AC3E}">
        <p14:creationId xmlns:p14="http://schemas.microsoft.com/office/powerpoint/2010/main" val="333237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7999" cy="10286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55AADBF-0A56-DB8A-0FCA-171FD9B79A09}"/>
              </a:ext>
            </a:extLst>
          </p:cNvPr>
          <p:cNvSpPr txBox="1">
            <a:spLocks/>
          </p:cNvSpPr>
          <p:nvPr/>
        </p:nvSpPr>
        <p:spPr>
          <a:xfrm>
            <a:off x="6060440" y="998313"/>
            <a:ext cx="9144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25400">
              <a:spcBef>
                <a:spcPts val="100"/>
              </a:spcBef>
            </a:pPr>
            <a:r>
              <a:rPr lang="en-US" altLang="zh-CN" sz="3600" b="0" kern="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Lecturer in charge of the course</a:t>
            </a:r>
            <a:endParaRPr lang="en-US" sz="3600" b="0" kern="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E261488-D5C4-CF05-BC68-BB88F88998F3}"/>
              </a:ext>
            </a:extLst>
          </p:cNvPr>
          <p:cNvSpPr txBox="1"/>
          <p:nvPr/>
        </p:nvSpPr>
        <p:spPr>
          <a:xfrm>
            <a:off x="6095999" y="1929431"/>
            <a:ext cx="12192000" cy="2801408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lang="en-US" altLang="zh-CN" sz="2800" spc="-10" dirty="0">
                <a:latin typeface="Calibri"/>
                <a:cs typeface="Calibri"/>
              </a:rPr>
              <a:t>Full name</a:t>
            </a:r>
            <a:r>
              <a:rPr lang="zh-CN" altLang="en-US" sz="2800" spc="-10" dirty="0">
                <a:latin typeface="Calibri"/>
                <a:cs typeface="Calibri"/>
              </a:rPr>
              <a:t>：</a:t>
            </a:r>
            <a:r>
              <a:rPr lang="en-US" sz="2800" spc="-10" dirty="0">
                <a:latin typeface="Calibri"/>
                <a:cs typeface="Calibri"/>
              </a:rPr>
              <a:t>		</a:t>
            </a:r>
            <a:r>
              <a:rPr lang="en-US" sz="2800" b="1" spc="-55" dirty="0">
                <a:latin typeface="Calibri"/>
                <a:cs typeface="Calibri"/>
              </a:rPr>
              <a:t>Lê </a:t>
            </a:r>
            <a:r>
              <a:rPr lang="en-US" sz="2800" b="1" spc="-55" dirty="0" err="1">
                <a:latin typeface="Calibri"/>
                <a:cs typeface="Calibri"/>
              </a:rPr>
              <a:t>Ngọc</a:t>
            </a:r>
            <a:r>
              <a:rPr lang="en-US" sz="2800" b="1" spc="-55" dirty="0">
                <a:latin typeface="Calibri"/>
                <a:cs typeface="Calibri"/>
              </a:rPr>
              <a:t> </a:t>
            </a:r>
            <a:r>
              <a:rPr lang="en-US" sz="2800" b="1" spc="-55" dirty="0" err="1">
                <a:latin typeface="Calibri"/>
                <a:cs typeface="Calibri"/>
              </a:rPr>
              <a:t>Hiếu</a:t>
            </a:r>
            <a:r>
              <a:rPr sz="2800" spc="-15" dirty="0">
                <a:latin typeface="Calibri"/>
                <a:cs typeface="Calibri"/>
              </a:rPr>
              <a:t>,</a:t>
            </a:r>
            <a:endParaRPr lang="en-US" sz="2800" spc="-1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lang="en-US" sz="2800" spc="-15" dirty="0">
                <a:latin typeface="Calibri"/>
                <a:cs typeface="Calibri"/>
              </a:rPr>
              <a:t>Academic degree : 	</a:t>
            </a:r>
            <a:r>
              <a:rPr lang="en-US" sz="2800" b="1" spc="-15" dirty="0">
                <a:latin typeface="Calibri"/>
                <a:cs typeface="Calibri"/>
              </a:rPr>
              <a:t>PhD</a:t>
            </a:r>
            <a:endParaRPr sz="2800" b="1" dirty="0">
              <a:latin typeface="Calibri"/>
              <a:cs typeface="Calibri"/>
            </a:endParaRPr>
          </a:p>
          <a:p>
            <a:pPr marL="12700" marR="822325">
              <a:lnSpc>
                <a:spcPts val="3020"/>
              </a:lnSpc>
              <a:spcBef>
                <a:spcPts val="645"/>
              </a:spcBef>
            </a:pPr>
            <a:r>
              <a:rPr lang="en-US" sz="2800" spc="-15" dirty="0">
                <a:latin typeface="Calibri"/>
                <a:cs typeface="Calibri"/>
              </a:rPr>
              <a:t>Role </a:t>
            </a:r>
            <a:r>
              <a:rPr sz="2800" spc="-15" dirty="0">
                <a:latin typeface="Calibri"/>
                <a:cs typeface="Calibri"/>
              </a:rPr>
              <a:t>: </a:t>
            </a:r>
            <a:r>
              <a:rPr lang="en-US" sz="2800" spc="-15" dirty="0">
                <a:latin typeface="Calibri"/>
                <a:cs typeface="Calibri"/>
              </a:rPr>
              <a:t>			</a:t>
            </a:r>
            <a:r>
              <a:rPr lang="en-US" sz="2800" spc="-10" dirty="0">
                <a:latin typeface="Calibri"/>
                <a:cs typeface="Calibri"/>
              </a:rPr>
              <a:t>Visiting Lecturer</a:t>
            </a:r>
          </a:p>
          <a:p>
            <a:pPr marL="12700" marR="1111250">
              <a:lnSpc>
                <a:spcPts val="3020"/>
              </a:lnSpc>
              <a:spcBef>
                <a:spcPts val="610"/>
              </a:spcBef>
            </a:pPr>
            <a:r>
              <a:rPr lang="en-US" sz="2800" spc="-10" dirty="0">
                <a:latin typeface="Calibri"/>
                <a:cs typeface="Calibri"/>
              </a:rPr>
              <a:t>School</a:t>
            </a:r>
            <a:r>
              <a:rPr sz="2800" spc="-10" dirty="0">
                <a:latin typeface="Calibri"/>
                <a:cs typeface="Calibri"/>
              </a:rPr>
              <a:t>: </a:t>
            </a:r>
            <a:r>
              <a:rPr lang="en-US" sz="2800" spc="-10" dirty="0">
                <a:latin typeface="Calibri"/>
                <a:cs typeface="Calibri"/>
              </a:rPr>
              <a:t>		</a:t>
            </a:r>
            <a:r>
              <a:rPr lang="en-US" sz="2800" spc="-15" dirty="0">
                <a:latin typeface="Calibri"/>
                <a:cs typeface="Calibri"/>
              </a:rPr>
              <a:t>Faculty of Economics</a:t>
            </a:r>
          </a:p>
          <a:p>
            <a:pPr marL="12700" marR="1111250">
              <a:lnSpc>
                <a:spcPts val="3020"/>
              </a:lnSpc>
              <a:spcBef>
                <a:spcPts val="610"/>
              </a:spcBef>
            </a:pPr>
            <a:r>
              <a:rPr lang="en-US" sz="2800" spc="-15" dirty="0">
                <a:latin typeface="Calibri"/>
                <a:cs typeface="Calibri"/>
              </a:rPr>
              <a:t>Uni:			 Ho Chi Minh City University of Technology and  Education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2800" spc="-10" dirty="0">
                <a:latin typeface="Calibri"/>
                <a:cs typeface="Calibri"/>
              </a:rPr>
              <a:t>Email: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lang="en-US" sz="2800" spc="-20" dirty="0">
                <a:latin typeface="Calibri"/>
                <a:cs typeface="Calibri"/>
              </a:rPr>
              <a:t>		</a:t>
            </a:r>
            <a:r>
              <a:rPr lang="en-US" sz="2800" spc="-20" dirty="0">
                <a:latin typeface="Calibri"/>
                <a:cs typeface="Calibri"/>
                <a:hlinkClick r:id="rId3"/>
              </a:rPr>
              <a:t>lnhieu@hcmute.edu.vn</a:t>
            </a:r>
            <a:r>
              <a:rPr lang="en-US" sz="2800" spc="-20" dirty="0">
                <a:latin typeface="Calibri"/>
                <a:cs typeface="Calibri"/>
              </a:rPr>
              <a:t> 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6249652-7D03-6C55-4252-D25A67CCE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866052"/>
            <a:ext cx="3124200" cy="41668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8D2AD0A5-F3B2-A965-9A39-D58E485AD9AF}"/>
              </a:ext>
            </a:extLst>
          </p:cNvPr>
          <p:cNvSpPr txBox="1"/>
          <p:nvPr/>
        </p:nvSpPr>
        <p:spPr>
          <a:xfrm>
            <a:off x="1371600" y="6217284"/>
            <a:ext cx="15849600" cy="317420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algn="just">
              <a:lnSpc>
                <a:spcPct val="90000"/>
              </a:lnSpc>
            </a:pPr>
            <a:r>
              <a:rPr lang="en-US" sz="3200" i="1" spc="-5" dirty="0">
                <a:latin typeface="Calibri"/>
                <a:cs typeface="Calibri"/>
              </a:rPr>
              <a:t>Mr. Le Ngoc Hieu </a:t>
            </a:r>
            <a:r>
              <a:rPr lang="en-US" sz="3200" spc="-5" dirty="0">
                <a:latin typeface="Calibri"/>
                <a:cs typeface="Calibri"/>
              </a:rPr>
              <a:t>has been working in the IT industry as an IT System Architect since 2010. Currently, he is a lecturer in IT and Chinese language at some universities in Ho Chi Minh City (Vietnam). His major is cloud computing and cloud efficiency for better service; his minors are education, education in the field of IT, Teaching foreign languages ​​(Chinese and English), Management and Economics.</a:t>
            </a:r>
          </a:p>
          <a:p>
            <a:pPr marL="12700" marR="5080" algn="just">
              <a:lnSpc>
                <a:spcPct val="90000"/>
              </a:lnSpc>
            </a:pPr>
            <a:endParaRPr sz="2400" dirty="0">
              <a:latin typeface="Calibri"/>
              <a:cs typeface="Calibri"/>
            </a:endParaRPr>
          </a:p>
          <a:p>
            <a:pPr marL="12700" marR="1217930">
              <a:lnSpc>
                <a:spcPts val="2160"/>
              </a:lnSpc>
            </a:pPr>
            <a:r>
              <a:rPr lang="en-US" sz="2000" i="1" dirty="0">
                <a:latin typeface="Calibri"/>
                <a:cs typeface="Calibri"/>
              </a:rPr>
              <a:t>Detail info at </a:t>
            </a:r>
            <a:r>
              <a:rPr sz="2000" i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https://www.researchgate.net/profile/Hieu-Le-24 </a:t>
            </a:r>
            <a:r>
              <a:rPr sz="2000" i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endParaRPr lang="en-US" sz="2000" i="1" spc="-10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L="12700" marR="1217930">
              <a:lnSpc>
                <a:spcPts val="2160"/>
              </a:lnSpc>
            </a:pPr>
            <a:r>
              <a:rPr lang="en-US" sz="2000" i="1" spc="-5" dirty="0">
                <a:latin typeface="Calibri"/>
                <a:cs typeface="Calibri"/>
              </a:rPr>
              <a:t>or 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i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https://orcid.org/0000-0002-1133-1433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B5018-37F9-87B6-E1BD-DD492CCE6889}"/>
              </a:ext>
            </a:extLst>
          </p:cNvPr>
          <p:cNvSpPr txBox="1"/>
          <p:nvPr/>
        </p:nvSpPr>
        <p:spPr>
          <a:xfrm>
            <a:off x="8686800" y="27536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English version</a:t>
            </a:r>
          </a:p>
        </p:txBody>
      </p:sp>
    </p:spTree>
    <p:extLst>
      <p:ext uri="{BB962C8B-B14F-4D97-AF65-F5344CB8AC3E}">
        <p14:creationId xmlns:p14="http://schemas.microsoft.com/office/powerpoint/2010/main" val="588954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94"/>
    </mc:Choice>
    <mc:Fallback xmlns="">
      <p:transition spd="slow" advTm="1419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6945079-137D-712D-EBD2-CC5C4A33F4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84790"/>
            <a:ext cx="18288000" cy="112565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27E63E-369B-6DC8-8039-4934E9881CED}"/>
              </a:ext>
            </a:extLst>
          </p:cNvPr>
          <p:cNvSpPr txBox="1"/>
          <p:nvPr/>
        </p:nvSpPr>
        <p:spPr>
          <a:xfrm>
            <a:off x="8077200" y="1615440"/>
            <a:ext cx="86868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spc="-100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黎玉孝博士</a:t>
            </a:r>
            <a:endParaRPr lang="en-US" sz="4000" spc="-100" dirty="0">
              <a:solidFill>
                <a:srgbClr val="0070C0"/>
              </a:solidFill>
              <a:latin typeface="SimHei" panose="02010609060101010101" pitchFamily="49" charset="-122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zh-CN" altLang="en-US" sz="3600" spc="-100" dirty="0">
                <a:solidFill>
                  <a:srgbClr val="00206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工作角色：</a:t>
            </a:r>
            <a:r>
              <a:rPr lang="en-US" sz="3600" spc="-100" dirty="0">
                <a:solidFill>
                  <a:srgbClr val="00206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高级项目经理 </a:t>
            </a:r>
            <a:r>
              <a:rPr lang="en-US" altLang="zh-CN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/ </a:t>
            </a:r>
            <a:r>
              <a:rPr lang="zh-CN" altLang="en-US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学术研究员</a:t>
            </a:r>
            <a:r>
              <a:rPr lang="en-US" altLang="zh-CN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/ </a:t>
            </a:r>
            <a:r>
              <a:rPr lang="zh-CN" altLang="en-US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讲师</a:t>
            </a:r>
            <a:endParaRPr lang="en-US" sz="3600" spc="-100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zh-CN" altLang="en-US" sz="3600" spc="-100" dirty="0">
                <a:solidFill>
                  <a:srgbClr val="00206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工作领域：</a:t>
            </a:r>
            <a:r>
              <a:rPr lang="en-US" sz="3600" spc="-100" dirty="0">
                <a:solidFill>
                  <a:srgbClr val="00206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企业资源计划</a:t>
            </a:r>
            <a:r>
              <a:rPr lang="en-US" altLang="zh-CN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+</a:t>
            </a:r>
            <a:r>
              <a:rPr lang="zh-CN" altLang="en-US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人力资源管理</a:t>
            </a:r>
            <a:r>
              <a:rPr lang="en-US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/ </a:t>
            </a:r>
            <a:r>
              <a:rPr lang="zh-CN" altLang="en-US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保险 </a:t>
            </a:r>
            <a:r>
              <a:rPr lang="en-US" altLang="zh-CN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+ </a:t>
            </a:r>
            <a:r>
              <a:rPr lang="zh-CN" altLang="en-US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金融 </a:t>
            </a:r>
            <a:r>
              <a:rPr lang="en-US" altLang="zh-CN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/ </a:t>
            </a:r>
            <a:r>
              <a:rPr lang="zh-CN" altLang="en-US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教育 </a:t>
            </a:r>
            <a:r>
              <a:rPr lang="en-US" altLang="zh-CN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/ </a:t>
            </a:r>
            <a:r>
              <a:rPr lang="zh-CN" altLang="en-US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医学 </a:t>
            </a:r>
            <a:r>
              <a:rPr lang="en-US" altLang="zh-CN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/ </a:t>
            </a:r>
            <a:r>
              <a:rPr lang="zh-CN" altLang="en-US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加密 </a:t>
            </a:r>
            <a:r>
              <a:rPr lang="en-US" altLang="zh-CN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/ </a:t>
            </a:r>
            <a:r>
              <a:rPr lang="zh-CN" altLang="en-US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人工智能 </a:t>
            </a:r>
            <a:r>
              <a:rPr lang="en-US" altLang="zh-CN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+ </a:t>
            </a:r>
            <a:r>
              <a:rPr lang="zh-CN" altLang="en-US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机器学习</a:t>
            </a:r>
            <a:endParaRPr lang="en-US" sz="3600" spc="-100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zh-CN" altLang="en-US" sz="3600" spc="-100" dirty="0">
                <a:solidFill>
                  <a:srgbClr val="00206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经验年限：</a:t>
            </a:r>
            <a:r>
              <a:rPr lang="en-US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+15 </a:t>
            </a:r>
            <a:r>
              <a:rPr lang="zh-CN" altLang="en-US" sz="3600" spc="-1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年</a:t>
            </a:r>
            <a:endParaRPr lang="en-US" sz="3600" spc="-100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3600" spc="-100" dirty="0">
                <a:solidFill>
                  <a:srgbClr val="00206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工作机构：</a:t>
            </a:r>
            <a:r>
              <a:rPr lang="en-US" sz="3600" spc="-100" dirty="0">
                <a:solidFill>
                  <a:srgbClr val="00206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endParaRPr lang="en-US" sz="3600" spc="-100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E9970C4-F971-65FC-A7E7-4CEE0C43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729" y="1710839"/>
            <a:ext cx="4038600" cy="53864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CBC715C-70C9-BFF4-A01C-8FB8EAB6189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120" t="34804" r="10360" b="35992"/>
          <a:stretch/>
        </p:blipFill>
        <p:spPr>
          <a:xfrm>
            <a:off x="9067800" y="6414805"/>
            <a:ext cx="2759411" cy="7884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EC8717-2F40-DD1F-646A-10A32A4C39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2" y="7587406"/>
            <a:ext cx="758890" cy="10044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F47406-6F9A-6C5A-E425-DE5AF7C0D4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7695410"/>
            <a:ext cx="1676947" cy="912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3A6A11-CCDC-B66F-202B-2BB1561748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400" y="7629048"/>
            <a:ext cx="1379393" cy="10044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25E45A-14DD-090B-1D70-DFBBDEF936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5246" y="7641787"/>
            <a:ext cx="1362265" cy="86689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0BF64F0-D0B9-9522-D856-A968BE1335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844" r="79275" b="1"/>
          <a:stretch/>
        </p:blipFill>
        <p:spPr bwMode="auto">
          <a:xfrm>
            <a:off x="16078200" y="7511891"/>
            <a:ext cx="1142998" cy="100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2F7778-DE99-C556-D9B6-59C5B272E7E9}"/>
              </a:ext>
            </a:extLst>
          </p:cNvPr>
          <p:cNvSpPr txBox="1"/>
          <p:nvPr/>
        </p:nvSpPr>
        <p:spPr>
          <a:xfrm>
            <a:off x="8686800" y="275363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中文版</a:t>
            </a:r>
            <a:endParaRPr lang="en-US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6157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7999" cy="102869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55AADBF-0A56-DB8A-0FCA-171FD9B79A09}"/>
              </a:ext>
            </a:extLst>
          </p:cNvPr>
          <p:cNvSpPr txBox="1">
            <a:spLocks/>
          </p:cNvSpPr>
          <p:nvPr/>
        </p:nvSpPr>
        <p:spPr>
          <a:xfrm>
            <a:off x="6060440" y="998313"/>
            <a:ext cx="754278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25400">
              <a:spcBef>
                <a:spcPts val="100"/>
              </a:spcBef>
            </a:pPr>
            <a:r>
              <a:rPr lang="zh-CN" altLang="en-US" sz="4000" b="0" kern="0" dirty="0">
                <a:latin typeface="SimHei" panose="02010609060101010101" pitchFamily="49" charset="-122"/>
                <a:ea typeface="SimHei" panose="02010609060101010101" pitchFamily="49" charset="-122"/>
              </a:rPr>
              <a:t>课程主讲讲师</a:t>
            </a:r>
            <a:endParaRPr lang="en-US" sz="4000" b="0" kern="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E261488-D5C4-CF05-BC68-BB88F88998F3}"/>
              </a:ext>
            </a:extLst>
          </p:cNvPr>
          <p:cNvSpPr txBox="1"/>
          <p:nvPr/>
        </p:nvSpPr>
        <p:spPr>
          <a:xfrm>
            <a:off x="6087479" y="1826420"/>
            <a:ext cx="10058401" cy="354898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10000"/>
              </a:lnSpc>
              <a:spcBef>
                <a:spcPts val="365"/>
              </a:spcBef>
            </a:pPr>
            <a:r>
              <a:rPr lang="zh-CN" altLang="en-US" sz="3200" spc="-10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姓名：</a:t>
            </a:r>
            <a:r>
              <a:rPr lang="en-US" sz="3200" spc="-10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		</a:t>
            </a:r>
            <a:r>
              <a:rPr lang="zh-CN" altLang="en-US" sz="3200" spc="-100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Arial" panose="020B0604020202020204" pitchFamily="34" charset="0"/>
              </a:rPr>
              <a:t>黎玉孝</a:t>
            </a:r>
            <a:r>
              <a:rPr lang="en-US" sz="3200" spc="-15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,</a:t>
            </a:r>
          </a:p>
          <a:p>
            <a:pPr marL="12700">
              <a:lnSpc>
                <a:spcPct val="110000"/>
              </a:lnSpc>
              <a:spcBef>
                <a:spcPts val="365"/>
              </a:spcBef>
            </a:pPr>
            <a:r>
              <a:rPr lang="zh-CN" altLang="en-US" sz="3200" spc="-15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学位：</a:t>
            </a:r>
            <a:r>
              <a:rPr lang="en-US" sz="3200" spc="-15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		</a:t>
            </a:r>
            <a:r>
              <a:rPr lang="zh-CN" altLang="en-US" sz="3200" b="1" spc="-15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博士</a:t>
            </a:r>
            <a:endParaRPr sz="3200" b="1" dirty="0">
              <a:latin typeface="SimHei" panose="02010609060101010101" pitchFamily="49" charset="-122"/>
              <a:ea typeface="SimHei" panose="02010609060101010101" pitchFamily="49" charset="-122"/>
              <a:cs typeface="Calibri"/>
            </a:endParaRPr>
          </a:p>
          <a:p>
            <a:pPr marL="12700" marR="822325">
              <a:lnSpc>
                <a:spcPct val="110000"/>
              </a:lnSpc>
              <a:spcBef>
                <a:spcPts val="645"/>
              </a:spcBef>
            </a:pPr>
            <a:r>
              <a:rPr lang="zh-CN" altLang="en-US" sz="3200" spc="-15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职位：</a:t>
            </a:r>
            <a:r>
              <a:rPr sz="3200" spc="-15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 </a:t>
            </a:r>
            <a:r>
              <a:rPr lang="en-US" sz="3200" spc="-15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		</a:t>
            </a:r>
            <a:r>
              <a:rPr lang="zh-CN" altLang="en-US" sz="3200" spc="-10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客座讲师</a:t>
            </a:r>
            <a:endParaRPr lang="en-US" sz="3200" spc="-10" dirty="0">
              <a:latin typeface="SimHei" panose="02010609060101010101" pitchFamily="49" charset="-122"/>
              <a:ea typeface="SimHei" panose="02010609060101010101" pitchFamily="49" charset="-122"/>
              <a:cs typeface="Calibri"/>
            </a:endParaRPr>
          </a:p>
          <a:p>
            <a:pPr marL="12700" marR="1111250">
              <a:lnSpc>
                <a:spcPct val="110000"/>
              </a:lnSpc>
              <a:spcBef>
                <a:spcPts val="610"/>
              </a:spcBef>
            </a:pPr>
            <a:r>
              <a:rPr lang="zh-CN" altLang="en-US" sz="3200" spc="-10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院系</a:t>
            </a:r>
            <a:r>
              <a:rPr sz="3200" spc="-10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: </a:t>
            </a:r>
            <a:r>
              <a:rPr lang="en-US" sz="3200" spc="-10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		</a:t>
            </a:r>
            <a:r>
              <a:rPr lang="zh-CN" altLang="en-US" sz="3200" spc="-15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经济学系</a:t>
            </a:r>
            <a:endParaRPr lang="en-US" sz="3200" spc="-15" dirty="0">
              <a:latin typeface="SimHei" panose="02010609060101010101" pitchFamily="49" charset="-122"/>
              <a:ea typeface="SimHei" panose="02010609060101010101" pitchFamily="49" charset="-122"/>
              <a:cs typeface="Calibri"/>
            </a:endParaRPr>
          </a:p>
          <a:p>
            <a:pPr marL="12700" marR="1111250">
              <a:lnSpc>
                <a:spcPct val="110000"/>
              </a:lnSpc>
              <a:spcBef>
                <a:spcPts val="610"/>
              </a:spcBef>
            </a:pPr>
            <a:r>
              <a:rPr lang="zh-CN" altLang="en-US" sz="3200" spc="-15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大学</a:t>
            </a:r>
            <a:r>
              <a:rPr lang="en-US" sz="3200" spc="-15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:		</a:t>
            </a:r>
            <a:r>
              <a:rPr lang="zh-CN" altLang="en-US" sz="3200" spc="-15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胡志明市技术教育大学</a:t>
            </a:r>
            <a:endParaRPr sz="3200" dirty="0">
              <a:latin typeface="SimHei" panose="02010609060101010101" pitchFamily="49" charset="-122"/>
              <a:ea typeface="SimHei" panose="02010609060101010101" pitchFamily="49" charset="-122"/>
              <a:cs typeface="Calibri"/>
            </a:endParaRPr>
          </a:p>
          <a:p>
            <a:pPr marL="12700">
              <a:lnSpc>
                <a:spcPct val="110000"/>
              </a:lnSpc>
              <a:spcBef>
                <a:spcPts val="225"/>
              </a:spcBef>
            </a:pPr>
            <a:r>
              <a:rPr lang="zh-CN" altLang="en-US" sz="3200" spc="-10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电子邮件</a:t>
            </a:r>
            <a:r>
              <a:rPr sz="3200" spc="-10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:</a:t>
            </a:r>
            <a:r>
              <a:rPr sz="3200" spc="-20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 </a:t>
            </a:r>
            <a:r>
              <a:rPr lang="en-US" sz="3200" spc="-20" dirty="0">
                <a:latin typeface="SimHei" panose="02010609060101010101" pitchFamily="49" charset="-122"/>
                <a:ea typeface="SimHei" panose="02010609060101010101" pitchFamily="49" charset="-122"/>
                <a:cs typeface="Calibri"/>
              </a:rPr>
              <a:t>	</a:t>
            </a:r>
            <a:r>
              <a:rPr lang="en-US" sz="2800" spc="-2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  <a:hlinkClick r:id="rId3"/>
              </a:rPr>
              <a:t>lnhieu@hcmute.edu.vn</a:t>
            </a:r>
            <a:r>
              <a:rPr lang="en-US" sz="2800" spc="-2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endParaRPr sz="28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6249652-7D03-6C55-4252-D25A67CCE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866052"/>
            <a:ext cx="3124200" cy="41668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object 4">
            <a:extLst>
              <a:ext uri="{FF2B5EF4-FFF2-40B4-BE49-F238E27FC236}">
                <a16:creationId xmlns:a16="http://schemas.microsoft.com/office/drawing/2014/main" id="{8D2AD0A5-F3B2-A965-9A39-D58E485AD9AF}"/>
              </a:ext>
            </a:extLst>
          </p:cNvPr>
          <p:cNvSpPr txBox="1"/>
          <p:nvPr/>
        </p:nvSpPr>
        <p:spPr>
          <a:xfrm>
            <a:off x="1371600" y="6217284"/>
            <a:ext cx="15849600" cy="258327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algn="just">
              <a:lnSpc>
                <a:spcPct val="110000"/>
              </a:lnSpc>
            </a:pPr>
            <a:r>
              <a:rPr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黎玉孝先生自 </a:t>
            </a:r>
            <a:r>
              <a:rPr lang="en-US" altLang="zh-CN" sz="3200" dirty="0">
                <a:latin typeface="SimHei" panose="02010609060101010101" pitchFamily="49" charset="-122"/>
                <a:ea typeface="SimHei" panose="02010609060101010101" pitchFamily="49" charset="-122"/>
              </a:rPr>
              <a:t>2010 </a:t>
            </a:r>
            <a:r>
              <a:rPr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年起在技术情报领域担任系统架构师。目前，他在胡志明市的几所大学教授技术情报和中文。他的主要专业是云计算及其在提高服务效率方面的应用，副专业包括教育学、信息技术教育、外语教学（中文和英文）、管理学和经济学。</a:t>
            </a:r>
            <a:endParaRPr lang="en-US" altLang="zh-CN" sz="32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12700" marR="5080" algn="just">
              <a:lnSpc>
                <a:spcPct val="90000"/>
              </a:lnSpc>
            </a:pPr>
            <a:endParaRPr sz="2400" dirty="0">
              <a:latin typeface="Calibri"/>
              <a:cs typeface="Calibri"/>
            </a:endParaRPr>
          </a:p>
          <a:p>
            <a:pPr marL="12700" marR="1217930">
              <a:lnSpc>
                <a:spcPts val="2160"/>
              </a:lnSpc>
            </a:pPr>
            <a:r>
              <a:rPr lang="zh-CN" altLang="en-US" sz="2000" i="1" dirty="0">
                <a:latin typeface="Calibri"/>
                <a:cs typeface="Calibri"/>
              </a:rPr>
              <a:t>更多信息  </a:t>
            </a:r>
            <a:r>
              <a:rPr sz="2000" i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https://www.researchgate.net/profile/Hieu-Le-24 </a:t>
            </a:r>
            <a:r>
              <a:rPr sz="2000" i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endParaRPr lang="en-US" sz="2000" i="1" spc="-10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L="12700" marR="1217930">
              <a:lnSpc>
                <a:spcPts val="2160"/>
              </a:lnSpc>
            </a:pPr>
            <a:r>
              <a:rPr lang="zh-CN" altLang="en-US" sz="2000" i="1" spc="-5" dirty="0">
                <a:latin typeface="Calibri"/>
                <a:cs typeface="Calibri"/>
              </a:rPr>
              <a:t>或者</a:t>
            </a:r>
            <a:r>
              <a:rPr lang="en-US" sz="2000" i="1" spc="-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i="1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https://orcid.org/0000-0002-1133-1433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AD9F2-A34B-96E0-29C3-08D2BDB8FCC0}"/>
              </a:ext>
            </a:extLst>
          </p:cNvPr>
          <p:cNvSpPr txBox="1"/>
          <p:nvPr/>
        </p:nvSpPr>
        <p:spPr>
          <a:xfrm>
            <a:off x="8686800" y="275363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800" dirty="0">
                <a:latin typeface="SimHei" panose="02010609060101010101" pitchFamily="49" charset="-122"/>
                <a:ea typeface="SimHei" panose="02010609060101010101" pitchFamily="49" charset="-122"/>
              </a:rPr>
              <a:t>中文版</a:t>
            </a:r>
            <a:endParaRPr lang="en-US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203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94"/>
    </mc:Choice>
    <mc:Fallback xmlns="">
      <p:transition spd="slow" advTm="1419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55371" y="12697"/>
            <a:ext cx="14651656" cy="1027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A3BAFF-781E-CB12-87FA-9C0C0F11D7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3771900"/>
            <a:ext cx="4693930" cy="18989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88"/>
    </mc:Choice>
    <mc:Fallback xmlns="">
      <p:transition spd="slow" advTm="9788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</TotalTime>
  <Words>790</Words>
  <Application>Microsoft Office PowerPoint</Application>
  <PresentationFormat>Custom</PresentationFormat>
  <Paragraphs>59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BR Omega</vt:lpstr>
      <vt:lpstr>SimHei</vt:lpstr>
      <vt:lpstr>Arial</vt:lpstr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APPROACH IN ELEMENTARY CHINESE PRONUNCIATION TEST USING AI VOICE RECOGNITION AT HCMUE</dc:title>
  <dc:creator>Thanh</dc:creator>
  <cp:lastModifiedBy>Hao Lee</cp:lastModifiedBy>
  <cp:revision>108</cp:revision>
  <dcterms:created xsi:type="dcterms:W3CDTF">2022-05-27T08:45:34Z</dcterms:created>
  <dcterms:modified xsi:type="dcterms:W3CDTF">2025-12-16T09:06:37Z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2021-06-03T00:00:00Z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2022-05-27T00:00:00Z</vt:filetime>
  </property>
</Properties>
</file>